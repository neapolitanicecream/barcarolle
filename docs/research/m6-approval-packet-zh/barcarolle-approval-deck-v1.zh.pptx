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094340f04641fb" /><Relationship Type="http://schemas.openxmlformats.org/officeDocument/2006/relationships/extended-properties" Target="/docProps/app.xml" Id="R81f8b27ed30a4c5a" /><Relationship Type="http://schemas.openxmlformats.org/officeDocument/2006/relationships/officeDocument" Target="/ppt/presentation.xml" Id="R7aebf8f962ba47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bb4069b6aa4cc7"/>
  </p:sldMasterIdLst>
  <p:notesMasterIdLst>
    <p:notesMasterId xmlns:r="http://schemas.openxmlformats.org/officeDocument/2006/relationships" r:id="Rab4203e0a6f148f8"/>
  </p:notesMasterIdLst>
  <p:sldIdLst>
    <p:sldId xmlns:r="http://schemas.openxmlformats.org/officeDocument/2006/relationships" id="256" r:id="Rfa35640ec06f4daa"/>
    <p:sldId xmlns:r="http://schemas.openxmlformats.org/officeDocument/2006/relationships" id="257" r:id="R7912ee2387354052"/>
    <p:sldId xmlns:r="http://schemas.openxmlformats.org/officeDocument/2006/relationships" id="258" r:id="Rc8b5b353b46f4a95"/>
    <p:sldId xmlns:r="http://schemas.openxmlformats.org/officeDocument/2006/relationships" id="259" r:id="R9eb3228306984ac0"/>
    <p:sldId xmlns:r="http://schemas.openxmlformats.org/officeDocument/2006/relationships" id="260" r:id="R237cc1b1530b490c"/>
    <p:sldId xmlns:r="http://schemas.openxmlformats.org/officeDocument/2006/relationships" id="261" r:id="R354ff7bc28f9412c"/>
    <p:sldId xmlns:r="http://schemas.openxmlformats.org/officeDocument/2006/relationships" id="262" r:id="R4a5969502bf246b3"/>
    <p:sldId xmlns:r="http://schemas.openxmlformats.org/officeDocument/2006/relationships" id="263" r:id="R2821ff7a220d486f"/>
    <p:sldId xmlns:r="http://schemas.openxmlformats.org/officeDocument/2006/relationships" id="264" r:id="Rcc0798c3d6444f8d"/>
    <p:sldId xmlns:r="http://schemas.openxmlformats.org/officeDocument/2006/relationships" id="265" r:id="R137ea0e486bb4935"/>
    <p:sldId xmlns:r="http://schemas.openxmlformats.org/officeDocument/2006/relationships" id="266" r:id="Raf8205ed3df0461f"/>
    <p:sldId xmlns:r="http://schemas.openxmlformats.org/officeDocument/2006/relationships" id="267" r:id="R7730a4690b204a2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bb4069b6aa4cc7" /><Relationship Type="http://schemas.openxmlformats.org/officeDocument/2006/relationships/theme" Target="/ppt/theme/theme1.xml" Id="R8b00f89c48ff4637" /><Relationship Type="http://schemas.openxmlformats.org/officeDocument/2006/relationships/notesMaster" Target="/ppt/notesMasters/notesMaster1.xml" Id="Rab4203e0a6f148f8" /><Relationship Type="http://schemas.openxmlformats.org/officeDocument/2006/relationships/presProps" Target="/ppt/presProps.xml" Id="R44638d572e5c47dc" /><Relationship Type="http://schemas.openxmlformats.org/officeDocument/2006/relationships/viewProps" Target="/ppt/viewProps.xml" Id="R4df15ab765b7438b" /><Relationship Type="http://schemas.openxmlformats.org/officeDocument/2006/relationships/tableStyles" Target="/ppt/tableStyles.xml" Id="R1c59f1cf6fd541b3" /><Relationship Type="http://schemas.openxmlformats.org/officeDocument/2006/relationships/slide" Target="/ppt/slides/slide1.xml" Id="Rfa35640ec06f4daa" /><Relationship Type="http://schemas.openxmlformats.org/officeDocument/2006/relationships/slide" Target="/ppt/slides/slide2.xml" Id="R7912ee2387354052" /><Relationship Type="http://schemas.openxmlformats.org/officeDocument/2006/relationships/slide" Target="/ppt/slides/slide3.xml" Id="Rc8b5b353b46f4a95" /><Relationship Type="http://schemas.openxmlformats.org/officeDocument/2006/relationships/slide" Target="/ppt/slides/slide4.xml" Id="R9eb3228306984ac0" /><Relationship Type="http://schemas.openxmlformats.org/officeDocument/2006/relationships/slide" Target="/ppt/slides/slide5.xml" Id="R237cc1b1530b490c" /><Relationship Type="http://schemas.openxmlformats.org/officeDocument/2006/relationships/slide" Target="/ppt/slides/slide6.xml" Id="R354ff7bc28f9412c" /><Relationship Type="http://schemas.openxmlformats.org/officeDocument/2006/relationships/slide" Target="/ppt/slides/slide7.xml" Id="R4a5969502bf246b3" /><Relationship Type="http://schemas.openxmlformats.org/officeDocument/2006/relationships/slide" Target="/ppt/slides/slide8.xml" Id="R2821ff7a220d486f" /><Relationship Type="http://schemas.openxmlformats.org/officeDocument/2006/relationships/slide" Target="/ppt/slides/slide9.xml" Id="Rcc0798c3d6444f8d" /><Relationship Type="http://schemas.openxmlformats.org/officeDocument/2006/relationships/slide" Target="/ppt/slides/slide10.xml" Id="R137ea0e486bb4935" /><Relationship Type="http://schemas.openxmlformats.org/officeDocument/2006/relationships/slide" Target="/ppt/slides/slide11.xml" Id="Raf8205ed3df0461f" /><Relationship Type="http://schemas.openxmlformats.org/officeDocument/2006/relationships/slide" Target="/ppt/slides/slide12.xml" Id="R7730a4690b204a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114fd3720454e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0b1142936f4f8d" /><Relationship Type="http://schemas.openxmlformats.org/officeDocument/2006/relationships/notesMaster" Target="/ppt/notesMasters/notesMaster1.xml" Id="Re4c5c3c1f7d14b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dfe056187f465c" /><Relationship Type="http://schemas.openxmlformats.org/officeDocument/2006/relationships/notesMaster" Target="/ppt/notesMasters/notesMaster1.xml" Id="R52d980add96c4a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57ca94a7a84037" /><Relationship Type="http://schemas.openxmlformats.org/officeDocument/2006/relationships/notesMaster" Target="/ppt/notesMasters/notesMaster1.xml" Id="R90fbaf87f0f84e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9d8fc504704ec0" /><Relationship Type="http://schemas.openxmlformats.org/officeDocument/2006/relationships/notesMaster" Target="/ppt/notesMasters/notesMaster1.xml" Id="R493d0b903b7e4b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6ac39d278b40ed" /><Relationship Type="http://schemas.openxmlformats.org/officeDocument/2006/relationships/notesMaster" Target="/ppt/notesMasters/notesMaster1.xml" Id="Ra220f9ab07644d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f8e7d563a34d15" /><Relationship Type="http://schemas.openxmlformats.org/officeDocument/2006/relationships/notesMaster" Target="/ppt/notesMasters/notesMaster1.xml" Id="R51c63d2452e847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467c500f484aa7" /><Relationship Type="http://schemas.openxmlformats.org/officeDocument/2006/relationships/notesMaster" Target="/ppt/notesMasters/notesMaster1.xml" Id="R64fbaf636fbd43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a6aa45adc745f3" /><Relationship Type="http://schemas.openxmlformats.org/officeDocument/2006/relationships/notesMaster" Target="/ppt/notesMasters/notesMaster1.xml" Id="R2ff978a5ade949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56c207ea904b6b" /><Relationship Type="http://schemas.openxmlformats.org/officeDocument/2006/relationships/notesMaster" Target="/ppt/notesMasters/notesMaster1.xml" Id="R531cc85efe1740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b912c78e304a97" /><Relationship Type="http://schemas.openxmlformats.org/officeDocument/2006/relationships/notesMaster" Target="/ppt/notesMasters/notesMaster1.xml" Id="R9cc2451e3d874a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7bda505f7e463d" /><Relationship Type="http://schemas.openxmlformats.org/officeDocument/2006/relationships/notesMaster" Target="/ppt/notesMasters/notesMaster1.xml" Id="R367cb4d43981494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9d7d616c2c245d7" /><Relationship Type="http://schemas.openxmlformats.org/officeDocument/2006/relationships/notesMaster" Target="/ppt/notesMasters/notesMaster1.xml" Id="R3692eedf0e1142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d8a3376bdb443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60829d2d29a4244" /><Relationship Type="http://schemas.openxmlformats.org/officeDocument/2006/relationships/slideLayout" Target="/ppt/slideLayouts/slideLayout2.xml" Id="Rce057f7fef9842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057f7fef9842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b5fb215f6a4b21" /><Relationship Type="http://schemas.openxmlformats.org/officeDocument/2006/relationships/notesSlide" Target="/ppt/notesSlides/notesSlide1.xml" Id="R8cc3f3b5a7614e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2bf52155714408" /><Relationship Type="http://schemas.openxmlformats.org/officeDocument/2006/relationships/notesSlide" Target="/ppt/notesSlides/notesSlide2.xml" Id="Ra86c727e14574e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0591a1eadd4b2e" /><Relationship Type="http://schemas.openxmlformats.org/officeDocument/2006/relationships/notesSlide" Target="/ppt/notesSlides/notesSlide3.xml" Id="Rfc8d6cd9cf5443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9662b48bca455e" /><Relationship Type="http://schemas.openxmlformats.org/officeDocument/2006/relationships/notesSlide" Target="/ppt/notesSlides/notesSlide4.xml" Id="R762ac3c4f5f344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898b5b45534f8a" /><Relationship Type="http://schemas.openxmlformats.org/officeDocument/2006/relationships/notesSlide" Target="/ppt/notesSlides/notesSlide5.xml" Id="R2919af15eb1e48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e0b2492c57407e" /><Relationship Type="http://schemas.openxmlformats.org/officeDocument/2006/relationships/notesSlide" Target="/ppt/notesSlides/notesSlide6.xml" Id="Reec22331ce2b40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02e74d71c64215" /><Relationship Type="http://schemas.openxmlformats.org/officeDocument/2006/relationships/notesSlide" Target="/ppt/notesSlides/notesSlide7.xml" Id="R83109816c6ab4d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d3f15376324dc8" /><Relationship Type="http://schemas.openxmlformats.org/officeDocument/2006/relationships/notesSlide" Target="/ppt/notesSlides/notesSlide8.xml" Id="Rf09a031cfb0445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08267539ce4e70" /><Relationship Type="http://schemas.openxmlformats.org/officeDocument/2006/relationships/notesSlide" Target="/ppt/notesSlides/notesSlide9.xml" Id="Rf47ceff76a244c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16456b5eeb4dd3" /><Relationship Type="http://schemas.openxmlformats.org/officeDocument/2006/relationships/notesSlide" Target="/ppt/notesSlides/notesSlide10.xml" Id="Rf556b2f43bc943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5a3b9489c34aae" /><Relationship Type="http://schemas.openxmlformats.org/officeDocument/2006/relationships/notesSlide" Target="/ppt/notesSlides/notesSlide11.xml" Id="Rb4b4e04458d243a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c2422f83104c95" /><Relationship Type="http://schemas.openxmlformats.org/officeDocument/2006/relationships/notesSlide" Target="/ppt/notesSlides/notesSlide12.xml" Id="R5300567164be42d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A234FB-2D90-4145-9419-ADAAD0B3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3BD6323-56FF-4701-B790-3DB5E9DE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D6E3ED2-4052-4A2F-B6E6-10585739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审批请求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A14F41-0890-4328-B558-FA16EA2B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批准项目；不扩大证据声明。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C24AA-EC43-491E-B60C-0DD4270E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40E56F-DBF0-4428-89F3-0DB0A4E7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来源：Barcarolle proposal report V5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84B38-63D0-4673-9C8E-4E5BF881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97E40-4EB4-477B-AA82-D2C6E1BD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609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建议批准 Barcarolle 作为面向特定仓库的 benchmark 编译器项目。批准范围是建设 release、验证协议和调优接口，并保留清晰声明边界。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FFB14-11EB-4E0D-BC12-5A96E882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6096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F1AB9-45DE-4002-B2F0-337C2A77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5562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当前证据提供有边界的牵引性证据和可信验证路径；预测效度仍未建立。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02279-D9C0-41D7-BEB8-DEB8C87C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526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批准条件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DFCB44-FD17-457A-AC9E-1A6B38F7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764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19FBB-31F3-4ABE-A850-FACE37EA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项目边界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1E32D1-29BA-489A-B7E1-B24C567D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907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benchmark 编译器，不是 ACUT harness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B7959-D18E-46D4-8AA9-92FAD1A1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003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9B681A-C26C-42A8-9167-EA6BD491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证据边界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492D35-E714-40B5-A97D-18FF9E05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146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牵引性与可行性，不是完成后的有效性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976518-CD8D-45B7-90F6-CF9BEDB0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242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2F75CD-156B-4995-86B9-8B4BDCE1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支出边界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EDD160-1407-48DE-8F3E-E91B9D9B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385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冻结闸门后才做有预算评测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A48012-BC7A-4259-93FF-BE402B3A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481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1B104E-5C04-4459-ABE4-C5DF5F29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624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待定值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508159-2DD1-4C79-84F6-4DA1853E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624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人员、周期、预算上限、审批负责人</a:t>
            </a:r>
          </a:p>
        </p:txBody>
      </p:sp>
    </p:spTree>
    <p:extLst>
      <p:ext uri="{BB962C8B-B14F-4D97-AF65-F5344CB8AC3E}">
        <p14:creationId xmlns:p14="http://schemas.microsoft.com/office/powerpoint/2010/main" val="20113159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A70713-A489-4DA5-BEA8-6B2D697F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BA94555-B250-49EA-915D-7899ACC8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4636FEC-95B9-4824-8F50-4A4649F2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评测缺口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6ABBB-9296-446D-85F8-57032EE2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通用 benchmark 不能单独回答目标仓库问题。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6D7F5-53BD-4D44-A107-009286A6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BA2E6-010A-4EE7-A566-5A9C7036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来源：Barcarolle proposal report V5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97FFC-FFD4-4DE5-A055-A723BAA1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FC8D9-B552-44DB-81E2-16F1597B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决策问题比通用 coding 能力更窄：一个命名 ACUT 在这个仓库未来工作上的表现会怎样？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EFE71-8868-457A-9653-A64CA476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30289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AF8AD-F354-4E4C-96B7-8BEB6AD6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3028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8D069-8C16-403B-B5AA-871631CD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65C8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65C8D"/>
                </a:solidFill>
                <a:latin typeface="PingFang SC"/>
                <a:ea typeface="PingFang SC"/>
                <a:cs typeface="PingFang SC"/>
              </a:rPr>
              <a:t>公共 benchmark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B32594-8237-42A5-9EA6-E6D7DE3F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2457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广泛能力、可执行评分、任务质量与 freshness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82C5F9-1CF9-4C7F-A67F-16B6A495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90800"/>
            <a:ext cx="30289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F08DBC-4194-476A-B7FD-A75E6457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90800"/>
            <a:ext cx="3028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8E81A1-E1A1-49C4-9F99-5B3719EC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956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884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842F"/>
                </a:solidFill>
                <a:latin typeface="PingFang SC"/>
                <a:ea typeface="PingFang SC"/>
                <a:cs typeface="PingFang SC"/>
              </a:rPr>
              <a:t>生成式任务供给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08A110-1423-4D38-8B99-97FF8F88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09950"/>
            <a:ext cx="2457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更多 candidate tasks 和更广训练或测试环境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49B836-7399-414A-88A5-9BE7609F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90800"/>
            <a:ext cx="30289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481351-3781-42F8-9CDA-543C69F8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90800"/>
            <a:ext cx="3028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B73CEA-2ADE-43B3-9AC1-AE8B6628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956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E747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E7474"/>
                </a:solidFill>
                <a:latin typeface="PingFang SC"/>
                <a:ea typeface="PingFang SC"/>
                <a:cs typeface="PingFang SC"/>
              </a:rPr>
              <a:t>Barcarolle focus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8E14C6-9599-40A3-B806-C710131E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09950"/>
            <a:ext cx="2457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哪些已认证的 repo-specific 任务应进入冻结 release，用于未来工作证据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6BEFC3-F1E1-4A1D-9405-5CF0DD0B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029200"/>
            <a:ext cx="885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E13DAD-1B66-4F3D-A714-1ADE8994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578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目标仓库 shift 让任务选择、认证、split、baseline 和不确定性成为核心 benchmark 问题。</a:t>
            </a:r>
          </a:p>
        </p:txBody>
      </p:sp>
    </p:spTree>
    <p:extLst>
      <p:ext uri="{BB962C8B-B14F-4D97-AF65-F5344CB8AC3E}">
        <p14:creationId xmlns:p14="http://schemas.microsoft.com/office/powerpoint/2010/main" val="105397160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05B002-5AA8-4F2C-97AA-A9EFD3A6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98FF68A-A71B-4B72-8EA7-95857CEA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C1F64CD-87A8-4E41-B654-A515EFAA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编译器边界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5784C-8174-4D16-8BC9-0B606366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Barcarolle 编译 release；ACUT 拥有 agent harness。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F75BC-38D5-4AE2-BB8C-C514883A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DA334-D3A7-4B0D-A1F8-DFC4019E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来源：Barcarolle proposal report V5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F08B3-88FF-4F43-9FF8-241F292E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42249-5F57-40EA-81AA-1FB1449F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1021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系统边界是关键：Barcarolle 提供干净 workspace、允许上下文、captured diff、verifier replay、score、cost 和 sanitized artifacts。它不决定 agent 如何推理或编辑。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3B652-79EB-4BC3-A6DD-4976FC43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1524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2C3C25-42A3-4501-BE7F-9350F2C2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4000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7896EA-81A3-4EA4-8B69-4004ED58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72ADA-A098-4F79-BE22-3A9DB77B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Candidate supply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0A75C8-F680-4F8B-83D8-883B7871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67075"/>
            <a:ext cx="933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repo history / public context / external 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ED8EDC-4A5C-4EB3-88A8-093ADCC2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448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ADEB75-1580-40C2-8194-DA23E115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43200"/>
            <a:ext cx="1524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2350F7-ABA8-41C9-8447-30B93DAD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43200"/>
            <a:ext cx="4000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1D684A-6DED-450D-A8CC-780358AE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337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8735CF-F3E7-40F8-897C-CECED294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95600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Certification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F68BFF-DD6F-4268-8525-F88148AD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67075"/>
            <a:ext cx="933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replayability / oracle checks / leakage controls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35240D-4A4F-43DF-A5BF-6DB7A282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48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FB9644-BABC-472C-8488-EBB6A782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43200"/>
            <a:ext cx="1524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D56811-9D9F-4C35-A879-2362FBB2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43200"/>
            <a:ext cx="4000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55F0CF-59FB-467E-8071-A6EF1D7B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337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CB09B6-9A94-453B-BAA8-095423D0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95600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Frozen release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E9F0B2-0C04-43E7-9119-53BFF0FF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67075"/>
            <a:ext cx="933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task set / splits / ACUT boundary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DDEFDC-5D7A-4700-B3D3-6135046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48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1B240D-7B26-40B3-AC18-8AD6FC11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43200"/>
            <a:ext cx="1524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548D4A-BDF2-4555-A984-FCD7F33A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43200"/>
            <a:ext cx="4000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53FB13-19EE-4B27-84B5-61EF5E4E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9A45EC-597F-4013-85CF-6C2FBD14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ACUT execution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A052A2-0035-4126-952C-96B8ADE5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67075"/>
            <a:ext cx="933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solver workspace / captured diff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7365E6-67AA-492E-98CE-9C3DE646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DBA5A7-7559-4FB2-9B2C-EBB9CBC4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43200"/>
            <a:ext cx="1524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BCB911-9B4F-4982-9FA7-200CBC24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43200"/>
            <a:ext cx="4000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71A0BB-D823-4770-8F74-19B3C507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337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CFB96A-1984-40B4-BF35-06BACDC3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95600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Verifier replay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9ED114-7A25-4EEE-B7FD-3342245B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67075"/>
            <a:ext cx="933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private oracle / terminal score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8B1344-6D68-4C55-9CFB-330361AE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48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1A0514-2772-4E68-BB64-D6AB32C2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43200"/>
            <a:ext cx="1524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F533EC-AEB3-4FDC-A9D0-0B6309B2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43200"/>
            <a:ext cx="4000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2B5751-B198-49EA-BABD-9A7C5916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337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007883-7E06-46D7-8E99-C0793579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95600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Accounting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A35E29-3617-4F9E-A2B8-8A37221E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67075"/>
            <a:ext cx="933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status / cost / latency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504D0B-C845-414C-9A65-7854A6BA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57700"/>
            <a:ext cx="247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E3"/>
          </a:solidFill>
          <a:ln xmlns:a="http://schemas.openxmlformats.org/drawingml/2006/main" w="9525">
            <a:solidFill>
              <a:srgbClr val="B2472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122E0F-C482-407E-8330-6B5F8E6D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101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2472F"/>
                </a:solidFill>
                <a:latin typeface="PingFang SC"/>
                <a:ea typeface="PingFang SC"/>
                <a:cs typeface="PingFang SC"/>
              </a:rPr>
              <a:t>ACUT-owned harness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74B2DE-1C91-4A29-B983-B8939F58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7680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Search、prompt、tools、model、retry policy、runtime budget、traces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5A40B4-F841-449D-B233-100A54DA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D8165F-73FE-442A-A2F4-561A84C7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48325"/>
            <a:ext cx="962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边界结果：benchmark release 保持可审计，而不变成 agent 产品。</a:t>
            </a:r>
          </a:p>
        </p:txBody>
      </p:sp>
    </p:spTree>
    <p:extLst>
      <p:ext uri="{BB962C8B-B14F-4D97-AF65-F5344CB8AC3E}">
        <p14:creationId xmlns:p14="http://schemas.microsoft.com/office/powerpoint/2010/main" val="10991639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2AA512-0A68-4E30-9D75-CF3E4ECB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3ADAD24-0C6B-4928-80A5-26D4DF2B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3E7F2B1-1EE1-428A-B1F0-B5EA7141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调优路径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723BD-D7A6-4066-9081-A0B44EF6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实际产品路径是配置比较，并保护验证证据。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51F95-13DD-4145-B6BE-BA20825E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F700E5-B34D-48E1-BB98-DC482A5E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来源：Barcarolle proposal report V5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2E70B-120E-48AE-8C1F-B7D33962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D1C9DB-8613-4744-A0F9-1D03D19D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28800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Barcarolle 可以输出 release metadata、scorecard、failure label、cost/latency summary 和 split rules，供 optimizer 使用。optimizer 仍负责 ACUT 改动。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D6952-CB5D-44B8-BC31-3321817C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2095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A49CC1-AF49-469F-BEFD-C1648569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419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4C1DB3-5DB1-495C-BF36-5875A871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C7AAE-AE9B-49B4-83C3-5078C906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908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Benchmark release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2E67DC-B2B1-41B7-8577-E6C57531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480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认证任务、split、support limits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649AF-1142-47F6-8CA9-CD9ACDBC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2095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1D5106-25B2-41FD-9FCA-024B8E41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419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A38356-EEDC-479C-932B-6A7925F5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71775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377074-C7A0-4FAC-A60C-BD54CA3F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6222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Dev feedback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A3302B-D3AB-4802-BDB8-54318E13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19425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Prompt、retrieval、skills、tool policy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4F89C8-AADE-4D8C-900D-F01EA0C1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62250"/>
            <a:ext cx="2095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5DBA3B-FD21-4272-8DEC-CC99676D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62250"/>
            <a:ext cx="419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B68705-2601-4BD5-802A-9DC630C6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004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271658-EDEF-43C7-BB34-CDBEDC14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908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Eval check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D00EAA-2A87-491C-BCA1-60B4EB93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480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按固定规则做受保护比较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B03737-FF90-4A59-B3E4-200F3CF4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33625"/>
            <a:ext cx="2095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44E9E4-EB68-4965-8026-10414844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33625"/>
            <a:ext cx="419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7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F9818F-2037-4903-AF8D-BBB885D6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71775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649ABA-F1F2-40F6-9468-710BEA77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6222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Canary and future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670AC3-21EE-4217-BA86-724FA55D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19425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回归与未来工作验证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051D16-F640-4D16-A5C0-340CD3C5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813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D2B638-C54A-4CB3-8D31-EEF04B83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8135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55EA0F-DE4B-44BE-BC06-05C09169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813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AB6FB6-79D3-42A1-8C79-057BEE2D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38700"/>
            <a:ext cx="7810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8B59DD-DC2D-4226-8DED-924E3026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482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Non-claim：本 deck 不声称 Barcarolle 的反馈已经完成调优效果验证。</a:t>
            </a:r>
          </a:p>
        </p:txBody>
      </p:sp>
    </p:spTree>
    <p:extLst>
      <p:ext uri="{BB962C8B-B14F-4D97-AF65-F5344CB8AC3E}">
        <p14:creationId xmlns:p14="http://schemas.microsoft.com/office/powerpoint/2010/main" val="8307629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A81512-089E-4849-A654-8F0734B3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F20347B-23B6-450D-BACD-2865D8CA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525C433-33CC-401C-8895-FA1F38FE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当前证据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8CBAD-2ABD-443B-8DE5-96462FB3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证据足以支持审批，但不足以支持完成后的有效性声明。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3F881-F80A-4938-ABBE-C5BE7BB4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2BA2B-7EA5-4F34-8896-7B56A5D4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来源：Barcarolle proposal report V5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178AE-19D0-4AE1-9D1E-640004AE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D09DC-7C3A-4273-941F-2A88C3EC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C20DD-0B18-40FC-9AB4-97C6AC83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764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当前答案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55A98-EF95-461D-A5C5-D67D5096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764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关键数字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E8DE0-B77A-4FF9-B217-F925A3A9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76400"/>
            <a:ext cx="2457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限制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F5D48F-C416-4B4D-A92D-0095831B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0325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ABC45-8792-4208-A49E-174BEED3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问题真实吗？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405961-C38C-4E93-8D01-3FD163BD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336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朴素加权明显失败。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8B3588-7AA6-4F79-957B-C7D75291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336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2472F"/>
                </a:solidFill>
                <a:latin typeface="PingFang SC"/>
                <a:ea typeface="PingFang SC"/>
                <a:cs typeface="PingFang SC"/>
              </a:rPr>
              <a:t>gap 0.3148/0.7481；baseline 0.25/0.125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0781C0-35D3-4EEF-A793-53D1B8F6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33600"/>
            <a:ext cx="2457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negative result，不是成功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CA2771-ED8D-446B-BF9A-BD28ACE8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19400"/>
            <a:ext cx="10325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292462-A6AE-40B1-B0C3-E5DBB403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机器能跑通吗？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E9B85B-5DF5-4F60-8679-512C469B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527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Workspace execution 干净完成。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938F92-2C9F-457D-8237-5D1F93FC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527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2472F"/>
                </a:solidFill>
                <a:latin typeface="PingFang SC"/>
                <a:ea typeface="PingFang SC"/>
                <a:cs typeface="PingFang SC"/>
              </a:rPr>
              <a:t>120/120 cells；scoreability 1.0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3122DC-DBD8-46C6-BC0D-6634B0BE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52750"/>
            <a:ext cx="2457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执行不等于预测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40ACB0-2CC0-40F8-8F64-1704E461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0325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241CBF-EB05-41A9-9F7C-D63E4C28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source gap 能修吗？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E6D33A-182B-4AB8-83D2-3AA04859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719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click context 已升级。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2D3779-BEEB-4057-84DE-01C9A4C9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719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2472F"/>
                </a:solidFill>
                <a:latin typeface="PingFang SC"/>
                <a:ea typeface="PingFang SC"/>
                <a:cs typeface="PingFang SC"/>
              </a:rPr>
              <a:t>30/30 冻结任务已修复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8027AB-D572-4D86-AA95-ABA35ABE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71900"/>
            <a:ext cx="2457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不重写已完成 outcome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4C3264-43FE-4810-BC71-89CBE5E5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10325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8D91F7-1732-4F84-A600-15DEA08A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有牵引性吗？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3CF7BE-325C-49B6-B0D7-A5DBBC99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5910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Candidate 胜过随机选择，并小幅优于最佳简单 aggregate baseline。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573899-90E3-47B7-915C-02A5C3CE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5910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2472F"/>
                </a:solidFill>
                <a:latin typeface="PingFang SC"/>
                <a:ea typeface="PingFang SC"/>
                <a:cs typeface="PingFang SC"/>
              </a:rPr>
              <a:t>MAE 0.209 vs 0.2149；93.4% of 1000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A9205D-A9FE-4FAF-80E1-89E6031B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91050"/>
            <a:ext cx="2457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edge 小且脆弱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D24951-7463-4200-81FD-78F83557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B2472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B2472F"/>
                </a:solidFill>
                <a:latin typeface="Aptos Display"/>
                <a:ea typeface="Aptos Display"/>
                <a:cs typeface="Aptos Display"/>
              </a:rPr>
              <a:t>0.0059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CC82DF-1C05-45BA-A170-E1D96330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9122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相对最佳简单 aggregate baseline 的 MAE edge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0F71E2-F390-445B-911C-E8805534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816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B8842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B8842F"/>
                </a:solidFill>
                <a:latin typeface="Aptos Display"/>
                <a:ea typeface="Aptos Display"/>
                <a:cs typeface="Aptos Display"/>
              </a:rPr>
              <a:t>6/18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F20A22-75FA-4163-B09F-B10840E7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9912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slot 使用 fallback；boltons 6/6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CEF2C8-1611-4917-B7E6-7A158315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816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2E747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2E7474"/>
                </a:solidFill>
                <a:latin typeface="PingFang SC"/>
                <a:ea typeface="PingFang SC"/>
                <a:cs typeface="PingFang SC"/>
              </a:rPr>
              <a:t>未来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B1DD4C-E1A1-4D91-BA78-30136D28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91225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更强声明仍要靠 future validation</a:t>
            </a:r>
          </a:p>
        </p:txBody>
      </p:sp>
    </p:spTree>
    <p:extLst>
      <p:ext uri="{BB962C8B-B14F-4D97-AF65-F5344CB8AC3E}">
        <p14:creationId xmlns:p14="http://schemas.microsoft.com/office/powerpoint/2010/main" val="203607041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573DBD-29AB-43E1-80BB-CD071AEB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632D6A2-A383-465D-9431-836FBB4B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FB564DA-EF09-4544-A84F-D3B1E1CF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声明边界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FA7A0-34B3-4A7A-8E19-5966C27D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这套 deck 最强的一页，是说明我们不做哪些声明。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DE142-AD18-4C89-9AB5-ECDCE0D0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04072-3319-4625-9B75-36E23AE7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7C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7C2"/>
                </a:solidFill>
                <a:latin typeface="PingFang SC"/>
                <a:ea typeface="PingFang SC"/>
                <a:cs typeface="PingFang SC"/>
              </a:rPr>
              <a:t>来源：Barcarolle proposal report V5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A0C0B-28E4-4BB9-ADA3-DA63B62F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7C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7C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1C3670-14C9-4AB4-8738-3735097B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9525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0DAFD-504F-4EA7-BCE4-E07A6118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85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111821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11821"/>
                </a:solidFill>
                <a:latin typeface="PingFang SC"/>
                <a:ea typeface="PingFang SC"/>
                <a:cs typeface="PingFang SC"/>
              </a:rPr>
              <a:t>当前证据提供有边界的牵引性证据和可信验证路径；预测效度仍未建立。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01BD89-01D1-4995-9A3B-BD2192E2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428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632"/>
          </a:solidFill>
          <a:ln xmlns:a="http://schemas.openxmlformats.org/drawingml/2006/main" w="9525">
            <a:solidFill>
              <a:srgbClr val="3341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B14D2-ACD5-4B7C-9ABD-061E8156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052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预测效度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FF91B-6414-46A8-8F8E-2EFD6338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05225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C8D0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0D8"/>
                </a:solidFill>
                <a:latin typeface="PingFang SC"/>
                <a:ea typeface="PingFang SC"/>
                <a:cs typeface="PingFang SC"/>
              </a:rPr>
              <a:t>仍未建立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D33A17-514F-47EE-8A34-41BC9E48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62350"/>
            <a:ext cx="428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632"/>
          </a:solidFill>
          <a:ln xmlns:a="http://schemas.openxmlformats.org/drawingml/2006/main" w="9525">
            <a:solidFill>
              <a:srgbClr val="3341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8750CA-206B-4365-BEC3-27A13C55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052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调优效果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8249E8-AC57-4BBE-AD9C-3E9D7B9C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05225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C8D0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0D8"/>
                </a:solidFill>
                <a:latin typeface="PingFang SC"/>
                <a:ea typeface="PingFang SC"/>
                <a:cs typeface="PingFang SC"/>
              </a:rPr>
              <a:t>仍未验证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568244-4D2C-4775-94A8-EB0D5034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428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632"/>
          </a:solidFill>
          <a:ln xmlns:a="http://schemas.openxmlformats.org/drawingml/2006/main" w="9525">
            <a:solidFill>
              <a:srgbClr val="3341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B2EC13-D715-4B04-B718-94EE942F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577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Pooled rescue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48AFD6-0A51-4EF7-AFAC-FE90E8E7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57725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C8D0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0D8"/>
                </a:solidFill>
                <a:latin typeface="PingFang SC"/>
                <a:ea typeface="PingFang SC"/>
                <a:cs typeface="PingFang SC"/>
              </a:rPr>
              <a:t>不能隐藏命名配置失败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AB88D0-1540-4C80-8E59-551DC645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14850"/>
            <a:ext cx="428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632"/>
          </a:solidFill>
          <a:ln xmlns:a="http://schemas.openxmlformats.org/drawingml/2006/main" w="9525">
            <a:solidFill>
              <a:srgbClr val="3341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F4AED2-2C57-49D3-9FAF-539830A0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577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任务生成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A527B1-9B46-457F-9053-131D0F6F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57725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C8D0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0D8"/>
                </a:solidFill>
                <a:latin typeface="PingFang SC"/>
                <a:ea typeface="PingFang SC"/>
                <a:cs typeface="PingFang SC"/>
              </a:rPr>
              <a:t>candidate supply，不是核心声明</a:t>
            </a:r>
          </a:p>
        </p:txBody>
      </p:sp>
    </p:spTree>
    <p:extLst>
      <p:ext uri="{BB962C8B-B14F-4D97-AF65-F5344CB8AC3E}">
        <p14:creationId xmlns:p14="http://schemas.microsoft.com/office/powerpoint/2010/main" val="20792833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4E63F6-5A98-45B6-8D63-39D25DCB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FA4B9CC-8D1C-4E82-8CA0-68B7D3F2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1387B9D-34FD-4F74-BEE3-40658A15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验证路径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9C37A-49A0-4DE1-B8A1-FF200280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更强声明要求先冻结 release，再接入未来结果。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CF3DF-6531-476C-8288-B18A3847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03D49-D127-4903-A206-E2C821DA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来源：Barcarolle proposal report V5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9B439-DD91-4094-83C3-356435E0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1AED1-6A3D-4A13-AF53-48EABE0D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942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回溯 replay 对牵引性证据和 debugging 有用；正式声明需要 true future holdout 或预注册 rolling-origin 证据。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62311-A1BA-4E06-B8F9-F85BF0F7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428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93EFA3-8A91-4A16-9717-77441E68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56A80A-E2FD-48D0-8E46-55956D69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预先冻结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97CDD3-4CB5-4336-9CCE-305F3E31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repo、cutoff、supply、feature、selection rule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E5DE75-43DF-4988-8263-EFFD1922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528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CD2809-254F-4B7A-83F0-1B39E0FA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52700"/>
            <a:ext cx="1428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5D0396-09FE-4C2F-AB0F-24699360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432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2B1EFC-14FE-470D-96E3-583265FE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4325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命名 ACUT 配置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4049DD-9D14-410D-B3AE-F5B556D3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766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adapter boundary 与 endpoint checks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7E4F93-3802-4477-9449-64375AE9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528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BE0D74-A50A-4C24-B699-A3294D9B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52700"/>
            <a:ext cx="1428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30C648-2C87-4D63-9E85-4EED4748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432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C968A2-8836-4224-A90F-D1CB4497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4325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未来证据模式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647400-F15B-4939-B865-381FE6F2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6766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holdout 或预注册 rolling origin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FA3E64-9984-4423-9346-71CD112F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528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D738CB-891F-4529-9015-09D07379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52700"/>
            <a:ext cx="1428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0AE6A8-7AB1-4A73-B4F8-D1A8C78D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95D1FF-5B53-4607-9575-84C06898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4325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Score join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65EDBD-18DF-49B5-8B85-BCCBC385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6766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freeze 后再接入 outcome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8AD45C-1D21-4BD8-A9DE-FAA5D7A7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528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5D0D64-3F05-4A8A-A06E-AC883CE0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52700"/>
            <a:ext cx="1428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C27CFD-CAA9-4788-9F3B-0288B5CA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432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6114D9-47BA-4289-9227-18347715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4325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baseline envelope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831471-CAA4-4631-97BC-83287155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766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temporal、unweighted、stratified、random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868BDA-9F52-4952-8903-9788A8EC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528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176C60-EE8F-41CC-AFE6-09D4E3AA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52700"/>
            <a:ext cx="1428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F9F584-CB3D-4A6F-8357-36C6CE96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432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66EF4A-B57F-4930-B144-85C968FE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4325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限定声明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B44104-2E3F-48BF-975C-D417F45E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766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所有 criterion 通过才成立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7E61C1-4613-4A4D-A29F-955B5E96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8401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E2"/>
          </a:solidFill>
          <a:ln xmlns:a="http://schemas.openxmlformats.org/drawingml/2006/main" w="9525">
            <a:solidFill>
              <a:srgbClr val="B8842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B38DD8-9159-40BD-8211-EB8EDEA5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9110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有预算评测从 freeze 后开始，而不是之前。</a:t>
            </a:r>
          </a:p>
        </p:txBody>
      </p:sp>
    </p:spTree>
    <p:extLst>
      <p:ext uri="{BB962C8B-B14F-4D97-AF65-F5344CB8AC3E}">
        <p14:creationId xmlns:p14="http://schemas.microsoft.com/office/powerpoint/2010/main" val="3724275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EB77E4-AFB5-43A2-A013-3B438FD0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642C6DD-0F02-4020-BA9B-B07D8929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B305F57-BB76-4A67-866A-EB90D907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工作包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1A44C-86D3-45B0-AF36-F4CF03AE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审批资助的是 release-and-validation system，不是通用任务工厂。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DFAA7-8706-414E-834A-69A4259A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11940-C6A1-4850-880A-6587FC9B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来源：Barcarolle proposal report V5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829F5-1107-43FA-91E0-68D87048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A342A-814E-49A6-A021-6FDAB222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3009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5A9CA-4078-4F86-ABC2-1E1022F1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3009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37C8E-065C-4AA3-804A-FA3BA580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65C8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65C8D"/>
                </a:solidFill>
                <a:latin typeface="PingFang SC"/>
                <a:ea typeface="PingFang SC"/>
                <a:cs typeface="PingFang SC"/>
              </a:rPr>
              <a:t>编译器算法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D76A99-A46E-4BAC-8DB7-61B1B46F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2495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对比简单 baseline 的 selection rules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1BA239-ECC3-4EAB-979B-C73537A8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09750"/>
            <a:ext cx="3009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3B3C8D-3D39-442B-84F3-AF23453F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09750"/>
            <a:ext cx="3009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F9F811-0F7F-4900-B2D9-02935093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764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E747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E7474"/>
                </a:solidFill>
                <a:latin typeface="PingFang SC"/>
                <a:ea typeface="PingFang SC"/>
                <a:cs typeface="PingFang SC"/>
              </a:rPr>
              <a:t>任务认证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85618E-55AD-44AA-946E-0E0C7C3F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38400"/>
            <a:ext cx="2495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provenance、oracle、leakage、语境充分性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1E03F8-00D2-443C-A830-A2089C32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09750"/>
            <a:ext cx="3009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01F29-C972-4402-8230-C7070286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09750"/>
            <a:ext cx="3009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DF8774-0AF8-42E9-B359-C459AFC0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764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884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8842F"/>
                </a:solidFill>
                <a:latin typeface="PingFang SC"/>
                <a:ea typeface="PingFang SC"/>
                <a:cs typeface="PingFang SC"/>
              </a:rPr>
              <a:t>Release construction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04D4FD-C255-4E22-B9A8-A5578960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38400"/>
            <a:ext cx="2495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versioned manifest、split、fallback label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9B45B8-0928-41B9-9973-B7F5A7E2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3009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A7ED2F-A712-47C7-BF63-A1EA943A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3009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7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D45F61-4182-41F7-A4A8-105D5E74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5A7A4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A7A45"/>
                </a:solidFill>
                <a:latin typeface="PingFang SC"/>
                <a:ea typeface="PingFang SC"/>
                <a:cs typeface="PingFang SC"/>
              </a:rPr>
              <a:t>调优接口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9BB939-EC85-497D-982F-AF6EC343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2495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scorecard、failure label、dev/eval/canary rules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99301E-676E-42C4-A28A-71FF61AC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429000"/>
            <a:ext cx="3009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BB6B23-EB37-4B9D-BE07-417EC811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429000"/>
            <a:ext cx="3009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A28717-4D21-41E5-AC89-C2668D96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957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2472F"/>
                </a:solidFill>
                <a:latin typeface="PingFang SC"/>
                <a:ea typeface="PingFang SC"/>
                <a:cs typeface="PingFang SC"/>
              </a:rPr>
              <a:t>验证执行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4CB120-8F2E-4C8A-9D47-19B6DF59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57650"/>
            <a:ext cx="2495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future holdout 或预注册 rolling origin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98786B-471D-4DE2-9F67-096E7CA5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29000"/>
            <a:ext cx="3009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756CEB-3B1B-4DEC-82A6-28CBE9F6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29000"/>
            <a:ext cx="3009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6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C8A415-A4E2-46B7-AAFB-A1A717EC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957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B263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B2632"/>
                </a:solidFill>
                <a:latin typeface="PingFang SC"/>
                <a:ea typeface="PingFang SC"/>
                <a:cs typeface="PingFang SC"/>
              </a:rPr>
              <a:t>报告治理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19CEB0-E8BF-4B64-9113-21913AD2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57650"/>
            <a:ext cx="2495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uncertainty、cost、latency、限制说明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753CDE-7CBF-47E8-BF1D-B7CC6DDC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914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占位符：[待用户决定：对外材料中的交付负责人类别]</a:t>
            </a:r>
          </a:p>
        </p:txBody>
      </p:sp>
    </p:spTree>
    <p:extLst>
      <p:ext uri="{BB962C8B-B14F-4D97-AF65-F5344CB8AC3E}">
        <p14:creationId xmlns:p14="http://schemas.microsoft.com/office/powerpoint/2010/main" val="127461485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29320E-97B1-4C11-9C7F-FD155F22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172001F-20B0-4582-85BD-019FEBA6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9F1D50A-049E-4B9C-8B01-24F2BDFD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闸门与预算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A883FA-6EC0-4D59-946A-B8AC3F3E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评测支出必须有预算、有闸门，不是开放式探索。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06FA3-B240-4BD8-8402-5B865D57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35600-9CB7-4E3F-935A-9A9B1A57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来源：Barcarolle proposal report V5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1B62D-7E45-41A3-B6DD-E50CEB0D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5D886-387F-4A8E-B9DB-97E7DDCE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闸门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79FB90-65A6-4AB3-9C92-D2BB7A8D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38300"/>
            <a:ext cx="3000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必须冻结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5A362-426D-4039-981A-B055E5E7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383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为什么重要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03E468-6F76-4AD0-9EB2-21B998E1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383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待定值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DBA2F-5E41-4274-A320-A3B13D49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032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931704-35F3-45E0-BC59-4D57C33B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F2044B-9F28-4E57-8257-F28C5D68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038350"/>
            <a:ext cx="3000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Release、selection rule、baseline、invalid-cell rules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F2E7F0-7CA4-4338-8724-34D0F95E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383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防止事后解释 score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19DF59-07B3-4EDD-A2C1-6A15BEDD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383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A66D17-2B63-483D-88A1-C91F3CF1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1032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5F0D1E-C0B8-433B-A799-45CD94D2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44F0C5-A011-4015-863A-D31E6C80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686050"/>
            <a:ext cx="3000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Candidate pool support 和 source quality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C1F209-1AF9-441C-B84D-F0F07B4A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860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避免无支持的宽声明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6D9E85-D527-48F0-B2D2-9F59E0F3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860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78301B-5C86-4D9B-8AB4-398FA6EE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1032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581F95-BE7D-4829-B07D-E8E4175B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892D72-EBBE-4322-8FEB-D12AF397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333750"/>
            <a:ext cx="3000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实际 MAE margin 和 slice rules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4DB7A3-DFEE-4F2C-8575-14AE94E3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337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防止 pooled rescue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8E92D1-4BD1-440F-BA5C-22D5ECF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337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FD6552-C1BA-4A0A-9857-8C79D7E1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1032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213F8D-23E6-4333-8D34-7C511173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219480-7778-4E4C-8BA4-E0F49DE7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81450"/>
            <a:ext cx="3000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Fallback reporting 和 claim narrowing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74AE68-C422-4B73-928E-9257960F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814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让 composite behavior 可见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0E9169-40F2-4AE9-A96C-0A4D5B54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814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478208-1321-4814-ABEA-19A96057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032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8EC673-E9DB-4D20-BC8F-58C8273E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45B42A-E5D1-4856-A9FD-16C5F7C6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629150"/>
            <a:ext cx="3000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评测范围、endpoint、accounting、artifact hygiene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FFA3B0-311F-4F23-A498-61AE3718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291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控制支出和可审计性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A98D8B-6D1E-4F85-80A6-530CFB66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291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预算上限与审批路径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00F5D2-D0E2-48A0-8207-0A68EA29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6260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E3"/>
          </a:solidFill>
          <a:ln xmlns:a="http://schemas.openxmlformats.org/drawingml/2006/main" w="9525">
            <a:solidFill>
              <a:srgbClr val="B2472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8D8968-AF95-4733-BDE0-D63E309B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007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2472F"/>
                </a:solidFill>
                <a:latin typeface="PingFang SC"/>
                <a:ea typeface="PingFang SC"/>
                <a:cs typeface="PingFang SC"/>
              </a:rPr>
              <a:t>[待用户决定：有闸门 ACUT 评测的预算上限]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2472F"/>
                </a:solidFill>
                <a:latin typeface="PingFang SC"/>
                <a:ea typeface="PingFang SC"/>
                <a:cs typeface="PingFang SC"/>
              </a:rPr>
              <a:t>[待用户决定：审批路径或审批负责人]</a:t>
            </a:r>
          </a:p>
        </p:txBody>
      </p:sp>
    </p:spTree>
    <p:extLst>
      <p:ext uri="{BB962C8B-B14F-4D97-AF65-F5344CB8AC3E}">
        <p14:creationId xmlns:p14="http://schemas.microsoft.com/office/powerpoint/2010/main" val="162397708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EBCC39-2516-485B-907D-29794D3D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04898A7-EA4F-48EB-94A2-86156A74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7AB2839-A714-4B13-9CFF-74EA3359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风险与控制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36A54-2835-46BE-B8C3-2947F4B9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审批 case 更强，是因为限制被明确写出来。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5B160-13F1-41CA-AEF5-E4BE25BC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73EE1-E95C-4C91-9774-6C7A83CB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来源：Barcarolle proposal report V5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A911C-681F-448F-9080-94431B4F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1E5098-3EAB-4FF6-9ECD-02EF007D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457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03FB5-A9CB-46D8-9739-4141CCC6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2472F"/>
                </a:solidFill>
                <a:latin typeface="PingFang SC"/>
                <a:ea typeface="PingFang SC"/>
                <a:cs typeface="PingFang SC"/>
              </a:rPr>
              <a:t>初步证据可能无法泛化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F32B5A-96C4-46EB-A953-413C78D8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24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7DBDE-3754-4042-88E8-103237D6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24050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使用 future holdout 或预注册 rolling-origin 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43D3D2-32D4-4FA5-B37C-D79FC273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52600"/>
            <a:ext cx="4457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A6A902-1E6D-4C80-BF4C-5C4990CB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2405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2472F"/>
                </a:solidFill>
                <a:latin typeface="PingFang SC"/>
                <a:ea typeface="PingFang SC"/>
                <a:cs typeface="PingFang SC"/>
              </a:rPr>
              <a:t>selection 可能打不过简单 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3247F1-8887-4F5E-9897-8549F6F9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24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C4067-2141-461F-B631-8D18A110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24050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要求实际 MAE margin 和 many-seed random comparison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1BAB5B-142E-466D-AB7D-156CF8E9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457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098A78-C785-4415-BE7A-4484BBA6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2472F"/>
                </a:solidFill>
                <a:latin typeface="PingFang SC"/>
                <a:ea typeface="PingFang SC"/>
                <a:cs typeface="PingFang SC"/>
              </a:rPr>
              <a:t>fallback support 可能主导 release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280AD9-1945-4E65-9B97-4B578F09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2420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7EB33C-DF24-481E-A56B-3537BDB6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24200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修复 feature support 或收窄声明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44196C-DFCC-49E6-BB74-FF5D58BD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52750"/>
            <a:ext cx="4457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602543-3C5C-45DE-B815-87DF8885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2420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2472F"/>
                </a:solidFill>
                <a:latin typeface="PingFang SC"/>
                <a:ea typeface="PingFang SC"/>
                <a:cs typeface="PingFang SC"/>
              </a:rPr>
              <a:t>adapter 差异可能让解释变模糊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6B8D85-1454-4689-878F-0B5C0D0E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2420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8D9BA4-7D30-4B12-9CC9-233BAFB1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24200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优先按命名 ACUT 配置报告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716248-6E58-41F0-8558-C061E1F7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4457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FD9C74-3F15-4F3D-B853-5F2463A8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2472F"/>
                </a:solidFill>
                <a:latin typeface="PingFang SC"/>
                <a:ea typeface="PingFang SC"/>
                <a:cs typeface="PingFang SC"/>
              </a:rPr>
              <a:t>调优可能过拟合可见任务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BFCCF1-0C72-4365-8E45-7D5F74CC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243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A97956-1425-4A8E-AD4B-665E62CE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324350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分离 dev、eval、canary 和未来证据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E5E916-0F49-43B1-973B-F3C94AFB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152900"/>
            <a:ext cx="4457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5C17DF-F8BB-466E-B355-75428D79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32435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2472F"/>
                </a:solidFill>
                <a:latin typeface="PingFang SC"/>
                <a:ea typeface="PingFang SC"/>
                <a:cs typeface="PingFang SC"/>
              </a:rPr>
              <a:t>预算可能过早花掉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4C74E4-3272-46F3-B608-BA06F2DA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243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1D4C03-8519-4FE9-AB8E-4598282A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24350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评测前冻结 protocol 和 accounting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21A284-9363-4701-BC36-33570A74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19750"/>
            <a:ext cx="800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Mitigation 是控制计划，不是风险已消失的证据。</a:t>
            </a:r>
          </a:p>
        </p:txBody>
      </p:sp>
    </p:spTree>
    <p:extLst>
      <p:ext uri="{BB962C8B-B14F-4D97-AF65-F5344CB8AC3E}">
        <p14:creationId xmlns:p14="http://schemas.microsoft.com/office/powerpoint/2010/main" val="145383884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DA1782-29AB-4E89-AB49-ACBE7C69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A4A18FF-B136-4F63-8595-E65AE6EA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34D1947-F1CF-405B-AE58-1918EDA3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交付物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002CD-2407-4BFE-B6FD-98617BB0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评审者可以期待具体 release、protocol、report 和调优接口。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6E301-4788-4B34-9629-7FD3FBF2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7A7C5-26EC-4801-B2CA-77AE87C1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来源：Barcarolle proposal report V5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F1566-4DB4-43D0-B964-C3D464CD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5ACC9-C9D0-453E-AE23-A9690FDB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FD3D5-D451-4916-BDCD-234EC6FF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1952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65C8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65C8D"/>
                </a:solidFill>
                <a:latin typeface="PingFang SC"/>
                <a:ea typeface="PingFang SC"/>
                <a:cs typeface="PingFang SC"/>
              </a:rPr>
              <a:t>Release machinery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9B4A8-83B6-4939-A383-097F63E0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2880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已认证 task set、split definition、feature value、fallback label、ACUT boundary statement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274D3-99E4-499B-9522-67FB5B7C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4AF6A-C767-4D24-B41F-5769510F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952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747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7474"/>
                </a:solidFill>
                <a:latin typeface="PingFang SC"/>
                <a:ea typeface="PingFang SC"/>
                <a:cs typeface="PingFang SC"/>
              </a:rPr>
              <a:t>验证协议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0BF6AA-FC55-44D7-98DD-F6C02E93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098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baseline suite、future holdout 或预注册 rolling-origin design、success criteria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816957-4178-4046-8EC4-1AF124A5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B040BD-49E9-4EF8-9817-32F2BCC9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1952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84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842F"/>
                </a:solidFill>
                <a:latin typeface="PingFang SC"/>
                <a:ea typeface="PingFang SC"/>
                <a:cs typeface="PingFang SC"/>
              </a:rPr>
              <a:t>Reporting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EB65B7-A050-40C7-A145-EDDE8F80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9090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adapter 分层 scorecard、uncertainty summary、invalid-cell sensitivity、cost 与 latency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62FBBF-F410-4B8C-AFE3-B2055FCD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6BEC27-6D97-4578-A592-FF5A1470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1952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A7A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A7A45"/>
                </a:solidFill>
                <a:latin typeface="PingFang SC"/>
                <a:ea typeface="PingFang SC"/>
                <a:cs typeface="PingFang SC"/>
              </a:rPr>
              <a:t>调优接口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3CFF07-8B72-41C0-B079-D412C296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719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optimizer 可读 scorecard、failure taxonomy、configuration-comparison template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4644E5-5BD7-48CB-9987-F960E086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B54C73-D182-4501-8CB0-B4772FB3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1952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2472F"/>
                </a:solidFill>
                <a:latin typeface="PingFang SC"/>
                <a:ea typeface="PingFang SC"/>
                <a:cs typeface="PingFang SC"/>
              </a:rPr>
              <a:t>治理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B249F0-0F1E-4802-8273-7F47F790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5300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source-quality report、artifact manifest、limitation statement、refresh rules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D2D8B3-9D2D-4D96-BCBC-4AD2CC7C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91200"/>
            <a:ext cx="666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E2"/>
          </a:solidFill>
          <a:ln xmlns:a="http://schemas.openxmlformats.org/drawingml/2006/main" w="9525">
            <a:solidFill>
              <a:srgbClr val="B8842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D36372-CF41-4DAD-889A-D85001BC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674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[待用户决定：项目人员配置]  |  [待用户决定：项目周期]</a:t>
            </a:r>
          </a:p>
        </p:txBody>
      </p:sp>
    </p:spTree>
    <p:extLst>
      <p:ext uri="{BB962C8B-B14F-4D97-AF65-F5344CB8AC3E}">
        <p14:creationId xmlns:p14="http://schemas.microsoft.com/office/powerpoint/2010/main" val="202533826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CA3B2D-CC71-452D-A3CC-01BD9E49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8FB5984-20F7-41E0-9468-F3CB1273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A5FBEAC-6E6A-49D8-95B0-64DF217B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决策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EC474-6515-4586-BA33-EBCEA4E3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在既定声明边界和闸门下批准 Barcarolle。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06D1B-15C3-42E8-BC51-07DCD6AA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22991-FEB9-4E46-9B08-06AE0244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来源：Barcarolle proposal report V5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EDD6C4-F7AE-42BF-B556-922B5ED9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13E07-E61A-4702-85A7-4881A5FA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905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E5430-78D9-41F2-AEAC-0901FB01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533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决策：批准 benchmark release、certification、validation、reporting 和 tuning-facing interfaces 的项目工作。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0349CA-E40C-483F-B28E-A4366DD1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71450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CD76B7-5D04-4BE2-9C43-7AC7E10C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V5 仍是长文论证基准。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E45198-A866-4BEC-B929-36DB43A6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4315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6ED5C-F30C-4BEA-93AC-D740904F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574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预测效度仍未建立；需等未来验证通过。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845A21-267F-41E7-B868-CFB9D0EF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7180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8F4ED5-D4EF-40EE-A889-55809556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861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调优效果仍未验证。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3DF582-6DA6-4E0F-85BB-42757048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0045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00F6A1-ACFC-4F38-AEBA-56148069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147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评测预算只在冻结闸门后使用。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258525-FA25-4C18-AD21-E56AEB32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2472F"/>
                </a:solidFill>
                <a:latin typeface="PingFang SC"/>
                <a:ea typeface="PingFang SC"/>
                <a:cs typeface="PingFang SC"/>
              </a:rPr>
              <a:t>流通前处理：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5BF2DD-279D-4B01-BFC5-752224A9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958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[待用户决定：项目人员配置]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50044F-865F-4BE3-9282-718AF235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[待用户决定：项目周期]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B48814-6EB1-43B3-96AC-6276595A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673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[待用户决定：有闸门 ACUT 评测的预算上限]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33BAC5-A70E-4379-9993-25624C1B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53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PingFang SC"/>
                <a:ea typeface="PingFang SC"/>
                <a:cs typeface="PingFang SC"/>
              </a:rPr>
              <a:t>[待用户决定：审批路径或审批负责人]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1835AB-4270-440E-B708-07B3D781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76250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E3"/>
          </a:solidFill>
          <a:ln xmlns:a="http://schemas.openxmlformats.org/drawingml/2006/main" w="9525">
            <a:solidFill>
              <a:srgbClr val="B2472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5730C3-EF00-4DCB-B209-D0239A28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57750"/>
            <a:ext cx="361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2472F"/>
                </a:solidFill>
                <a:latin typeface="PingFang SC"/>
                <a:ea typeface="PingFang SC"/>
                <a:cs typeface="PingFang SC"/>
              </a:rPr>
              <a:t>下一步：确认资源占位符，或明确保留可见后再流通 deck。</a:t>
            </a:r>
          </a:p>
        </p:txBody>
      </p:sp>
    </p:spTree>
    <p:extLst>
      <p:ext uri="{BB962C8B-B14F-4D97-AF65-F5344CB8AC3E}">
        <p14:creationId xmlns:p14="http://schemas.microsoft.com/office/powerpoint/2010/main" val="5262150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2026-06-01T15:08:22.6750000Z</dcterms:created>
  <dcterms:modified xsi:type="dcterms:W3CDTF">2026-06-01T15:08:22.6750000Z</dcterms:modified>
</coreProperties>
</file>