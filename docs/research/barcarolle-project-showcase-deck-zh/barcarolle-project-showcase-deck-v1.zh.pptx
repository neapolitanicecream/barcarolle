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860eeea2a1412a" /><Relationship Type="http://schemas.openxmlformats.org/officeDocument/2006/relationships/extended-properties" Target="/docProps/app.xml" Id="R42df02f59fd74571" /><Relationship Type="http://schemas.openxmlformats.org/officeDocument/2006/relationships/officeDocument" Target="/ppt/presentation.xml" Id="R95e2016441ca46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5f03df560d4282"/>
  </p:sldMasterIdLst>
  <p:notesMasterIdLst>
    <p:notesMasterId xmlns:r="http://schemas.openxmlformats.org/officeDocument/2006/relationships" r:id="R64b8841ff80949bb"/>
  </p:notesMasterIdLst>
  <p:sldIdLst>
    <p:sldId xmlns:r="http://schemas.openxmlformats.org/officeDocument/2006/relationships" id="256" r:id="Rf3e6f09e6f38420b"/>
    <p:sldId xmlns:r="http://schemas.openxmlformats.org/officeDocument/2006/relationships" id="257" r:id="Rff0ec9039e5e4051"/>
    <p:sldId xmlns:r="http://schemas.openxmlformats.org/officeDocument/2006/relationships" id="258" r:id="R6acc3caa94084d2a"/>
    <p:sldId xmlns:r="http://schemas.openxmlformats.org/officeDocument/2006/relationships" id="259" r:id="Rc279c01a15f04a09"/>
    <p:sldId xmlns:r="http://schemas.openxmlformats.org/officeDocument/2006/relationships" id="260" r:id="Rf316dcff05774d15"/>
    <p:sldId xmlns:r="http://schemas.openxmlformats.org/officeDocument/2006/relationships" id="261" r:id="R4c6e17b1ebb84b79"/>
    <p:sldId xmlns:r="http://schemas.openxmlformats.org/officeDocument/2006/relationships" id="262" r:id="R3849d4a45698492a"/>
    <p:sldId xmlns:r="http://schemas.openxmlformats.org/officeDocument/2006/relationships" id="263" r:id="Ree19077980814282"/>
    <p:sldId xmlns:r="http://schemas.openxmlformats.org/officeDocument/2006/relationships" id="264" r:id="R29839ddd21274993"/>
    <p:sldId xmlns:r="http://schemas.openxmlformats.org/officeDocument/2006/relationships" id="265" r:id="Rcb80ea468c214f4c"/>
    <p:sldId xmlns:r="http://schemas.openxmlformats.org/officeDocument/2006/relationships" id="266" r:id="R1d6a71a589754bef"/>
    <p:sldId xmlns:r="http://schemas.openxmlformats.org/officeDocument/2006/relationships" id="267" r:id="R27b095aba4614fbd"/>
    <p:sldId xmlns:r="http://schemas.openxmlformats.org/officeDocument/2006/relationships" id="268" r:id="Rb438f6af04334521"/>
    <p:sldId xmlns:r="http://schemas.openxmlformats.org/officeDocument/2006/relationships" id="269" r:id="R1628ab1e888b4826"/>
    <p:sldId xmlns:r="http://schemas.openxmlformats.org/officeDocument/2006/relationships" id="270" r:id="R81132d7115c046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b706afe8944bd3" /><Relationship Type="http://schemas.openxmlformats.org/officeDocument/2006/relationships/slideMaster" Target="/ppt/slideMasters/slideMaster1.xml" Id="R2c5f03df560d4282" /><Relationship Type="http://schemas.openxmlformats.org/officeDocument/2006/relationships/notesMaster" Target="/ppt/notesMasters/notesMaster1.xml" Id="R64b8841ff80949bb" /><Relationship Type="http://schemas.openxmlformats.org/officeDocument/2006/relationships/presProps" Target="/ppt/presProps.xml" Id="R65cc93abedda4b67" /><Relationship Type="http://schemas.openxmlformats.org/officeDocument/2006/relationships/viewProps" Target="/ppt/viewProps.xml" Id="R2a26216cbbf942a5" /><Relationship Type="http://schemas.openxmlformats.org/officeDocument/2006/relationships/tableStyles" Target="/ppt/tableStyles.xml" Id="R9764b3e7337a4bae" /><Relationship Type="http://schemas.openxmlformats.org/officeDocument/2006/relationships/slide" Target="/ppt/slides/slide1.xml" Id="Rf3e6f09e6f38420b" /><Relationship Type="http://schemas.openxmlformats.org/officeDocument/2006/relationships/slide" Target="/ppt/slides/slide2.xml" Id="Rff0ec9039e5e4051" /><Relationship Type="http://schemas.openxmlformats.org/officeDocument/2006/relationships/slide" Target="/ppt/slides/slide3.xml" Id="R6acc3caa94084d2a" /><Relationship Type="http://schemas.openxmlformats.org/officeDocument/2006/relationships/slide" Target="/ppt/slides/slide4.xml" Id="Rc279c01a15f04a09" /><Relationship Type="http://schemas.openxmlformats.org/officeDocument/2006/relationships/slide" Target="/ppt/slides/slide5.xml" Id="Rf316dcff05774d15" /><Relationship Type="http://schemas.openxmlformats.org/officeDocument/2006/relationships/slide" Target="/ppt/slides/slide6.xml" Id="R4c6e17b1ebb84b79" /><Relationship Type="http://schemas.openxmlformats.org/officeDocument/2006/relationships/slide" Target="/ppt/slides/slide7.xml" Id="R3849d4a45698492a" /><Relationship Type="http://schemas.openxmlformats.org/officeDocument/2006/relationships/slide" Target="/ppt/slides/slide8.xml" Id="Ree19077980814282" /><Relationship Type="http://schemas.openxmlformats.org/officeDocument/2006/relationships/slide" Target="/ppt/slides/slide9.xml" Id="R29839ddd21274993" /><Relationship Type="http://schemas.openxmlformats.org/officeDocument/2006/relationships/slide" Target="/ppt/slides/slide10.xml" Id="Rcb80ea468c214f4c" /><Relationship Type="http://schemas.openxmlformats.org/officeDocument/2006/relationships/slide" Target="/ppt/slides/slide11.xml" Id="R1d6a71a589754bef" /><Relationship Type="http://schemas.openxmlformats.org/officeDocument/2006/relationships/slide" Target="/ppt/slides/slide12.xml" Id="R27b095aba4614fbd" /><Relationship Type="http://schemas.openxmlformats.org/officeDocument/2006/relationships/slide" Target="/ppt/slides/slide13.xml" Id="Rb438f6af04334521" /><Relationship Type="http://schemas.openxmlformats.org/officeDocument/2006/relationships/slide" Target="/ppt/slides/slide14.xml" Id="R1628ab1e888b4826" /><Relationship Type="http://schemas.openxmlformats.org/officeDocument/2006/relationships/slide" Target="/ppt/slides/slide15.xml" Id="R81132d7115c0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65287e622741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f1ca5d54824cdd" /><Relationship Type="http://schemas.openxmlformats.org/officeDocument/2006/relationships/notesMaster" Target="/ppt/notesMasters/notesMaster1.xml" Id="Ref7ed12258574e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5c0a202f524539" /><Relationship Type="http://schemas.openxmlformats.org/officeDocument/2006/relationships/notesMaster" Target="/ppt/notesMasters/notesMaster1.xml" Id="Raf4251a61585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bfe10136c24bab" /><Relationship Type="http://schemas.openxmlformats.org/officeDocument/2006/relationships/notesMaster" Target="/ppt/notesMasters/notesMaster1.xml" Id="R2cbbf65776f74d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91665627134c6c" /><Relationship Type="http://schemas.openxmlformats.org/officeDocument/2006/relationships/notesMaster" Target="/ppt/notesMasters/notesMaster1.xml" Id="R4b4967b68ec64a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2923a6cd45439e" /><Relationship Type="http://schemas.openxmlformats.org/officeDocument/2006/relationships/notesMaster" Target="/ppt/notesMasters/notesMaster1.xml" Id="Rb278a690a68640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e3469fac0c4304" /><Relationship Type="http://schemas.openxmlformats.org/officeDocument/2006/relationships/notesMaster" Target="/ppt/notesMasters/notesMaster1.xml" Id="R3ea91692c2bd4a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ef537804d4e56" /><Relationship Type="http://schemas.openxmlformats.org/officeDocument/2006/relationships/notesMaster" Target="/ppt/notesMasters/notesMaster1.xml" Id="Rdc695a83d43441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440ac3087e47e7" /><Relationship Type="http://schemas.openxmlformats.org/officeDocument/2006/relationships/notesMaster" Target="/ppt/notesMasters/notesMaster1.xml" Id="R03e7a5d712384b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6c76afc780485b" /><Relationship Type="http://schemas.openxmlformats.org/officeDocument/2006/relationships/notesMaster" Target="/ppt/notesMasters/notesMaster1.xml" Id="R01463c4317ae4c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b4944e7d9d4492" /><Relationship Type="http://schemas.openxmlformats.org/officeDocument/2006/relationships/notesMaster" Target="/ppt/notesMasters/notesMaster1.xml" Id="R662a58dbc9ab47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66e58f1e264c77" /><Relationship Type="http://schemas.openxmlformats.org/officeDocument/2006/relationships/notesMaster" Target="/ppt/notesMasters/notesMaster1.xml" Id="R7ee0935a547142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1a93aaf732432d" /><Relationship Type="http://schemas.openxmlformats.org/officeDocument/2006/relationships/notesMaster" Target="/ppt/notesMasters/notesMaster1.xml" Id="Rae0b81fdd90b4b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e2c10796764499" /><Relationship Type="http://schemas.openxmlformats.org/officeDocument/2006/relationships/notesMaster" Target="/ppt/notesMasters/notesMaster1.xml" Id="R4e7e4676c52f46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d60c436fb34da6" /><Relationship Type="http://schemas.openxmlformats.org/officeDocument/2006/relationships/notesMaster" Target="/ppt/notesMasters/notesMaster1.xml" Id="R486bd97d1a3844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0d620e31364678" /><Relationship Type="http://schemas.openxmlformats.org/officeDocument/2006/relationships/notesMaster" Target="/ppt/notesMasters/notesMaster1.xml" Id="Ra412d8badb074b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c15206af441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076606f04f482d" /><Relationship Type="http://schemas.openxmlformats.org/officeDocument/2006/relationships/slideLayout" Target="/ppt/slideLayouts/slideLayout1.xml" Id="R4fa55deef0b742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55deef0b742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6f44ca8784269" /><Relationship Type="http://schemas.openxmlformats.org/officeDocument/2006/relationships/notesSlide" Target="/ppt/notesSlides/notesSlide1.xml" Id="R6b2eb41a338445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08978e3434a3d" /><Relationship Type="http://schemas.openxmlformats.org/officeDocument/2006/relationships/notesSlide" Target="/ppt/notesSlides/notesSlide2.xml" Id="R285a95f7907e45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ab0484cb54595" /><Relationship Type="http://schemas.openxmlformats.org/officeDocument/2006/relationships/notesSlide" Target="/ppt/notesSlides/notesSlide3.xml" Id="R76ee60910fd44d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d5b8b8e1c4ac5" /><Relationship Type="http://schemas.openxmlformats.org/officeDocument/2006/relationships/notesSlide" Target="/ppt/notesSlides/notesSlide4.xml" Id="R6dde1e1f01a84d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3d46e5e3c43eb" /><Relationship Type="http://schemas.openxmlformats.org/officeDocument/2006/relationships/notesSlide" Target="/ppt/notesSlides/notesSlide5.xml" Id="Rd5b87013d4534f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5c2ff38c34bcc" /><Relationship Type="http://schemas.openxmlformats.org/officeDocument/2006/relationships/notesSlide" Target="/ppt/notesSlides/notesSlide6.xml" Id="R864f789793a744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d5b7d0122460d" /><Relationship Type="http://schemas.openxmlformats.org/officeDocument/2006/relationships/notesSlide" Target="/ppt/notesSlides/notesSlide7.xml" Id="Rbea93a83583843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e2d812dfb4d98" /><Relationship Type="http://schemas.openxmlformats.org/officeDocument/2006/relationships/notesSlide" Target="/ppt/notesSlides/notesSlide8.xml" Id="Rb9386ac5d48a4d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d6e68d2264632" /><Relationship Type="http://schemas.openxmlformats.org/officeDocument/2006/relationships/notesSlide" Target="/ppt/notesSlides/notesSlide9.xml" Id="R2833460e78bd46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8a082cb4446ee" /><Relationship Type="http://schemas.openxmlformats.org/officeDocument/2006/relationships/notesSlide" Target="/ppt/notesSlides/notesSlide10.xml" Id="R0eefba12b6ad45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3cb3fefda4938" /><Relationship Type="http://schemas.openxmlformats.org/officeDocument/2006/relationships/notesSlide" Target="/ppt/notesSlides/notesSlide11.xml" Id="R64a7fd74b55f40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ad44c32514ea8" /><Relationship Type="http://schemas.openxmlformats.org/officeDocument/2006/relationships/notesSlide" Target="/ppt/notesSlides/notesSlide12.xml" Id="R6143fa02c83544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da974850647eb" /><Relationship Type="http://schemas.openxmlformats.org/officeDocument/2006/relationships/notesSlide" Target="/ppt/notesSlides/notesSlide13.xml" Id="R5c5ba25925624e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bc34b9f1a4546" /><Relationship Type="http://schemas.openxmlformats.org/officeDocument/2006/relationships/notesSlide" Target="/ppt/notesSlides/notesSlide14.xml" Id="R365c01080b2849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5846d74454f57" /><Relationship Type="http://schemas.openxmlformats.org/officeDocument/2006/relationships/notesSlide" Target="/ppt/notesSlides/notesSlide15.xml" Id="R8830f5cd326d45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A10F55-1DF7-46AD-A089-18D6F730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1CADC-A50F-4B28-9F21-FFA09AFD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62ECB-5E51-4CDB-A6E6-1F3B0DB5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项目定位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3B6EC-EA6B-4BAC-9969-8BAE74A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Barcarolle 编译面向目标仓库的 benchmark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0E8B3-AE71-440B-AD65-E5600FA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目标仓库、被测 Agent 配置与冻结 release 之间的证据层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EA017-3536-4322-917B-1A756906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88A30-56A3-44AF-B2A5-21C8945E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78A91-8CB6-4DD7-8801-D4F1A6B4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Barcarolle 是 benchmark 编译器，不是 ACUT harness。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87DFC-E2FD-4832-97FC-AC4264A7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Barcarolle 研究如何把候选任务编译成 repo-specific benchmark release，用于估计某个 ACUT 在目标仓库未来工作中的表现。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E1BE7-2326-4B42-9B48-8445C2C3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11466-9817-4C17-9C72-87AC3E42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目标仓库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F7F12-F0AB-439A-9FC6-10A793B8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未来 issue、API、测试习惯、依赖约束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86F34-C307-459E-AEE2-50287079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82303"/>
            <a:ext cx="95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27F77-C6E5-405A-837C-A9ED399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98DCF-D854-41B4-B68F-C2D170D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09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被测 ACUT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2F908-A2AC-4A34-8E36-32153455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70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保留自己的 harness、prompt、工具策略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95F8D-3706-4D2F-96E4-E34F6522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82303"/>
            <a:ext cx="95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B7883-6A53-4D34-9D46-1ED16C9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EDED9-4DFF-4EAF-85E8-68F64521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09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冻结 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CA082-3406-4C35-8197-BCF60C2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670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认证任务、split、回退标签、验证规则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179C8-6472-46BF-B316-F7F513F7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863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A1E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51A1E"/>
                </a:solidFill>
                <a:latin typeface="Menlo"/>
                <a:ea typeface="Menlo"/>
                <a:cs typeface="Menlo"/>
              </a:rPr>
              <a:t>release = task set + split + source/oracle metadata</a:t>
            </a:r>
          </a:p>
          <a:p xmlns:a="http://schemas.openxmlformats.org/drawingml/2006/main">
            <a:pPr algn="l">
              <a:defRPr sz="1275" b="0">
                <a:solidFill>
                  <a:srgbClr val="151A1E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51A1E"/>
                </a:solidFill>
                <a:latin typeface="Menlo"/>
                <a:ea typeface="Menlo"/>
                <a:cs typeface="Menlo"/>
              </a:rPr>
              <a:t>+ ACUT boundary + validation rules</a:t>
            </a:r>
          </a:p>
        </p:txBody>
      </p:sp>
    </p:spTree>
    <p:extLst>
      <p:ext uri="{BB962C8B-B14F-4D97-AF65-F5344CB8AC3E}">
        <p14:creationId xmlns:p14="http://schemas.microsoft.com/office/powerpoint/2010/main" val="104697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17F7A0-B3D8-495C-A2F3-6A94119A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A9714-815F-418A-81B5-0F6B1267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1E6E2-34C0-4E4B-A49A-0EF3A4F5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618C9-4415-4C9E-92FC-237CA651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团队缺少对未来仓库工作的直接估计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F6DA6-29DE-4B93-AE13-2C13049F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通用分数和目标仓库未来工作之间仍有预测缺口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2E08B-B211-4235-B6DB-B947C2FA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A8BDC-9896-4D04-9B22-A4592314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1240F-A928-4015-A2DC-7A7E64D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问题不是通用 benchmark 无用，而是它们不直接给出仓库级未来估计。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D48F2-775A-45CB-8237-4E01372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团队部署 agent 时需要知道：一个给定 ACUT 在某个目标仓库未来真实工作中的表现会怎样？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58FAC-3F29-47F8-8EF0-5E3FD0D1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8FF46-1F14-4B58-AAB4-C366A633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1714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D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BAEE3-5688-4821-B512-8C671F7B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5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59AC5-BE02-4F54-883A-99AADA82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通用 benchmark</a:t>
            </a:r>
          </a:p>
          <a:p xmlns:a="http://schemas.openxmlformats.org/drawingml/2006/main">
            <a:pPr algn="ctr">
              <a:defRPr sz="1350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或大规模任务池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AE617-37AB-4AEC-9E77-C48BB41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9900"/>
            <a:ext cx="1352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33A2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A33A2F"/>
                </a:solidFill>
                <a:latin typeface="PingFang SC"/>
                <a:ea typeface="PingFang SC"/>
                <a:cs typeface="PingFang SC"/>
              </a:rPr>
              <a:t>target-repo</a:t>
            </a:r>
          </a:p>
          <a:p xmlns:a="http://schemas.openxmlformats.org/drawingml/2006/main">
            <a:pPr algn="ctr">
              <a:defRPr sz="1425" b="1">
                <a:solidFill>
                  <a:srgbClr val="A33A2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A33A2F"/>
                </a:solidFill>
                <a:latin typeface="PingFang SC"/>
                <a:ea typeface="PingFang SC"/>
                <a:cs typeface="PingFang SC"/>
              </a:rPr>
              <a:t>prediction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91BDD-CBB2-4E13-908E-E2EE46C2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14650"/>
            <a:ext cx="1676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4B7F35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4B7F35"/>
                </a:solidFill>
                <a:latin typeface="PingFang SC"/>
                <a:ea typeface="PingFang SC"/>
                <a:cs typeface="PingFang SC"/>
              </a:rPr>
              <a:t>本仓库未来工作</a:t>
            </a:r>
          </a:p>
          <a:p xmlns:a="http://schemas.openxmlformats.org/drawingml/2006/main">
            <a:pPr algn="ctr">
              <a:defRPr sz="1238" b="1">
                <a:solidFill>
                  <a:srgbClr val="4B7F35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4B7F35"/>
                </a:solidFill>
                <a:latin typeface="PingFang SC"/>
                <a:ea typeface="PingFang SC"/>
                <a:cs typeface="PingFang SC"/>
              </a:rPr>
              <a:t>issue、API、测试、依赖、评审规范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EBF41-C895-4F17-B337-FE49F647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8240F-2FD7-4DE5-9412-B8AD684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52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3C77D-62B6-49C8-89C6-BFADE46A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766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D4BE2-E925-476B-99BF-F96E4294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52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2A4DC-F76A-474E-B8B9-79384B6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3314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BD908-6D5E-4D2A-9F0B-B352A106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529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缺口：可审计 ≠ 对本仓库未来工作有预测力</a:t>
            </a:r>
          </a:p>
        </p:txBody>
      </p:sp>
    </p:spTree>
    <p:extLst>
      <p:ext uri="{BB962C8B-B14F-4D97-AF65-F5344CB8AC3E}">
        <p14:creationId xmlns:p14="http://schemas.microsoft.com/office/powerpoint/2010/main" val="11293872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CA97C-468F-4E5A-9F28-6E5033E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B8505-A686-4CD6-A517-A5E65C66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87667-34B2-46FD-834F-2B406BC2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代价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E13B3-E069-40E8-86D0-78970D33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这个缺口会影响部署、调优和治理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9D39E-BF8D-4893-9349-DE17E51C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证据如果不贴近目标仓库，决策就可能偏离真实工作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29CE8-7F05-4F9E-AC39-D1331B63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8B46E-B1E5-4601-9A9D-B26460B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31766-D06F-470B-800E-85EC5483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目标仓库证据要同时服务评测、调优和 deployment governance。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26823-5543-4EB4-9DA7-3FDE6622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总体可审计但仓库相关性不足的证据，可能让团队选错配置、误读调优收益，或缺少部署治理依据。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3E30F-999E-4B3B-A9A7-2CB1D62D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0478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B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7AEE8-8281-4614-9C11-B58C60FB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047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69421-6F9F-4EC4-900A-C1AEB2C9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部署选择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9BAF5-300D-4B31-B679-7BC347CF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051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通用能力强，但在本仓库 API、测试或依赖约束下失效。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ECF82-190C-4783-BFA6-CA988809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43150"/>
            <a:ext cx="20478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B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3B414-5A36-4724-8F8D-A7A6E8D8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43150"/>
            <a:ext cx="2047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CEB7A-D7AB-4C74-A35F-3700580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289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配置调优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E319F-BA23-432B-947B-6A0CF852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051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dev set 收益被误读成未来仓库工作改善。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E094E-4A47-43FE-97E8-803BDCA5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43150"/>
            <a:ext cx="20478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E8377-E7BE-4EE7-94B0-2FF5DE65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43150"/>
            <a:ext cx="2047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1097C-1BC0-4AD6-896E-21125246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治理判断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4E6E6-1363-4473-94E0-B96DB00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051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缺少 source quality、adapter、成本、延迟和不确定性说明。</a:t>
            </a:r>
          </a:p>
        </p:txBody>
      </p:sp>
    </p:spTree>
    <p:extLst>
      <p:ext uri="{BB962C8B-B14F-4D97-AF65-F5344CB8AC3E}">
        <p14:creationId xmlns:p14="http://schemas.microsoft.com/office/powerpoint/2010/main" val="16339702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D1448-0686-40C0-961D-7B76F470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B2702-1E24-4970-8F34-7B406DB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48C1A-70D7-4E15-A51F-1B09B030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相关工作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F2678-8E57-4DF3-88F3-1AA4E3B2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相关工作已经覆盖任务、质量、鲜度、规模和环境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D58D9-42CA-47FB-A02D-C98E3C6D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Barcarolle 的问题位于这些贡献之后的 release compilation 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6FBEA-41CB-463D-B480-11F6F17A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EA0F0-58EA-45B7-8A17-820C060A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97CF5-9EB9-44F3-88B8-DB4F83F6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相邻系统提供 supply、quality、freshness、scale、environment；Barcarolle 编译 release。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1B7ED-B340-4A9E-ABB4-A5375B67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SWE-bench、Verified、Live、SWE-smith 和 R2E-Gym 都提供关键相邻层；Barcarolle 研究如何把输入编译成目标仓库未来证据。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61CD6-0D7B-458A-8F57-D1AFE276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相邻方向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8E343-580A-4AF2-A070-18E47DA9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贡献层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3355D-E55E-4D24-929D-0AFCB3F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764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Barcarolle 仍要回答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E8479-7655-461B-A20C-686E8540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168F8-224D-4D5B-A188-B5DCAA5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SWE-bench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E2176-7BD6-43D7-B809-6079A00F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DDEEB-89B1-4A00-956E-4FE1081D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真实 issue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2D273-8862-42B1-911E-AA4B259E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哪些任务进入目标仓库 release？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A8207-8522-469B-AB7C-9FD489E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CE09D-1587-4BD9-B67D-39D39C1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Verified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9731D-5744-4DAB-A7D2-292F889F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7F716-1059-438C-AB71-E81DB27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质量验证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640B7-A5B8-45BB-AEE2-862826BA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28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质量 gate 如何进入 release 规则？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76CD8-BC1A-4873-8A4F-7031727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A455F-729D-458A-8660-7403AC09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29AAC-0698-4C44-B34C-68120689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BEF1D-365F-40BB-9243-4291B875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任务鲜度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8A73A-B060-49A8-A9B9-804A9ECF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fresh supply 如何冻结后验证？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2AEF6C-A9C7-4E31-9DAB-B1A8B71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A97F6-16BB-4BAC-9ED8-28EED415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SWE-smith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33D9E3-023A-40BD-9983-738F143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8ACAA4-BABC-488B-AE66-713A1E57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生成规模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BD5463-8376-4340-B80F-E1AB69B1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生成任务如何认证和选择？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63936-3141-4E30-84CB-1943AF7C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7F6092-EA22-44CC-A27F-09354E54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R2E-Gym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F645BB-126F-4AFD-AE16-29CC043A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270E9-C400-4F87-8E40-2D75CC09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291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可执行环境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E1FDD-9472-4E75-9FD7-9A8C0084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环境如何服务 release 证据？</a:t>
            </a:r>
          </a:p>
        </p:txBody>
      </p:sp>
    </p:spTree>
    <p:extLst>
      <p:ext uri="{BB962C8B-B14F-4D97-AF65-F5344CB8AC3E}">
        <p14:creationId xmlns:p14="http://schemas.microsoft.com/office/powerpoint/2010/main" val="6190748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A19DC-B881-41EF-9662-CAD611E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1A094-8963-4019-B89D-C024C67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77710-A1D0-43B0-96BF-762BDF37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项目位置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4DDB8-6807-461E-AB8B-4727F040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Barcarolle 位于 target-repo release compilation 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21303-6E9C-4C67-830B-10BB571A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任务供应越强，越需要编译器决定 selection、split、weighting 和验证边界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368A2-E238-4927-B5AE-67AA63A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E57E7-CAC5-41F1-9B47-CA412689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7E2AE-AE19-4F14-85A9-7A5640C6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Barcarolle 不把任务生成量本身作为研究贡献。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DA738-8A22-48BD-A1EB-052FFB00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Barcarolle 把候选任务、认证、目标工作画像和 assembly rule 组织成 versioned benchmark release。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24350-4E9A-486D-8A6B-0A422489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238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A34F4-0C8B-427F-A3E3-46C8B3D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Candidate supply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531D2-0619-4557-B502-193AF2F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24200"/>
            <a:ext cx="1009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repo history / public context / generated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43144-5125-45CB-95A2-FDEB7B30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55156"/>
            <a:ext cx="9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4E601-4E53-4110-BFCB-9C6FA8C6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238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3EADD-F00B-4209-8C8A-78771E2A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Certification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01201-0BF9-4C44-B00C-05CC0454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1009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oracle、leakage、source quality、environment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B4CA0-EC55-4BB1-BB6F-B2431357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55156"/>
            <a:ext cx="9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16279-1838-4984-AB52-7E496F6A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38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840A6-ED3F-4612-87FF-AE3B719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Assembly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48FC2-0853-4B56-A916-7F967F4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1009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selection、split、weight 或 unweighted、fallback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CCFC7-E953-489B-B7DD-2FE807E1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55156"/>
            <a:ext cx="9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3BF78-3C33-43DA-8550-032B3E4E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238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5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EDF1A-E97C-4A16-9BF7-E8DAB746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Frozen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CF0F5-F8E2-477D-92D2-7E1A1B5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009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manifest、ACUT boundary、artifact hygiene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84437-E8D2-4877-9D38-E0957BF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55156"/>
            <a:ext cx="9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7D24E-48D9-43B8-809C-30F39458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81250"/>
            <a:ext cx="1238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57614-E790-4471-96F7-38B9029F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71750"/>
            <a:ext cx="1009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Future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A3D49-8EA8-4A45-9A78-D1F95097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24200"/>
            <a:ext cx="1009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baseline envelope、outcome-unseen score join</a:t>
            </a:r>
          </a:p>
        </p:txBody>
      </p:sp>
    </p:spTree>
    <p:extLst>
      <p:ext uri="{BB962C8B-B14F-4D97-AF65-F5344CB8AC3E}">
        <p14:creationId xmlns:p14="http://schemas.microsoft.com/office/powerpoint/2010/main" val="14946668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50F1B-9E12-44EF-9072-CA948A0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46FFD-286C-418F-92BD-002002B9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57CD6-3C4E-4B47-B80D-20548FC3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68325-89F4-4E56-A7B7-98D1DE4F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北极星是 outcome-unseen 预测效度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8A1E1-15DB-4B24-8F52-48A7D491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冻结 release 要比简单替代方案更好地估计未来仓库表现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454FA-66FE-4CED-AC85-C531FEA2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EF11B-D173-4EE8-9530-89FA7025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9466C-E410-4BAE-8710-1FB18A04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MAE 越低，benchmark estimate 越接近 observed future-work performance。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C41B0-E8E7-416C-994F-94C04E1D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长期目标是测试 Barcarolle-compiled release 能否比 naive same-repo sampling、generic scores 或 simple baselines 更好地预测 future target-repo ACUT success。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CCCCD-1C67-4E1A-A32F-BD0BF4AE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FAC2A-E97D-4BE5-9923-7F46B41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0325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W_r(a) = E[success(a, future target-repo work)]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A9170-1212-477A-B7EE-CA84FB0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52875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5DFD5-A327-49F2-A590-333209E8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290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pre-outcome freeze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33C87-C808-4A17-9AA5-8532854D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9560"/>
            <a:ext cx="152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036AC-8F2B-487C-A6EE-956C226C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52875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33BB1-DA79-404E-9057-1A82E290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290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named ACUT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4C819-1F30-4614-ACEA-7934E1CE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99560"/>
            <a:ext cx="152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05A10-C531-40A8-B401-6FFB9B03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52875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D3DFF-540A-4B84-950C-4DCA73E4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290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future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EFFE5-DF22-46AA-88D5-C7ACF730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9560"/>
            <a:ext cx="152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5FC63-DD73-4F98-9D5B-80E032A5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52875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EBE90-F572-40F8-9983-C679E81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290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baseline envelope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B4D2F-2F93-49CB-BA5F-99C5C2F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99560"/>
            <a:ext cx="152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7D540-0D35-4494-AFDB-1E129D8D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952875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684150-655F-4E36-8A87-46320325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0290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scoped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99CD8-2FCC-4957-BB2A-B05F97ED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96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正式声明只属于 frozen scope；retrospective replay 用于路线发现和 debug。</a:t>
            </a:r>
          </a:p>
        </p:txBody>
      </p:sp>
    </p:spTree>
    <p:extLst>
      <p:ext uri="{BB962C8B-B14F-4D97-AF65-F5344CB8AC3E}">
        <p14:creationId xmlns:p14="http://schemas.microsoft.com/office/powerpoint/2010/main" val="5674034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1497C-A408-4051-8C29-AE29A95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1A521-8D6C-4C60-ACFC-5B8AEBB8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46138-D904-4ECA-ABDE-441EC81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06893-DE46-49B3-A600-53600426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方法是把候选任务编译成可审计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4C074-DCDF-4A1B-ACE4-C4A9F825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从 supply 到 validation 的每一层都影响未来估计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0F8ED-9FB3-4909-A987-89EAB06B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42421-B5F2-4C7E-B7C8-765FFC27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FF103-A513-4701-A359-CA595637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认证维度包括 replayability、oracle、leakage、source quality、environment 和 ambiguity。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0959C-3FB7-4A1D-B9EA-DA3836C6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Barcarolle 的输出不是原始任务列表，而是带有 source、oracle、split、fallback、ACUT 边界和验证规则的 release。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35DC3-0037-4BE2-9CED-709B7EE0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05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E76B1-555D-49C4-BF14-57F467CF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669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236CB-FF80-4D9C-B17F-F8AA388D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19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候选供应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80C90-E6AF-48ED-B2BE-FEB2F13B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repo history / public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6083D-BAA5-4439-A840-FDF37841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76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77881-BD84-41B9-A3C7-B325BD40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384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EAA6C-4DE2-49DA-A7D9-4B804FD9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任务认证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E2141-4C93-4CCE-BF07-DE2182C1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replayability / oracle / leakage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854DE-3FC0-46EC-920D-BD1F372B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48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AFCE1-2CC1-4E6E-BFCA-12C90C93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4099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54A5E-C172-48F8-BF00-2E4CD027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62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目标画像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EB326-1623-4459-899C-14CF1208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623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strata / support / uncertainty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CEB5E-3DBB-47B4-903C-CC2C8E6C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6E562-DD93-444E-B967-2A1806EC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814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5DFED-A6CC-430E-9CC4-2FE24203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33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组装规则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C838A-46BB-420F-9828-0E59963E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selection / split / 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A8BB6-78EF-4FA0-BDB7-F9A470C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23E02-27B2-4326-B08A-8633089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529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BF588-27E4-4560-B254-B2FA7D62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05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冻结 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F0BDD-2895-4D78-8910-0DEF3F8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manifest / task set / ACUT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C2BBE6-AD04-4290-97BC-B4CDB62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962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284762-1B31-449F-9133-ED4C39B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76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score / refresh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08EEB-5335-4066-B56D-8CFDD62E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MAE / baseline / future validation</a:t>
            </a:r>
          </a:p>
        </p:txBody>
      </p:sp>
    </p:spTree>
    <p:extLst>
      <p:ext uri="{BB962C8B-B14F-4D97-AF65-F5344CB8AC3E}">
        <p14:creationId xmlns:p14="http://schemas.microsoft.com/office/powerpoint/2010/main" val="9331836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EA69BD-60B1-4FEE-BEA9-18BB08F2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09A41-99EE-4462-A0A5-5FDDD070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24ACB-7C72-4DC9-8B99-782BCCF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执行边界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C272E-6EAB-43A8-BCD0-B0ABBFCB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ACUT 边界让 benchmark 不变成 agent 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5BD29-CB3F-41AD-9E1E-4D1E16D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solver workspace 和 verifier workspace 分离，hidden oracle 只在验证侧出现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CFBF6-523D-4BDD-99CD-AA9E9227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08A39-C7B9-4EFD-88E7-B405399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6A6F0-0222-4DD1-96A7-536631EB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Adapter 差异按 named ACUT configuration 报告，而不是写成 model-only 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4FDAB-7EF6-4EDA-8B0B-29BA3A07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Barcarolle 给出 solver-visible task statement 和允许上下文，捕获 ACUT diff，再在独立 verifier workspace replay。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063B1-2B55-4A6B-9D23-3F83BD60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476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305A3-4A46-4340-A9E6-F082865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A81A1-62DD-4E1A-8A71-AB005DE1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21907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1E677-DCDB-4DBA-9791-9A11780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Solver 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7FE58-3F9E-4FBE-B740-431F7F73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allowed context</a:t>
            </a:r>
          </a:p>
          <a:p xmlns:a="http://schemas.openxmlformats.org/drawingml/2006/main">
            <a:pPr algn="l">
              <a:def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ACUT harness owns search / edit /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8E97B-EAF1-4076-904E-AD794E85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captured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694A2-0232-4FD1-A37B-443F29D5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final workspace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109FC-E370-485A-99AE-3853849A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289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Verifier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9CE01-BA2B-45D7-BBCA-D1A51425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05150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hidden oracle injection</a:t>
            </a:r>
          </a:p>
          <a:p xmlns:a="http://schemas.openxmlformats.org/drawingml/2006/main">
            <a:pPr algn="l">
              <a:def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score / cost / latency /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21FA9-F726-4951-8EF0-E520E95C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63278"/>
            <a:ext cx="3238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81C5E-0FB7-4119-9E8C-5AA7D25A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63278"/>
            <a:ext cx="2857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5347A-A885-4588-AB20-6DF19B2B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38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4491069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7F91F-2A3D-4453-8B70-49664386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B532C-DCAB-4943-890B-1ACC09F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1201E-536A-49AB-8A1F-21B7498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算法问题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99B0C-4187-4570-B4EF-A84F1E69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Benchmark 选择不是随机抽题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D700B-8906-420B-BD64-0701A950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朴素 weighted 构造失败，说明 selection 和 support 是核心问题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60B5E-A301-4D97-98D8-8681D4D5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DA1C1-E826-4237-8A52-1667B636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1738D-E4D8-4240-A3BE-789871E8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后续 selector 必须显式处理 support、fallback 和 baseline comparison。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0E1EE-D177-4E09-AD2E-64DB52E8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旧 weighted target-profile design 在 sparse support 下失效；这说明构造规则会显著改变 repo-specific estimate。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8FEFC-C445-43CF-B91D-5DFB921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05050"/>
            <a:ext cx="2667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D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00866-34F9-432C-9853-510BD453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52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3A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33A2F"/>
                </a:solidFill>
                <a:latin typeface="PingFang SC"/>
                <a:ea typeface="PingFang SC"/>
                <a:cs typeface="PingFang SC"/>
              </a:rPr>
              <a:t>attrs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96729-6ED2-4DA3-ABE8-840C6607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9146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A1E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151A1E"/>
                </a:solidFill>
                <a:latin typeface="Menlo"/>
                <a:ea typeface="Menlo"/>
                <a:cs typeface="Menlo"/>
              </a:rPr>
              <a:t>0.3148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B3BF7-E964-47DD-83C5-31891EE6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467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baseline 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6E1BB-4886-4AC0-AF7A-48A9A334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667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91598-EC7E-4A18-ABCE-828F09A2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52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boltons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D7ACE-5B67-4638-9F24-10C038C0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146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A1E"/>
                </a:solidFill>
                <a:latin typeface="Menlo"/>
                <a:ea typeface="Menlo"/>
                <a:cs typeface="Menlo"/>
              </a:defRPr>
            </a:pPr>
            <a:r>
              <a:rPr sz="3000" b="1">
                <a:solidFill>
                  <a:srgbClr val="151A1E"/>
                </a:solidFill>
                <a:latin typeface="Menlo"/>
                <a:ea typeface="Menlo"/>
                <a:cs typeface="Menlo"/>
              </a:rPr>
              <a:t>0.7481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BE57E-82E4-4B2C-8ED3-B3351ADC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67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baseline 0.125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052BC-B85D-4AB7-BC53-DB089668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010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负面诊断：不是成功 compiler 结果，而是 selection problem 的证据。</a:t>
            </a:r>
          </a:p>
        </p:txBody>
      </p:sp>
    </p:spTree>
    <p:extLst>
      <p:ext uri="{BB962C8B-B14F-4D97-AF65-F5344CB8AC3E}">
        <p14:creationId xmlns:p14="http://schemas.microsoft.com/office/powerpoint/2010/main" val="13520647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C8D104-B20E-471D-9F3D-65C1A50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761E3-AF57-436B-8498-7DF2214B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2C386-BDF6-4D9E-91E1-C3C009A5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算法环境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4D0AF-392D-4C4D-B75F-8048C6A4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算法演进环境已经成形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E30B0-88CB-41EC-87FF-16B5757B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selection policy 可以用 baseline、random control 和 slice diagnostics 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73DD5-7B35-4C8B-8DCC-2EEF451B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6244-6CEF-4C05-AA01-7C04D808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775FB-1589-4DA8-BF0C-0D388EC4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当前 candidate 是 coverage-constrained unweighted with labeled fallback，仍是研究候选。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A6C43-DBD8-4530-906D-025C4D31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当前环境能比较 selector、temporal/repo baselines、many-seed random envelope、adapter/repo/window diagnostics 和 fallback accounting。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867E5-20FD-4433-B43A-4F0A4638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0932D-5AF9-401B-AB7B-BD5E9E20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Candidate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5CC60-7577-4BC2-972C-9AD5BFF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source、strata、support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FCF20-DF65-443F-9C1A-4FA42C1C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38083-F70C-4076-903E-A4E6ED4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Selection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D142F-82B3-45F1-9A51-EBC83F12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43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coverage-constrained、temporal、blocked、shrinkage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FFD09-5E4C-4123-B7F7-F648667B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EAC40-DB67-46A8-A755-29E8959A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86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Baselines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4298A-C416-4965-B0B9-86EFE5B7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48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recent、repo-unweighted、repo-stratified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4BE30-588B-461D-BB39-5B2674B9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15A1AC-19C9-4465-BE4B-46D56BFD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Diagnostics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5A9CC-A8ED-4891-A7AB-A4FA339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48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adapter、repo、window、fallback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34CF96-6211-4CC5-893F-34D0070D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55106"/>
            <a:ext cx="495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BD326-8550-439B-965C-E3659A66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0D017-737F-440D-8B0D-B02201CF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731" y="3333750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10E3A-4115-4D32-83EB-2E5B567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05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79FC2-C85E-4E07-A269-6E18D21C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731" y="3333750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4893C-D1DC-4EAC-8EF1-477F57E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905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94ECF-5ECC-4BF6-9C95-3DE815FA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0106"/>
            <a:ext cx="495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B4FE7-FD78-4EB4-B0E4-10427B29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33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5557763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44A01-F35B-401A-9CC7-0DA362E2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09D95-FCA9-4B28-A780-8869751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DE6EE-34B7-4CBA-A1C4-2EF89394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当前效果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33471-F432-417E-B0B6-EA0C581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当前效果支持继续优化，但还不支持最终有效性声明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62992-CD0A-4154-950A-0E7945E9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问题真实、执行可行、selection 有初步信号；edge 仍然很小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075D0-9B91-494C-822D-2517E57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57B43-C971-4C06-B71F-7F964F50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FE087-CC22-40D2-93FE-9E37FD29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这些是 traction evidence，不是 predictive-validity result。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4A965-D2D4-4816-B1CD-E750DFD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探索性结果支持继续优化 benchmark compiler，但还不能承载正式未来预测结论。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81DC1-9DA6-41CB-A3B1-73F5E54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09800"/>
            <a:ext cx="2971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B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97F70-F5FD-4052-BFD7-283F7488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098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89F6C-60BC-48EA-82C0-90EDA314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81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执行可行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13C08-A946-489B-A697-D3AA79E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051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120/120 cells</a:t>
            </a:r>
          </a:p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0F766E"/>
                </a:solidFill>
                <a:latin typeface="Menlo"/>
                <a:ea typeface="Menlo"/>
                <a:cs typeface="Menlo"/>
              </a:rPr>
              <a:t>scoreability 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53573-6E6B-4EE3-B0E2-BDC053F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09800"/>
            <a:ext cx="2971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B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B3C88-A8BD-46EB-967F-676F148D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098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8E1F9-9A88-47A0-8C82-E6FCC9AA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81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source repair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1FE56-12CC-422F-9E07-9379C63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051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5C99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255C99"/>
                </a:solidFill>
                <a:latin typeface="Menlo"/>
                <a:ea typeface="Menlo"/>
                <a:cs typeface="Menlo"/>
              </a:rPr>
              <a:t>click 30/30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A77E0-CDD0-4236-B990-EECA5958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2971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B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F595E-A802-4AF1-BEE9-AADF316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F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8E26F-B0D3-4FF5-A041-1A1F1AAF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981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MAE traction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CA68C-7822-4CA9-B342-59D0186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053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F06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B45F06"/>
                </a:solidFill>
                <a:latin typeface="Menlo"/>
                <a:ea typeface="Menlo"/>
                <a:cs typeface="Menlo"/>
              </a:rPr>
              <a:t>0.209 vs 0.2149</a:t>
            </a:r>
          </a:p>
          <a:p xmlns:a="http://schemas.openxmlformats.org/drawingml/2006/main">
            <a:pPr algn="l">
              <a:defRPr sz="1650" b="1">
                <a:solidFill>
                  <a:srgbClr val="B45F06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B45F06"/>
                </a:solidFill>
                <a:latin typeface="Menlo"/>
                <a:ea typeface="Menlo"/>
                <a:cs typeface="Menlo"/>
              </a:rPr>
              <a:t>edge 0.0059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7A5DF-6B57-4303-96A9-9A9FC35D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2971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B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AA6F6-3DA2-42BE-9129-64DA261C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7F9E6-59D7-464C-88B5-3C506A98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81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random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A7744-40BB-47EB-84FF-EDA20431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053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B7F35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4B7F35"/>
                </a:solidFill>
                <a:latin typeface="Menlo"/>
                <a:ea typeface="Menlo"/>
                <a:cs typeface="Menlo"/>
              </a:rPr>
              <a:t>beats/ties 93.4%</a:t>
            </a:r>
          </a:p>
          <a:p xmlns:a="http://schemas.openxmlformats.org/drawingml/2006/main">
            <a:pPr algn="l">
              <a:defRPr sz="1650" b="1">
                <a:solidFill>
                  <a:srgbClr val="4B7F35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4B7F35"/>
                </a:solidFill>
                <a:latin typeface="Menlo"/>
                <a:ea typeface="Menlo"/>
                <a:cs typeface="Menlo"/>
              </a:rPr>
              <a:t>of 1000 selections</a:t>
            </a:r>
          </a:p>
        </p:txBody>
      </p:sp>
    </p:spTree>
    <p:extLst>
      <p:ext uri="{BB962C8B-B14F-4D97-AF65-F5344CB8AC3E}">
        <p14:creationId xmlns:p14="http://schemas.microsoft.com/office/powerpoint/2010/main" val="8534401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90F49-F241-42BF-B27F-139BF7C8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E3871-1CCC-4824-B132-C7D94F06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0B496-AD81-4331-80AD-4B6418D5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限制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DA135-323C-43F0-9EC1-594E7DAA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尚未证明的部分决定下一步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3EA34-F2FC-4260-91B1-7EAE99F6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fallback、adapter 和 support weakness 必须前置处理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C9D73-6926-4EA4-BDAF-3E4FEE5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8D1D1-54C5-4DBF-97E5-801E7253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F085A-9142-4250-9D92-E602D8C2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Pooled summary 不能掩盖 named-configuration failure。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E165D-1A6D-4FEE-8837-5BD59DC8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预测效度尚未建立；tuning-loop improvement 也尚未实证。当前弱点应转化为下一阶段的 repair 和 validation gates。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342B0-376D-4F0A-93BF-6474B545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526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7D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04CB8-3820-4A3B-AC60-C948DEA6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3A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33A2F"/>
                </a:solidFill>
                <a:latin typeface="PingFang SC"/>
                <a:ea typeface="PingFang SC"/>
                <a:cs typeface="PingFang SC"/>
              </a:rPr>
              <a:t>Fallback composite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6D73B-EF5D-40F5-B43D-96002C3B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6/18 selected slots；boltons 6/6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D264D-C37B-4584-ABCC-B4672823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0505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修复 feature support 或缩小声明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A8D88-9B6D-427C-9341-B40E4D97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FD4CD-917C-443A-876F-1A6A0870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Adapter fragility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1A826-7942-443E-9DA7-2B6A1655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Codex / Kilo 分开报告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04040-10E9-4047-8077-3C005887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0995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named ACUT configuration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1A6FF-640A-4C01-9CE5-85EDED3C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A2F84-CE14-478F-9029-487CA9C8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Small MAE 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FEC40-1A8C-43B3-815E-AB78FDA7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2047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0.0059 aggregate edge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3C405-8842-4D7B-B740-B4154F2B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1485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要求 practical margin 和 slice stability</a:t>
            </a:r>
          </a:p>
        </p:txBody>
      </p:sp>
    </p:spTree>
    <p:extLst>
      <p:ext uri="{BB962C8B-B14F-4D97-AF65-F5344CB8AC3E}">
        <p14:creationId xmlns:p14="http://schemas.microsoft.com/office/powerpoint/2010/main" val="13903192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906959-1C3F-490A-AA1A-ADD91349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41DFF-1CD8-4301-95EB-318E70A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32E1F-752D-4352-9626-9E7BC2F6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研究路线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B38BF-1F37-4AC4-AD01-9A30F0F8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后续研究走向冻结 release 和未来验证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88425-E8E4-4FE0-BED1-6BFEDAAA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outcome-unseen evidence 才能支撑更强声明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CDC24-14E1-4DB1-96D0-34E3404C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24652-82ED-484F-95FF-40FB2F4E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4BE01-73C6-4483-9275-93555136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Retrospective replay 用于 route-finding 和 debugging；未来声明需要冻结条件。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576D5-4F0D-463E-8825-C9518BF1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下一阶段应冻结 release、selection rule、baseline suite、invalid handling 和 success criteria，再进行 true future holdout 或 preregistered rolling-origin validation。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C2DFB-5FCF-47E0-9B68-69BF9A7A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BF340-5B8A-4C7E-927A-E66F813C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Freeze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79975-BF93-4587-9878-03483F6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task IDs / split /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B08EE-4D41-46A6-BFEE-2EEEB2CC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84684"/>
            <a:ext cx="952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09294-4968-4DA0-B1FB-28940B6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7E68C-5A98-41E9-91FE-0066B1E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Run named ACUTs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7D5BA-8647-48E8-89C9-FD34820D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endpoint and adapter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C33B4-40E8-4A1E-A3AB-3DBF925B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84684"/>
            <a:ext cx="952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5C84E-46E6-4C67-8EE3-3777A5B1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275E1-0664-4257-A5BE-592D30D8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Join future outcomes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6F4D7-A713-434A-9BE4-B7C5F127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outcome-unseen score join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2C38C-29D8-4E4E-9332-02397E0F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84684"/>
            <a:ext cx="952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EA662-2F39-45B4-A4C2-E450390B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5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1225A-BB65-4B78-830C-825CF090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Compare baseline envelope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25B43-6695-4751-9FBD-B6A2462D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04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temporal / repo / random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291C3-2D47-4DFC-B4D0-724BB6B9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184684"/>
            <a:ext cx="952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5E24C-C8C9-4A22-99C7-2D801442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81250"/>
            <a:ext cx="123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44D8F-778E-4FD9-94C3-A7B9925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717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State scoped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CF723-E2BB-4A7A-8922-53534CF3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004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margin / support / invalid cells</a:t>
            </a:r>
          </a:p>
        </p:txBody>
      </p:sp>
    </p:spTree>
    <p:extLst>
      <p:ext uri="{BB962C8B-B14F-4D97-AF65-F5344CB8AC3E}">
        <p14:creationId xmlns:p14="http://schemas.microsoft.com/office/powerpoint/2010/main" val="14894938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164C2A-83B8-483A-A558-0BBEFB6B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EF13F-93D6-4B4A-9FFD-FC66C2FA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036C9-3A7C-492F-A442-D72B4393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产品化方向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73365-6969-435D-9644-0564111F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Agent License 需要仓库级证据层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1A801-7BDA-4107-BC95-3A7275DC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Barcarolle 可以支持 deployment governance，但不负责发放授权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0D039-8324-44D4-8583-658D0DCD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98E8B-9DF4-4480-8964-89E2EA1C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42072-BFBB-4327-8CFB-B8EF33D4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证据层服务治理判断；Barcarolle 本身不是 license 产品。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51D01-B700-42EB-B8C3-9985F10B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Barcarolle 可以成为 license / deployment governance 的 evidence layer，帮助判断某个 ACUT 在某仓库、任务类别或风险等级下是否有足够证据支持使用。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517EB-919D-4227-B6C4-F1924DD4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288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仓库 / 任务类别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9CDD4-46E8-41FC-99B8-B8855A30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336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F8755-B5FE-4353-9174-0D72B376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574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source quality +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BF9C6-5E05-446C-8486-CAB0CE21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52675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213D7-BE5A-4033-AAFF-B4C02DD3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风险等级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84461-58A7-452C-8C50-2D8A945B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E25B4-4FAD-42C9-AD8E-FCC3F66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3847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uncertainty + failure taxonomy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222DD-A202-46DD-9382-6628E11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33725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16B23-597D-480B-A751-6A0E7354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ACUT 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E4406-48D4-4CC0-A757-EE545D17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DF5F0-532C-4251-B459-F28A36D5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19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adapter-stratified scorecard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524FD-C06A-42A9-AE9E-D6741EE9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14775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5D5F9-7180-478B-8306-EBC1C3EA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使用判断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6373D5-C829-4B5E-B092-2206F347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2E1EE-C6D4-4900-99AD-72F8FEA0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0057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evidence status + scoped limits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02692-64BF-4B3E-9B4D-B9F8D0F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95825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D13A1-DB4A-4CB3-A9E1-F757F598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724150"/>
            <a:ext cx="1143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2C3727-93D4-4C4F-87D6-B787017F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3028950"/>
            <a:ext cx="838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scoped</a:t>
            </a:r>
          </a:p>
          <a:p xmlns:a="http://schemas.openxmlformats.org/drawingml/2006/main">
            <a:pPr algn="ctr">
              <a:defRPr sz="1350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use</a:t>
            </a:r>
          </a:p>
          <a:p xmlns:a="http://schemas.openxmlformats.org/drawingml/2006/main">
            <a:pPr algn="ctr">
              <a:defRPr sz="1350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454267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62F59-CCBA-47FF-A0F2-BBC8569D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8719B-F240-4632-9E57-02E2ED85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6432F-352A-4D3F-A819-B4FCF1E4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产品化方向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9E47C-384D-4E9F-AF40-03AEE34C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51A1E"/>
                </a:solidFill>
                <a:latin typeface="PingFang SC"/>
                <a:ea typeface="PingFang SC"/>
                <a:cs typeface="PingFang SC"/>
              </a:rPr>
              <a:t>Agent Tuning 需要受保护的反馈回路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AA3F5-45CC-4CE8-A6BA-91BDDC7C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Barcarolle 提供 scorecard 和 regression signal，但不接管调优闭环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83D5A-541F-455E-A18A-A3042C7A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00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77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C6770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31017-CDFC-4D94-BCF2-D10A8B5A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009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CA185-9D8B-4715-AE3E-F5E97576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C6770"/>
                </a:solidFill>
                <a:latin typeface="PingFang SC"/>
                <a:ea typeface="PingFang SC"/>
                <a:cs typeface="PingFang SC"/>
              </a:rPr>
              <a:t>dev feedback 可以指导迭代；eval、canary 和 future validation material 必须受保护。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6A492-EBFD-4B4A-A7BE-2455FFBB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Barcarolle 可以提供 dev/eval/canary release、failure taxonomy、scorecard 和 regression signal，帮助比较 prompt、retrieval、skills、tool policy 和 runtime budget 的变化。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C816C-685A-497B-A3EA-4DCF9B4A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01DCC-D38D-4805-961F-65F266F4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4BCD8-F4EF-4C9B-AD0C-F0672028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AEAA6-C3B1-4ADA-8189-98E355CF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43E7A-07A8-42C3-9BCF-0029F4FB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479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2724D-DA37-4E65-8F62-55C54E28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241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5516E-3AF9-44B9-8676-B2B70F79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0F8C0-BEC7-4120-BEF0-6E70056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tool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67919-3F7B-402C-B36F-A37F6791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479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3448C-EE77-46E7-8F20-44D87471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241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runtime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F9945-1501-4FF7-B5EA-121F1F73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4E303-5CC9-4E35-8A3E-9ED638A1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290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dev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8C50C-5E96-4042-A0A6-F6440CE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3833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A49F1-87C9-43AE-ACDE-52F61B11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3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4E50B-A671-45D8-85C6-88B5198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5C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5C99"/>
                </a:solidFill>
                <a:latin typeface="PingFang SC"/>
                <a:ea typeface="PingFang SC"/>
                <a:cs typeface="PingFang SC"/>
              </a:rPr>
              <a:t>protected eval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BF1A5-BEC9-4883-B813-968EF49A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3833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F7CEB-8B39-4229-A2AA-35B6A99E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4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4E6AE1-87E5-4C85-B45F-4B841CA0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F0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45F06"/>
                </a:solidFill>
                <a:latin typeface="PingFang SC"/>
                <a:ea typeface="PingFang SC"/>
                <a:cs typeface="PingFang SC"/>
              </a:rPr>
              <a:t>canary release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BC021-3148-4D64-A4EF-3BD2AC7B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93833"/>
            <a:ext cx="2667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7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D1DA4-0471-4B08-81F2-0836F1A1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5"/>
          </a:solidFill>
          <a:ln xmlns:a="http://schemas.openxmlformats.org/drawingml/2006/main" w="1143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ED618-8898-4F57-966B-044A5190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29050"/>
            <a:ext cx="1162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B7F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B7F35"/>
                </a:solidFill>
                <a:latin typeface="PingFang SC"/>
                <a:ea typeface="PingFang SC"/>
                <a:cs typeface="PingFang SC"/>
              </a:rPr>
              <a:t>regression monitor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BB9CB-911A-408E-9D18-69AE86AC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731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formal evidence stays protected while dev feedback supports iteration</a:t>
            </a:r>
          </a:p>
        </p:txBody>
      </p:sp>
    </p:spTree>
    <p:extLst>
      <p:ext uri="{BB962C8B-B14F-4D97-AF65-F5344CB8AC3E}">
        <p14:creationId xmlns:p14="http://schemas.microsoft.com/office/powerpoint/2010/main" val="1682023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2026-06-02T02:17:53.9370000Z</dcterms:created>
  <dcterms:modified xsi:type="dcterms:W3CDTF">2026-06-02T02:17:53.9370000Z</dcterms:modified>
</coreProperties>
</file>