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182555ebd0482c" /><Relationship Type="http://schemas.openxmlformats.org/officeDocument/2006/relationships/extended-properties" Target="/docProps/app.xml" Id="R85aa9e6a398847e2" /><Relationship Type="http://schemas.openxmlformats.org/officeDocument/2006/relationships/officeDocument" Target="/ppt/presentation.xml" Id="Re93832f82b364f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e40fa1057e4865"/>
  </p:sldMasterIdLst>
  <p:notesMasterIdLst>
    <p:notesMasterId xmlns:r="http://schemas.openxmlformats.org/officeDocument/2006/relationships" r:id="R0c372e30cc854e9a"/>
  </p:notesMasterIdLst>
  <p:sldIdLst>
    <p:sldId xmlns:r="http://schemas.openxmlformats.org/officeDocument/2006/relationships" id="256" r:id="Rb99b022a2643497c"/>
    <p:sldId xmlns:r="http://schemas.openxmlformats.org/officeDocument/2006/relationships" id="257" r:id="R57168a46a506457f"/>
    <p:sldId xmlns:r="http://schemas.openxmlformats.org/officeDocument/2006/relationships" id="258" r:id="Rce57b09b79f448fa"/>
    <p:sldId xmlns:r="http://schemas.openxmlformats.org/officeDocument/2006/relationships" id="259" r:id="R0da9b279194c415f"/>
    <p:sldId xmlns:r="http://schemas.openxmlformats.org/officeDocument/2006/relationships" id="260" r:id="Rcd638d03002c443e"/>
    <p:sldId xmlns:r="http://schemas.openxmlformats.org/officeDocument/2006/relationships" id="261" r:id="Rb74c5714226245ee"/>
    <p:sldId xmlns:r="http://schemas.openxmlformats.org/officeDocument/2006/relationships" id="262" r:id="R5225c427d2e748f6"/>
    <p:sldId xmlns:r="http://schemas.openxmlformats.org/officeDocument/2006/relationships" id="263" r:id="R72aec8e1c1b14267"/>
    <p:sldId xmlns:r="http://schemas.openxmlformats.org/officeDocument/2006/relationships" id="264" r:id="R78d1c3d06b584aae"/>
    <p:sldId xmlns:r="http://schemas.openxmlformats.org/officeDocument/2006/relationships" id="265" r:id="R0bca977c07a941e9"/>
    <p:sldId xmlns:r="http://schemas.openxmlformats.org/officeDocument/2006/relationships" id="266" r:id="Red91afbdf81749b2"/>
    <p:sldId xmlns:r="http://schemas.openxmlformats.org/officeDocument/2006/relationships" id="267" r:id="Rb2884157acc54b58"/>
    <p:sldId xmlns:r="http://schemas.openxmlformats.org/officeDocument/2006/relationships" id="268" r:id="Rf1155a6c954b470d"/>
    <p:sldId xmlns:r="http://schemas.openxmlformats.org/officeDocument/2006/relationships" id="269" r:id="Rf283078514b54b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17c7e1f22b430d" /><Relationship Type="http://schemas.openxmlformats.org/officeDocument/2006/relationships/slideMaster" Target="/ppt/slideMasters/slideMaster1.xml" Id="R0ce40fa1057e4865" /><Relationship Type="http://schemas.openxmlformats.org/officeDocument/2006/relationships/notesMaster" Target="/ppt/notesMasters/notesMaster1.xml" Id="R0c372e30cc854e9a" /><Relationship Type="http://schemas.openxmlformats.org/officeDocument/2006/relationships/presProps" Target="/ppt/presProps.xml" Id="Rcd1c1b6cce8b4beb" /><Relationship Type="http://schemas.openxmlformats.org/officeDocument/2006/relationships/viewProps" Target="/ppt/viewProps.xml" Id="R76cd3ead32c844cd" /><Relationship Type="http://schemas.openxmlformats.org/officeDocument/2006/relationships/tableStyles" Target="/ppt/tableStyles.xml" Id="Re4566aacb5fe4979" /><Relationship Type="http://schemas.openxmlformats.org/officeDocument/2006/relationships/slide" Target="/ppt/slides/slide1.xml" Id="Rb99b022a2643497c" /><Relationship Type="http://schemas.openxmlformats.org/officeDocument/2006/relationships/slide" Target="/ppt/slides/slide2.xml" Id="R57168a46a506457f" /><Relationship Type="http://schemas.openxmlformats.org/officeDocument/2006/relationships/slide" Target="/ppt/slides/slide3.xml" Id="Rce57b09b79f448fa" /><Relationship Type="http://schemas.openxmlformats.org/officeDocument/2006/relationships/slide" Target="/ppt/slides/slide4.xml" Id="R0da9b279194c415f" /><Relationship Type="http://schemas.openxmlformats.org/officeDocument/2006/relationships/slide" Target="/ppt/slides/slide5.xml" Id="Rcd638d03002c443e" /><Relationship Type="http://schemas.openxmlformats.org/officeDocument/2006/relationships/slide" Target="/ppt/slides/slide6.xml" Id="Rb74c5714226245ee" /><Relationship Type="http://schemas.openxmlformats.org/officeDocument/2006/relationships/slide" Target="/ppt/slides/slide7.xml" Id="R5225c427d2e748f6" /><Relationship Type="http://schemas.openxmlformats.org/officeDocument/2006/relationships/slide" Target="/ppt/slides/slide8.xml" Id="R72aec8e1c1b14267" /><Relationship Type="http://schemas.openxmlformats.org/officeDocument/2006/relationships/slide" Target="/ppt/slides/slide9.xml" Id="R78d1c3d06b584aae" /><Relationship Type="http://schemas.openxmlformats.org/officeDocument/2006/relationships/slide" Target="/ppt/slides/slide10.xml" Id="R0bca977c07a941e9" /><Relationship Type="http://schemas.openxmlformats.org/officeDocument/2006/relationships/slide" Target="/ppt/slides/slide11.xml" Id="Red91afbdf81749b2" /><Relationship Type="http://schemas.openxmlformats.org/officeDocument/2006/relationships/slide" Target="/ppt/slides/slide12.xml" Id="Rb2884157acc54b58" /><Relationship Type="http://schemas.openxmlformats.org/officeDocument/2006/relationships/slide" Target="/ppt/slides/slide13.xml" Id="Rf1155a6c954b470d" /><Relationship Type="http://schemas.openxmlformats.org/officeDocument/2006/relationships/slide" Target="/ppt/slides/slide14.xml" Id="Rf283078514b54b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c9bb6a79b948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aa2360ab34e36" /><Relationship Type="http://schemas.openxmlformats.org/officeDocument/2006/relationships/notesMaster" Target="/ppt/notesMasters/notesMaster1.xml" Id="R7e12f9f3c927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ab999a058f4a15" /><Relationship Type="http://schemas.openxmlformats.org/officeDocument/2006/relationships/notesMaster" Target="/ppt/notesMasters/notesMaster1.xml" Id="R54730413c4134c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332e2ea60c4fcd" /><Relationship Type="http://schemas.openxmlformats.org/officeDocument/2006/relationships/notesMaster" Target="/ppt/notesMasters/notesMaster1.xml" Id="Rf5a468becd3648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06e1b48de94ada" /><Relationship Type="http://schemas.openxmlformats.org/officeDocument/2006/relationships/notesMaster" Target="/ppt/notesMasters/notesMaster1.xml" Id="R4d9e3898a95049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4610110aa24253" /><Relationship Type="http://schemas.openxmlformats.org/officeDocument/2006/relationships/notesMaster" Target="/ppt/notesMasters/notesMaster1.xml" Id="R213f5e7b5a7543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4509b054374b6e" /><Relationship Type="http://schemas.openxmlformats.org/officeDocument/2006/relationships/notesMaster" Target="/ppt/notesMasters/notesMaster1.xml" Id="R77cafb628fa84c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6c16dea3cd424c" /><Relationship Type="http://schemas.openxmlformats.org/officeDocument/2006/relationships/notesMaster" Target="/ppt/notesMasters/notesMaster1.xml" Id="R5366ff0a7f2744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68c1f8ccee49fe" /><Relationship Type="http://schemas.openxmlformats.org/officeDocument/2006/relationships/notesMaster" Target="/ppt/notesMasters/notesMaster1.xml" Id="R38bfc488af644f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95900bc309448c" /><Relationship Type="http://schemas.openxmlformats.org/officeDocument/2006/relationships/notesMaster" Target="/ppt/notesMasters/notesMaster1.xml" Id="R73929f52adba44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5d445ffb044528" /><Relationship Type="http://schemas.openxmlformats.org/officeDocument/2006/relationships/notesMaster" Target="/ppt/notesMasters/notesMaster1.xml" Id="Re789b1bf10ea4b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cba2474c61433c" /><Relationship Type="http://schemas.openxmlformats.org/officeDocument/2006/relationships/notesMaster" Target="/ppt/notesMasters/notesMaster1.xml" Id="R26ed016d11e04a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cb2e4a2d2c48bb" /><Relationship Type="http://schemas.openxmlformats.org/officeDocument/2006/relationships/notesMaster" Target="/ppt/notesMasters/notesMaster1.xml" Id="R827dcce117b44c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6fb1bc0b104366" /><Relationship Type="http://schemas.openxmlformats.org/officeDocument/2006/relationships/notesMaster" Target="/ppt/notesMasters/notesMaster1.xml" Id="R14981d165a8a49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4bb5f8d24b40b4" /><Relationship Type="http://schemas.openxmlformats.org/officeDocument/2006/relationships/notesMaster" Target="/ppt/notesMasters/notesMaster1.xml" Id="R2fb440a5b35745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d852134fc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b9dd05cd248fc" /><Relationship Type="http://schemas.openxmlformats.org/officeDocument/2006/relationships/slideLayout" Target="/ppt/slideLayouts/slideLayout1.xml" Id="R1242b496f9cc4f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42b496f9cc4f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fc18930614f11" /><Relationship Type="http://schemas.openxmlformats.org/officeDocument/2006/relationships/notesSlide" Target="/ppt/notesSlides/notesSlide1.xml" Id="Rc3bad4088e5348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ed507a16c4166" /><Relationship Type="http://schemas.openxmlformats.org/officeDocument/2006/relationships/notesSlide" Target="/ppt/notesSlides/notesSlide2.xml" Id="Rd1adaffb7b2d42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f5b87a5dd466e" /><Relationship Type="http://schemas.openxmlformats.org/officeDocument/2006/relationships/notesSlide" Target="/ppt/notesSlides/notesSlide3.xml" Id="R96fcc5f805aa42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e0e7b23c8461d" /><Relationship Type="http://schemas.openxmlformats.org/officeDocument/2006/relationships/notesSlide" Target="/ppt/notesSlides/notesSlide4.xml" Id="R17d569b3ddb646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8824529584920" /><Relationship Type="http://schemas.openxmlformats.org/officeDocument/2006/relationships/notesSlide" Target="/ppt/notesSlides/notesSlide5.xml" Id="R15f9de35cacc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e89ac728244d4" /><Relationship Type="http://schemas.openxmlformats.org/officeDocument/2006/relationships/notesSlide" Target="/ppt/notesSlides/notesSlide6.xml" Id="R0257ade852bd48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b5486a6da4b71" /><Relationship Type="http://schemas.openxmlformats.org/officeDocument/2006/relationships/notesSlide" Target="/ppt/notesSlides/notesSlide7.xml" Id="R17bb3a3dac254e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ba9e37e6249e4" /><Relationship Type="http://schemas.openxmlformats.org/officeDocument/2006/relationships/notesSlide" Target="/ppt/notesSlides/notesSlide8.xml" Id="Racf24ad2ee5045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d0bf28f9a4ed3" /><Relationship Type="http://schemas.openxmlformats.org/officeDocument/2006/relationships/notesSlide" Target="/ppt/notesSlides/notesSlide9.xml" Id="R373e2aefbb244a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fca07238344f8" /><Relationship Type="http://schemas.openxmlformats.org/officeDocument/2006/relationships/notesSlide" Target="/ppt/notesSlides/notesSlide10.xml" Id="R96d2d78b9c0a48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086fc3dd549b9" /><Relationship Type="http://schemas.openxmlformats.org/officeDocument/2006/relationships/notesSlide" Target="/ppt/notesSlides/notesSlide11.xml" Id="Rd38d5aeb8c3f4f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33d50e3004724" /><Relationship Type="http://schemas.openxmlformats.org/officeDocument/2006/relationships/notesSlide" Target="/ppt/notesSlides/notesSlide12.xml" Id="R850e7c48795844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6864632da4459" /><Relationship Type="http://schemas.openxmlformats.org/officeDocument/2006/relationships/notesSlide" Target="/ppt/notesSlides/notesSlide13.xml" Id="R760358f895d844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ae4b16de04b10" /><Relationship Type="http://schemas.openxmlformats.org/officeDocument/2006/relationships/notesSlide" Target="/ppt/notesSlides/notesSlide14.xml" Id="R7e829fc44cdf45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92335A9-F24A-4599-8501-3E26A925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F04A0D86-E8A1-4C50-AB5C-13D21EC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72311C5-2C9D-463A-A930-F058B1A8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15A9A86F-76FC-4E5A-96D1-8B62EF00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项目定位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DA54B67E-B7EE-40F7-A8CB-E2526F22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编译面向目标仓库的 benchmark release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0F245FB-CAE9-42BB-A742-EFF69609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目标仓库、被测 Agent 配置与冻结 release 之间的证据层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30EF5AFE-3DE4-443A-9DEF-4381146C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definition_copy">
            <a:extLst xmlns:a="http://schemas.openxmlformats.org/drawingml/2006/main">
              <a:ext uri="{FF2B5EF4-FFF2-40B4-BE49-F238E27FC236}">
                <a16:creationId xmlns:a16="http://schemas.microsoft.com/office/drawing/2014/main" id="{BDB90036-F3B8-47F3-9D27-48115461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17145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把候选任务、ACUT 边界和验证规则组织成可冻结的 repo-specific release，用于估计某个 ACUT 在目标仓库未来工作中的表现。</a:t>
            </a:r>
          </a:p>
        </p:txBody>
      </p:sp>
      <p:sp>
        <p:nvSpPr>
          <p:cNvPr id="9" name="acut_boundary_fill">
            <a:extLst xmlns:a="http://schemas.openxmlformats.org/drawingml/2006/main">
              <a:ext uri="{FF2B5EF4-FFF2-40B4-BE49-F238E27FC236}">
                <a16:creationId xmlns:a16="http://schemas.microsoft.com/office/drawing/2014/main" id="{5DA463E1-AA8D-4088-BC6C-B41F044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10" name="acut_boundary_accent">
            <a:extLst xmlns:a="http://schemas.openxmlformats.org/drawingml/2006/main">
              <a:ext uri="{FF2B5EF4-FFF2-40B4-BE49-F238E27FC236}">
                <a16:creationId xmlns:a16="http://schemas.microsoft.com/office/drawing/2014/main" id="{3B3B559C-26F0-495B-8E59-468E8383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1" name="acut_boundary_title">
            <a:extLst xmlns:a="http://schemas.openxmlformats.org/drawingml/2006/main">
              <a:ext uri="{FF2B5EF4-FFF2-40B4-BE49-F238E27FC236}">
                <a16:creationId xmlns:a16="http://schemas.microsoft.com/office/drawing/2014/main" id="{C2D45369-F914-41D8-8A2E-1357A8B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05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保留自己的 harness</a:t>
            </a:r>
          </a:p>
        </p:txBody>
      </p:sp>
      <p:sp>
        <p:nvSpPr>
          <p:cNvPr id="12" name="acut_boundary_body">
            <a:extLst xmlns:a="http://schemas.openxmlformats.org/drawingml/2006/main">
              <a:ext uri="{FF2B5EF4-FFF2-40B4-BE49-F238E27FC236}">
                <a16:creationId xmlns:a16="http://schemas.microsoft.com/office/drawing/2014/main" id="{60975770-8E7A-4CF7-9065-8EB8F4B2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prompt、搜索、工具策略、模型选择和 retry policy 由被测配置控制。</a:t>
            </a:r>
          </a:p>
        </p:txBody>
      </p:sp>
      <p:sp>
        <p:nvSpPr>
          <p:cNvPr id="13" name="bench_boundary_fill">
            <a:extLst xmlns:a="http://schemas.openxmlformats.org/drawingml/2006/main">
              <a:ext uri="{FF2B5EF4-FFF2-40B4-BE49-F238E27FC236}">
                <a16:creationId xmlns:a16="http://schemas.microsoft.com/office/drawing/2014/main" id="{79400FCA-0852-4824-91DA-659BF80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409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4" name="bench_boundary_accent">
            <a:extLst xmlns:a="http://schemas.openxmlformats.org/drawingml/2006/main">
              <a:ext uri="{FF2B5EF4-FFF2-40B4-BE49-F238E27FC236}">
                <a16:creationId xmlns:a16="http://schemas.microsoft.com/office/drawing/2014/main" id="{D5B55B5C-B72C-4652-B006-187B6860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5" name="bench_boundary_title">
            <a:extLst xmlns:a="http://schemas.openxmlformats.org/drawingml/2006/main">
              <a:ext uri="{FF2B5EF4-FFF2-40B4-BE49-F238E27FC236}">
                <a16:creationId xmlns:a16="http://schemas.microsoft.com/office/drawing/2014/main" id="{617FB8BB-ED2E-40C0-BFD7-8805EAD2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7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控制 benchmark 边界</a:t>
            </a:r>
          </a:p>
        </p:txBody>
      </p:sp>
      <p:sp>
        <p:nvSpPr>
          <p:cNvPr id="16" name="bench_boundary_body">
            <a:extLst xmlns:a="http://schemas.openxmlformats.org/drawingml/2006/main">
              <a:ext uri="{FF2B5EF4-FFF2-40B4-BE49-F238E27FC236}">
                <a16:creationId xmlns:a16="http://schemas.microsoft.com/office/drawing/2014/main" id="{5A3FDCFD-1C22-4F55-BCCE-D0637CD8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815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solver-visible 材料、diff capture、verifier replay、score/cost/latency accounting。</a:t>
            </a:r>
          </a:p>
        </p:txBody>
      </p:sp>
      <p:sp>
        <p:nvSpPr>
          <p:cNvPr id="17" name="目标仓库_box">
            <a:extLst xmlns:a="http://schemas.openxmlformats.org/drawingml/2006/main">
              <a:ext uri="{FF2B5EF4-FFF2-40B4-BE49-F238E27FC236}">
                <a16:creationId xmlns:a16="http://schemas.microsoft.com/office/drawing/2014/main" id="{CFB2AB7B-6C37-45BE-A043-4B5AE1B2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8" name="目标仓库_accent">
            <a:extLst xmlns:a="http://schemas.openxmlformats.org/drawingml/2006/main">
              <a:ext uri="{FF2B5EF4-FFF2-40B4-BE49-F238E27FC236}">
                <a16:creationId xmlns:a16="http://schemas.microsoft.com/office/drawing/2014/main" id="{17C2770D-D5F2-47DC-8726-B3BAC0FA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9" name="目标仓库_title">
            <a:extLst xmlns:a="http://schemas.openxmlformats.org/drawingml/2006/main">
              <a:ext uri="{FF2B5EF4-FFF2-40B4-BE49-F238E27FC236}">
                <a16:creationId xmlns:a16="http://schemas.microsoft.com/office/drawing/2014/main" id="{45CDBE7D-5215-4F8A-B693-588F7790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目标仓库</a:t>
            </a:r>
          </a:p>
        </p:txBody>
      </p:sp>
      <p:sp>
        <p:nvSpPr>
          <p:cNvPr id="20" name="目标仓库_body">
            <a:extLst xmlns:a="http://schemas.openxmlformats.org/drawingml/2006/main">
              <a:ext uri="{FF2B5EF4-FFF2-40B4-BE49-F238E27FC236}">
                <a16:creationId xmlns:a16="http://schemas.microsoft.com/office/drawing/2014/main" id="{11A29842-A606-411D-ADE2-ACC225D6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未来 issue / API / 测试习惯 / 依赖约束</a:t>
            </a:r>
          </a:p>
        </p:txBody>
      </p:sp>
      <p:sp>
        <p:nvSpPr>
          <p:cNvPr id="21" name="被测 ACUT_box">
            <a:extLst xmlns:a="http://schemas.openxmlformats.org/drawingml/2006/main">
              <a:ext uri="{FF2B5EF4-FFF2-40B4-BE49-F238E27FC236}">
                <a16:creationId xmlns:a16="http://schemas.microsoft.com/office/drawing/2014/main" id="{4F71F0A8-330A-430C-8D1E-A0942C64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194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2" name="被测 ACUT_accent">
            <a:extLst xmlns:a="http://schemas.openxmlformats.org/drawingml/2006/main">
              <a:ext uri="{FF2B5EF4-FFF2-40B4-BE49-F238E27FC236}">
                <a16:creationId xmlns:a16="http://schemas.microsoft.com/office/drawing/2014/main" id="{8FC63277-7FFB-4BAB-B0A9-7DCA9341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194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23" name="被测 ACUT_title">
            <a:extLst xmlns:a="http://schemas.openxmlformats.org/drawingml/2006/main">
              <a:ext uri="{FF2B5EF4-FFF2-40B4-BE49-F238E27FC236}">
                <a16:creationId xmlns:a16="http://schemas.microsoft.com/office/drawing/2014/main" id="{88DC2FB6-CA60-4162-BB7D-E6AC4685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909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被测 ACUT</a:t>
            </a:r>
          </a:p>
        </p:txBody>
      </p:sp>
      <p:sp>
        <p:nvSpPr>
          <p:cNvPr id="24" name="被测 ACUT_body">
            <a:extLst xmlns:a="http://schemas.openxmlformats.org/drawingml/2006/main">
              <a:ext uri="{FF2B5EF4-FFF2-40B4-BE49-F238E27FC236}">
                <a16:creationId xmlns:a16="http://schemas.microsoft.com/office/drawing/2014/main" id="{3A802323-E2D0-4A39-9679-360C83DE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147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保留 harness / prompt / tools / runtime budget</a:t>
            </a:r>
          </a:p>
        </p:txBody>
      </p:sp>
      <p:sp>
        <p:nvSpPr>
          <p:cNvPr id="25" name="冻结 release_box">
            <a:extLst xmlns:a="http://schemas.openxmlformats.org/drawingml/2006/main">
              <a:ext uri="{FF2B5EF4-FFF2-40B4-BE49-F238E27FC236}">
                <a16:creationId xmlns:a16="http://schemas.microsoft.com/office/drawing/2014/main" id="{ECEA9E26-3E50-4401-8A80-28D3A0DD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6" name="冻结 release_accent">
            <a:extLst xmlns:a="http://schemas.openxmlformats.org/drawingml/2006/main">
              <a:ext uri="{FF2B5EF4-FFF2-40B4-BE49-F238E27FC236}">
                <a16:creationId xmlns:a16="http://schemas.microsoft.com/office/drawing/2014/main" id="{943B8B5D-FA7E-41B4-B5A7-FE53B605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7" name="冻结 release_title">
            <a:extLst xmlns:a="http://schemas.openxmlformats.org/drawingml/2006/main">
              <a:ext uri="{FF2B5EF4-FFF2-40B4-BE49-F238E27FC236}">
                <a16:creationId xmlns:a16="http://schemas.microsoft.com/office/drawing/2014/main" id="{5360167D-8C85-4E9A-9A98-F776A3A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006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冻结 release</a:t>
            </a:r>
          </a:p>
        </p:txBody>
      </p:sp>
      <p:sp>
        <p:nvSpPr>
          <p:cNvPr id="28" name="冻结 release_body">
            <a:extLst xmlns:a="http://schemas.openxmlformats.org/drawingml/2006/main">
              <a:ext uri="{FF2B5EF4-FFF2-40B4-BE49-F238E27FC236}">
                <a16:creationId xmlns:a16="http://schemas.microsoft.com/office/drawing/2014/main" id="{81195852-7495-4E34-BF33-9825A2D6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244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认证任务 / split / fallback / 验证规则</a:t>
            </a:r>
          </a:p>
        </p:txBody>
      </p:sp>
      <p:sp>
        <p:nvSpPr>
          <p:cNvPr id="29" name="vertical_relation">
            <a:extLst xmlns:a="http://schemas.openxmlformats.org/drawingml/2006/main">
              <a:ext uri="{FF2B5EF4-FFF2-40B4-BE49-F238E27FC236}">
                <a16:creationId xmlns:a16="http://schemas.microsoft.com/office/drawing/2014/main" id="{515CF33E-0711-43E4-87C3-0B3977C1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0" name="upper_link">
            <a:extLst xmlns:a="http://schemas.openxmlformats.org/drawingml/2006/main">
              <a:ext uri="{FF2B5EF4-FFF2-40B4-BE49-F238E27FC236}">
                <a16:creationId xmlns:a16="http://schemas.microsoft.com/office/drawing/2014/main" id="{62EC6C95-E7D5-454D-853F-7884A32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1" name="lower_link">
            <a:extLst xmlns:a="http://schemas.openxmlformats.org/drawingml/2006/main">
              <a:ext uri="{FF2B5EF4-FFF2-40B4-BE49-F238E27FC236}">
                <a16:creationId xmlns:a16="http://schemas.microsoft.com/office/drawing/2014/main" id="{36AF4551-6D0D-4B75-8E64-3D2DBC36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01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2" name="node_dot_top">
            <a:extLst xmlns:a="http://schemas.openxmlformats.org/drawingml/2006/main">
              <a:ext uri="{FF2B5EF4-FFF2-40B4-BE49-F238E27FC236}">
                <a16:creationId xmlns:a16="http://schemas.microsoft.com/office/drawing/2014/main" id="{71970110-1843-4EC5-BDED-E4D7747B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33" name="node_dot_bottom">
            <a:extLst xmlns:a="http://schemas.openxmlformats.org/drawingml/2006/main">
              <a:ext uri="{FF2B5EF4-FFF2-40B4-BE49-F238E27FC236}">
                <a16:creationId xmlns:a16="http://schemas.microsoft.com/office/drawing/2014/main" id="{E50171A1-927F-407A-BC66-F5AB76DE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34" name="release_formula">
            <a:extLst xmlns:a="http://schemas.openxmlformats.org/drawingml/2006/main">
              <a:ext uri="{FF2B5EF4-FFF2-40B4-BE49-F238E27FC236}">
                <a16:creationId xmlns:a16="http://schemas.microsoft.com/office/drawing/2014/main" id="{77FFD664-A567-4776-8460-E6CBF034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release = task set + split + source/oracle metadata + ACUT boundary + validation rules</a:t>
            </a:r>
          </a:p>
        </p:txBody>
      </p:sp>
    </p:spTree>
    <p:extLst>
      <p:ext uri="{BB962C8B-B14F-4D97-AF65-F5344CB8AC3E}">
        <p14:creationId xmlns:p14="http://schemas.microsoft.com/office/powerpoint/2010/main" val="15056353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1054518-371B-464B-8F1D-26B9CDA3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09336473-1700-47F0-9A8F-53EF7FF6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6ED12698-6334-4085-A740-E3268FFE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6A012071-6222-49E6-916E-274E49B8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A34B334D-ABD3-4D81-B93D-4D06B6FE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团队缺少对未来仓库工作的直接估计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2EF7C91-8C4A-4129-B2B6-251A073C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通用分数和目标仓库未来工作之间仍有预测缺口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D3BBA3FD-AC12-4946-A4F0-BFDEB64B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problem_copy">
            <a:extLst xmlns:a="http://schemas.openxmlformats.org/drawingml/2006/main">
              <a:ext uri="{FF2B5EF4-FFF2-40B4-BE49-F238E27FC236}">
                <a16:creationId xmlns:a16="http://schemas.microsoft.com/office/drawing/2014/main" id="{CB3D2ACA-59CF-4996-B49D-5D991C4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573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通用 benchmark 提供总体能力信号；部署 agent 时，团队还需要回答本仓库未来 issue、API、测试和依赖约束下的表现。</a:t>
            </a:r>
          </a:p>
        </p:txBody>
      </p:sp>
      <p:sp>
        <p:nvSpPr>
          <p:cNvPr id="9" name="generic_benchmark_fill">
            <a:extLst xmlns:a="http://schemas.openxmlformats.org/drawingml/2006/main">
              <a:ext uri="{FF2B5EF4-FFF2-40B4-BE49-F238E27FC236}">
                <a16:creationId xmlns:a16="http://schemas.microsoft.com/office/drawing/2014/main" id="{F5E9C849-6B56-41E0-B21A-AC851508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generic_benchmark_accent">
            <a:extLst xmlns:a="http://schemas.openxmlformats.org/drawingml/2006/main">
              <a:ext uri="{FF2B5EF4-FFF2-40B4-BE49-F238E27FC236}">
                <a16:creationId xmlns:a16="http://schemas.microsoft.com/office/drawing/2014/main" id="{1220CA37-203D-4DEC-A744-DF12843E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generic_benchmark_title">
            <a:extLst xmlns:a="http://schemas.openxmlformats.org/drawingml/2006/main">
              <a:ext uri="{FF2B5EF4-FFF2-40B4-BE49-F238E27FC236}">
                <a16:creationId xmlns:a16="http://schemas.microsoft.com/office/drawing/2014/main" id="{E0C1ACE7-1A20-452D-889E-A94CEB18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76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通用 benchmark</a:t>
            </a:r>
          </a:p>
        </p:txBody>
      </p:sp>
      <p:sp>
        <p:nvSpPr>
          <p:cNvPr id="12" name="generic_benchmark_body">
            <a:extLst xmlns:a="http://schemas.openxmlformats.org/drawingml/2006/main">
              <a:ext uri="{FF2B5EF4-FFF2-40B4-BE49-F238E27FC236}">
                <a16:creationId xmlns:a16="http://schemas.microsoft.com/office/drawing/2014/main" id="{D182D7C1-6067-4E60-A536-FA78C2A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广泛能力、可执行评分、公开对照、跨系统可比较性。</a:t>
            </a:r>
          </a:p>
        </p:txBody>
      </p:sp>
      <p:sp>
        <p:nvSpPr>
          <p:cNvPr id="13" name="future_work_fill">
            <a:extLst xmlns:a="http://schemas.openxmlformats.org/drawingml/2006/main">
              <a:ext uri="{FF2B5EF4-FFF2-40B4-BE49-F238E27FC236}">
                <a16:creationId xmlns:a16="http://schemas.microsoft.com/office/drawing/2014/main" id="{B846835D-B60C-43D0-BB22-7C74E8D9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4" name="future_work_accent">
            <a:extLst xmlns:a="http://schemas.openxmlformats.org/drawingml/2006/main">
              <a:ext uri="{FF2B5EF4-FFF2-40B4-BE49-F238E27FC236}">
                <a16:creationId xmlns:a16="http://schemas.microsoft.com/office/drawing/2014/main" id="{51C95819-DCE4-4542-828F-20EE3D84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5" name="future_work_title">
            <a:extLst xmlns:a="http://schemas.openxmlformats.org/drawingml/2006/main">
              <a:ext uri="{FF2B5EF4-FFF2-40B4-BE49-F238E27FC236}">
                <a16:creationId xmlns:a16="http://schemas.microsoft.com/office/drawing/2014/main" id="{A7DB87DE-7E21-4775-A78A-59693BB0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本仓库未来工作</a:t>
            </a:r>
          </a:p>
        </p:txBody>
      </p:sp>
      <p:sp>
        <p:nvSpPr>
          <p:cNvPr id="16" name="future_work_body">
            <a:extLst xmlns:a="http://schemas.openxmlformats.org/drawingml/2006/main">
              <a:ext uri="{FF2B5EF4-FFF2-40B4-BE49-F238E27FC236}">
                <a16:creationId xmlns:a16="http://schemas.microsoft.com/office/drawing/2014/main" id="{D74A9CA6-4A7B-43CD-8F17-3FE4F1CD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226695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未来 issue、API、测试、依赖、评审规范和 failure modes。</a:t>
            </a:r>
          </a:p>
        </p:txBody>
      </p:sp>
      <p:sp>
        <p:nvSpPr>
          <p:cNvPr id="17" name="gap_left_line">
            <a:extLst xmlns:a="http://schemas.openxmlformats.org/drawingml/2006/main">
              <a:ext uri="{FF2B5EF4-FFF2-40B4-BE49-F238E27FC236}">
                <a16:creationId xmlns:a16="http://schemas.microsoft.com/office/drawing/2014/main" id="{57B5FBCE-079C-46AA-856C-E82D6EC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8" name="gap_right_line">
            <a:extLst xmlns:a="http://schemas.openxmlformats.org/drawingml/2006/main">
              <a:ext uri="{FF2B5EF4-FFF2-40B4-BE49-F238E27FC236}">
                <a16:creationId xmlns:a16="http://schemas.microsoft.com/office/drawing/2014/main" id="{24967807-25FE-4C7A-A6A0-6777AAF7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9" name="gap_dot">
            <a:extLst xmlns:a="http://schemas.openxmlformats.org/drawingml/2006/main">
              <a:ext uri="{FF2B5EF4-FFF2-40B4-BE49-F238E27FC236}">
                <a16:creationId xmlns:a16="http://schemas.microsoft.com/office/drawing/2014/main" id="{D090AD88-ED21-4550-AF7F-8282EA8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71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0" name="gap_label">
            <a:extLst xmlns:a="http://schemas.openxmlformats.org/drawingml/2006/main">
              <a:ext uri="{FF2B5EF4-FFF2-40B4-BE49-F238E27FC236}">
                <a16:creationId xmlns:a16="http://schemas.microsoft.com/office/drawing/2014/main" id="{4951A108-136F-4FB0-BF45-D031D283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289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prediction</a:t>
            </a:r>
          </a:p>
          <a:p xmlns:a="http://schemas.openxmlformats.org/drawingml/2006/main">
            <a:pPr algn="ctr">
              <a:def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gap</a:t>
            </a:r>
          </a:p>
        </p:txBody>
      </p:sp>
      <p:sp>
        <p:nvSpPr>
          <p:cNvPr id="21" name="target_question">
            <a:extLst xmlns:a="http://schemas.openxmlformats.org/drawingml/2006/main">
              <a:ext uri="{FF2B5EF4-FFF2-40B4-BE49-F238E27FC236}">
                <a16:creationId xmlns:a16="http://schemas.microsoft.com/office/drawing/2014/main" id="{2BD516BE-8C7B-4E64-8C2C-7509F8E8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149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171450" tIns="152400" rIns="171450" bIns="114300" anchor="t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7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给定一个 ACUT，它在某个目标仓库未来真实工作中的表现会怎样？</a:t>
            </a:r>
          </a:p>
        </p:txBody>
      </p:sp>
      <p:sp>
        <p:nvSpPr>
          <p:cNvPr id="22" name="bottom_summary">
            <a:extLst xmlns:a="http://schemas.openxmlformats.org/drawingml/2006/main">
              <a:ext uri="{FF2B5EF4-FFF2-40B4-BE49-F238E27FC236}">
                <a16:creationId xmlns:a16="http://schemas.microsoft.com/office/drawing/2014/main" id="{967E1A03-0A08-4C9D-951D-88E42F73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91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缺口：可审计信号还需要转成目标仓库未来估计</a:t>
            </a:r>
          </a:p>
        </p:txBody>
      </p:sp>
    </p:spTree>
    <p:extLst>
      <p:ext uri="{BB962C8B-B14F-4D97-AF65-F5344CB8AC3E}">
        <p14:creationId xmlns:p14="http://schemas.microsoft.com/office/powerpoint/2010/main" val="12676072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D29902F-823F-477A-9744-C1F0C14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2E34B2F7-72E8-457C-84AB-DBF15D1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7F60E5BA-DC76-47D3-845D-BD79F49A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7A4C3901-B776-444F-8EDC-F15812EF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代价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7692ECA0-E16C-49FB-AFD2-0CC17EC0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这个缺口会影响部署、调优和治理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E0463F8-9CF0-4784-B0FF-DB6F7B18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证据如果不贴近目标仓库，决策就可能偏离真实工作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053BF6F2-D622-4DC7-A1B8-9CDC2D2E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stakes_copy">
            <a:extLst xmlns:a="http://schemas.openxmlformats.org/drawingml/2006/main">
              <a:ext uri="{FF2B5EF4-FFF2-40B4-BE49-F238E27FC236}">
                <a16:creationId xmlns:a16="http://schemas.microsoft.com/office/drawing/2014/main" id="{7CB12EC7-5DB4-4C52-A554-18345271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764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目标仓库证据不足时，团队可能选错配置、误读 dev set 收益，或缺少 source quality、adapter、成本、延迟和不确定性说明。</a:t>
            </a:r>
          </a:p>
        </p:txBody>
      </p:sp>
      <p:sp>
        <p:nvSpPr>
          <p:cNvPr id="9" name="deployment_fill">
            <a:extLst xmlns:a="http://schemas.openxmlformats.org/drawingml/2006/main">
              <a:ext uri="{FF2B5EF4-FFF2-40B4-BE49-F238E27FC236}">
                <a16:creationId xmlns:a16="http://schemas.microsoft.com/office/drawing/2014/main" id="{693EAC21-B115-401A-AD54-56E39BFD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28194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deployment_accent">
            <a:extLst xmlns:a="http://schemas.openxmlformats.org/drawingml/2006/main">
              <a:ext uri="{FF2B5EF4-FFF2-40B4-BE49-F238E27FC236}">
                <a16:creationId xmlns:a16="http://schemas.microsoft.com/office/drawing/2014/main" id="{16AD234E-4DAE-49D4-80BF-B7CA3E2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deployment_title">
            <a:extLst xmlns:a="http://schemas.openxmlformats.org/drawingml/2006/main">
              <a:ext uri="{FF2B5EF4-FFF2-40B4-BE49-F238E27FC236}">
                <a16:creationId xmlns:a16="http://schemas.microsoft.com/office/drawing/2014/main" id="{1926FEA0-40CE-473A-83B6-EA708D31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337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部署选择</a:t>
            </a:r>
          </a:p>
        </p:txBody>
      </p:sp>
      <p:sp>
        <p:nvSpPr>
          <p:cNvPr id="12" name="deployment_body">
            <a:extLst xmlns:a="http://schemas.openxmlformats.org/drawingml/2006/main">
              <a:ext uri="{FF2B5EF4-FFF2-40B4-BE49-F238E27FC236}">
                <a16:creationId xmlns:a16="http://schemas.microsoft.com/office/drawing/2014/main" id="{92612876-3E79-4001-880A-16A8C84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57550"/>
            <a:ext cx="2514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通用能力强的配置，可能在本仓库 API、测试习惯或依赖约束下失效。</a:t>
            </a:r>
          </a:p>
        </p:txBody>
      </p:sp>
      <p:sp>
        <p:nvSpPr>
          <p:cNvPr id="13" name="tuning_fill">
            <a:extLst xmlns:a="http://schemas.openxmlformats.org/drawingml/2006/main">
              <a:ext uri="{FF2B5EF4-FFF2-40B4-BE49-F238E27FC236}">
                <a16:creationId xmlns:a16="http://schemas.microsoft.com/office/drawing/2014/main" id="{2763CBA0-AB4D-4A19-B325-5EE6D1B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8194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4" name="tuning_accent">
            <a:extLst xmlns:a="http://schemas.openxmlformats.org/drawingml/2006/main">
              <a:ext uri="{FF2B5EF4-FFF2-40B4-BE49-F238E27FC236}">
                <a16:creationId xmlns:a16="http://schemas.microsoft.com/office/drawing/2014/main" id="{806A1AAA-2C6E-4A58-B1DB-1658DCD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5" name="tuning_title">
            <a:extLst xmlns:a="http://schemas.openxmlformats.org/drawingml/2006/main">
              <a:ext uri="{FF2B5EF4-FFF2-40B4-BE49-F238E27FC236}">
                <a16:creationId xmlns:a16="http://schemas.microsoft.com/office/drawing/2014/main" id="{E7553022-4DA0-4A9F-AF3C-7DE105D0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配置调优</a:t>
            </a:r>
          </a:p>
        </p:txBody>
      </p:sp>
      <p:sp>
        <p:nvSpPr>
          <p:cNvPr id="16" name="tuning_body">
            <a:extLst xmlns:a="http://schemas.openxmlformats.org/drawingml/2006/main">
              <a:ext uri="{FF2B5EF4-FFF2-40B4-BE49-F238E27FC236}">
                <a16:creationId xmlns:a16="http://schemas.microsoft.com/office/drawing/2014/main" id="{8E89D31D-3E89-454E-BF8A-5DCE49B9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514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dev set 收益可能被误读成未来仓库工作改善，导致 prompt、retrieval 或 tool policy 调整方向偏离。</a:t>
            </a:r>
          </a:p>
        </p:txBody>
      </p:sp>
      <p:sp>
        <p:nvSpPr>
          <p:cNvPr id="17" name="governance_fill">
            <a:extLst xmlns:a="http://schemas.openxmlformats.org/drawingml/2006/main">
              <a:ext uri="{FF2B5EF4-FFF2-40B4-BE49-F238E27FC236}">
                <a16:creationId xmlns:a16="http://schemas.microsoft.com/office/drawing/2014/main" id="{8F5B904C-5AB7-493B-8D77-4B3FC808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8194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8" name="governance_accent">
            <a:extLst xmlns:a="http://schemas.openxmlformats.org/drawingml/2006/main">
              <a:ext uri="{FF2B5EF4-FFF2-40B4-BE49-F238E27FC236}">
                <a16:creationId xmlns:a16="http://schemas.microsoft.com/office/drawing/2014/main" id="{1AE1D3AC-F699-48F8-95D0-CB5FE589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9" name="governance_title">
            <a:extLst xmlns:a="http://schemas.openxmlformats.org/drawingml/2006/main">
              <a:ext uri="{FF2B5EF4-FFF2-40B4-BE49-F238E27FC236}">
                <a16:creationId xmlns:a16="http://schemas.microsoft.com/office/drawing/2014/main" id="{C5E1868F-2D93-4754-9BDF-65476B94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治理判断</a:t>
            </a:r>
          </a:p>
        </p:txBody>
      </p:sp>
      <p:sp>
        <p:nvSpPr>
          <p:cNvPr id="20" name="governance_body">
            <a:extLst xmlns:a="http://schemas.openxmlformats.org/drawingml/2006/main">
              <a:ext uri="{FF2B5EF4-FFF2-40B4-BE49-F238E27FC236}">
                <a16:creationId xmlns:a16="http://schemas.microsoft.com/office/drawing/2014/main" id="{135B6F5A-9D5B-48B1-BBEB-5455040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514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缺少 source quality、adapter 边界、成本、延迟和不确定性说明，deployment governance 难以落地。</a:t>
            </a:r>
          </a:p>
        </p:txBody>
      </p:sp>
      <p:sp>
        <p:nvSpPr>
          <p:cNvPr id="21" name="summary">
            <a:extLst xmlns:a="http://schemas.openxmlformats.org/drawingml/2006/main">
              <a:ext uri="{FF2B5EF4-FFF2-40B4-BE49-F238E27FC236}">
                <a16:creationId xmlns:a16="http://schemas.microsoft.com/office/drawing/2014/main" id="{AA889E6B-C7BE-48F0-B048-6313BDAF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15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同一个缺口同时影响评测、调优和 deployment governance。</a:t>
            </a:r>
          </a:p>
        </p:txBody>
      </p:sp>
    </p:spTree>
    <p:extLst>
      <p:ext uri="{BB962C8B-B14F-4D97-AF65-F5344CB8AC3E}">
        <p14:creationId xmlns:p14="http://schemas.microsoft.com/office/powerpoint/2010/main" val="19145806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594F16C-616C-4813-8682-5B2B2DAF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EC4CFE13-BF91-48C4-8165-9EE58E0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C25CB920-7B00-483D-AA43-1583BA0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5669FA8C-505F-4C05-B9CE-5FDA1359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BBA08C88-93E2-4C17-AC2D-2A368B15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相关工作已经覆盖任务、质量、鲜度、规模和环境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93350CE-98E5-4FFA-A773-42E004EE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Barcarolle 的问题位于这些贡献之后的 release compilation 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F9E859F0-63E8-4E3E-99F9-39E3CB8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header_0">
            <a:extLst xmlns:a="http://schemas.openxmlformats.org/drawingml/2006/main">
              <a:ext uri="{FF2B5EF4-FFF2-40B4-BE49-F238E27FC236}">
                <a16:creationId xmlns:a16="http://schemas.microsoft.com/office/drawing/2014/main" id="{8DB2DF09-075A-48BA-A870-9BE1711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9545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9" name="header_text_0">
            <a:extLst xmlns:a="http://schemas.openxmlformats.org/drawingml/2006/main">
              <a:ext uri="{FF2B5EF4-FFF2-40B4-BE49-F238E27FC236}">
                <a16:creationId xmlns:a16="http://schemas.microsoft.com/office/drawing/2014/main" id="{94899948-062B-429F-B9B1-7062AF35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097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相邻方向</a:t>
            </a:r>
          </a:p>
        </p:txBody>
      </p:sp>
      <p:sp>
        <p:nvSpPr>
          <p:cNvPr id="10" name="header_1">
            <a:extLst xmlns:a="http://schemas.openxmlformats.org/drawingml/2006/main">
              <a:ext uri="{FF2B5EF4-FFF2-40B4-BE49-F238E27FC236}">
                <a16:creationId xmlns:a16="http://schemas.microsoft.com/office/drawing/2014/main" id="{678CC785-C5F7-4D73-9A98-A5891B2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695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1" name="header_text_1">
            <a:extLst xmlns:a="http://schemas.openxmlformats.org/drawingml/2006/main">
              <a:ext uri="{FF2B5EF4-FFF2-40B4-BE49-F238E27FC236}">
                <a16:creationId xmlns:a16="http://schemas.microsoft.com/office/drawing/2014/main" id="{E7416FB2-7F9A-49CA-AE3A-EDE730AB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0975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贡献层</a:t>
            </a:r>
          </a:p>
        </p:txBody>
      </p:sp>
      <p:sp>
        <p:nvSpPr>
          <p:cNvPr id="12" name="header_2">
            <a:extLst xmlns:a="http://schemas.openxmlformats.org/drawingml/2006/main">
              <a:ext uri="{FF2B5EF4-FFF2-40B4-BE49-F238E27FC236}">
                <a16:creationId xmlns:a16="http://schemas.microsoft.com/office/drawing/2014/main" id="{86B976AC-8BDD-4A37-BA03-E8EF349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954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3" name="header_text_2">
            <a:extLst xmlns:a="http://schemas.openxmlformats.org/drawingml/2006/main">
              <a:ext uri="{FF2B5EF4-FFF2-40B4-BE49-F238E27FC236}">
                <a16:creationId xmlns:a16="http://schemas.microsoft.com/office/drawing/2014/main" id="{9D932343-9750-449B-85FE-55A2D4FF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809750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Barcarolle 仍要回答</a:t>
            </a:r>
          </a:p>
        </p:txBody>
      </p:sp>
      <p:sp>
        <p:nvSpPr>
          <p:cNvPr id="14" name="row_0_0">
            <a:extLst xmlns:a="http://schemas.openxmlformats.org/drawingml/2006/main">
              <a:ext uri="{FF2B5EF4-FFF2-40B4-BE49-F238E27FC236}">
                <a16:creationId xmlns:a16="http://schemas.microsoft.com/office/drawing/2014/main" id="{DA9E597C-0EF6-4E85-846E-4C78D5C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717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5" name="row_text_0_0">
            <a:extLst xmlns:a="http://schemas.openxmlformats.org/drawingml/2006/main">
              <a:ext uri="{FF2B5EF4-FFF2-40B4-BE49-F238E27FC236}">
                <a16:creationId xmlns:a16="http://schemas.microsoft.com/office/drawing/2014/main" id="{F2DE7383-F94D-48BF-9690-932F2A7B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05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</a:t>
            </a:r>
          </a:p>
        </p:txBody>
      </p:sp>
      <p:sp>
        <p:nvSpPr>
          <p:cNvPr id="16" name="row_0_1">
            <a:extLst xmlns:a="http://schemas.openxmlformats.org/drawingml/2006/main">
              <a:ext uri="{FF2B5EF4-FFF2-40B4-BE49-F238E27FC236}">
                <a16:creationId xmlns:a16="http://schemas.microsoft.com/office/drawing/2014/main" id="{EA32A70D-4632-4978-902D-0D36452E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1717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row_text_0_1">
            <a:extLst xmlns:a="http://schemas.openxmlformats.org/drawingml/2006/main">
              <a:ext uri="{FF2B5EF4-FFF2-40B4-BE49-F238E27FC236}">
                <a16:creationId xmlns:a16="http://schemas.microsoft.com/office/drawing/2014/main" id="{1468FA9D-14A7-4BA3-A198-2BB87D7B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050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真实 issue tasks</a:t>
            </a:r>
          </a:p>
        </p:txBody>
      </p:sp>
      <p:sp>
        <p:nvSpPr>
          <p:cNvPr id="18" name="row_0_2">
            <a:extLst xmlns:a="http://schemas.openxmlformats.org/drawingml/2006/main">
              <a:ext uri="{FF2B5EF4-FFF2-40B4-BE49-F238E27FC236}">
                <a16:creationId xmlns:a16="http://schemas.microsoft.com/office/drawing/2014/main" id="{91189CA0-824A-4D93-A71A-C195185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717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9" name="row_text_0_2">
            <a:extLst xmlns:a="http://schemas.openxmlformats.org/drawingml/2006/main">
              <a:ext uri="{FF2B5EF4-FFF2-40B4-BE49-F238E27FC236}">
                <a16:creationId xmlns:a16="http://schemas.microsoft.com/office/drawing/2014/main" id="{A6C6DCF1-2801-4690-9A27-0ED8CD7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050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哪些任务进入目标仓库 release？</a:t>
            </a:r>
          </a:p>
        </p:txBody>
      </p:sp>
      <p:sp>
        <p:nvSpPr>
          <p:cNvPr id="20" name="row_1_0">
            <a:extLst xmlns:a="http://schemas.openxmlformats.org/drawingml/2006/main">
              <a:ext uri="{FF2B5EF4-FFF2-40B4-BE49-F238E27FC236}">
                <a16:creationId xmlns:a16="http://schemas.microsoft.com/office/drawing/2014/main" id="{C434856E-E9E5-40BF-BC9E-B43E83CB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1" name="row_text_1_0">
            <a:extLst xmlns:a="http://schemas.openxmlformats.org/drawingml/2006/main">
              <a:ext uri="{FF2B5EF4-FFF2-40B4-BE49-F238E27FC236}">
                <a16:creationId xmlns:a16="http://schemas.microsoft.com/office/drawing/2014/main" id="{F42AC567-B3F6-4202-946A-EF2AC0D6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9908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Verified</a:t>
            </a:r>
          </a:p>
        </p:txBody>
      </p:sp>
      <p:sp>
        <p:nvSpPr>
          <p:cNvPr id="22" name="row_1_1">
            <a:extLst xmlns:a="http://schemas.openxmlformats.org/drawingml/2006/main">
              <a:ext uri="{FF2B5EF4-FFF2-40B4-BE49-F238E27FC236}">
                <a16:creationId xmlns:a16="http://schemas.microsoft.com/office/drawing/2014/main" id="{9BE0A1E4-235F-4D32-8663-2A14D9C1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857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3" name="row_text_1_1">
            <a:extLst xmlns:a="http://schemas.openxmlformats.org/drawingml/2006/main">
              <a:ext uri="{FF2B5EF4-FFF2-40B4-BE49-F238E27FC236}">
                <a16:creationId xmlns:a16="http://schemas.microsoft.com/office/drawing/2014/main" id="{9EAB0DCB-DC0A-42BB-93D0-6434D35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90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质量验证</a:t>
            </a:r>
          </a:p>
        </p:txBody>
      </p:sp>
      <p:sp>
        <p:nvSpPr>
          <p:cNvPr id="24" name="row_1_2">
            <a:extLst xmlns:a="http://schemas.openxmlformats.org/drawingml/2006/main">
              <a:ext uri="{FF2B5EF4-FFF2-40B4-BE49-F238E27FC236}">
                <a16:creationId xmlns:a16="http://schemas.microsoft.com/office/drawing/2014/main" id="{F690683B-8F0E-4164-B3DD-F5DB213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5" name="row_text_1_2">
            <a:extLst xmlns:a="http://schemas.openxmlformats.org/drawingml/2006/main">
              <a:ext uri="{FF2B5EF4-FFF2-40B4-BE49-F238E27FC236}">
                <a16:creationId xmlns:a16="http://schemas.microsoft.com/office/drawing/2014/main" id="{AB8012D4-42D2-4738-ADA7-4541A474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908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质量 gate 如何进入 release 规则？</a:t>
            </a:r>
          </a:p>
        </p:txBody>
      </p:sp>
      <p:sp>
        <p:nvSpPr>
          <p:cNvPr id="26" name="row_2_0">
            <a:extLst xmlns:a="http://schemas.openxmlformats.org/drawingml/2006/main">
              <a:ext uri="{FF2B5EF4-FFF2-40B4-BE49-F238E27FC236}">
                <a16:creationId xmlns:a16="http://schemas.microsoft.com/office/drawing/2014/main" id="{F6CB91C1-7B90-4431-909C-A6D6030F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433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row_text_2_0">
            <a:extLst xmlns:a="http://schemas.openxmlformats.org/drawingml/2006/main">
              <a:ext uri="{FF2B5EF4-FFF2-40B4-BE49-F238E27FC236}">
                <a16:creationId xmlns:a16="http://schemas.microsoft.com/office/drawing/2014/main" id="{DAF61202-7854-4CFE-9AB3-A3164D4A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66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Live</a:t>
            </a:r>
          </a:p>
        </p:txBody>
      </p:sp>
      <p:sp>
        <p:nvSpPr>
          <p:cNvPr id="28" name="row_2_1">
            <a:extLst xmlns:a="http://schemas.openxmlformats.org/drawingml/2006/main">
              <a:ext uri="{FF2B5EF4-FFF2-40B4-BE49-F238E27FC236}">
                <a16:creationId xmlns:a16="http://schemas.microsoft.com/office/drawing/2014/main" id="{AE89B8C0-C99F-44AA-8BB1-E6EE37B4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5433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9" name="row_text_2_1">
            <a:extLst xmlns:a="http://schemas.openxmlformats.org/drawingml/2006/main">
              <a:ext uri="{FF2B5EF4-FFF2-40B4-BE49-F238E27FC236}">
                <a16:creationId xmlns:a16="http://schemas.microsoft.com/office/drawing/2014/main" id="{20AB21E0-7DB6-4B90-AB5F-59A8D5DA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766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任务鲜度</a:t>
            </a:r>
          </a:p>
        </p:txBody>
      </p:sp>
      <p:sp>
        <p:nvSpPr>
          <p:cNvPr id="30" name="row_2_2">
            <a:extLst xmlns:a="http://schemas.openxmlformats.org/drawingml/2006/main">
              <a:ext uri="{FF2B5EF4-FFF2-40B4-BE49-F238E27FC236}">
                <a16:creationId xmlns:a16="http://schemas.microsoft.com/office/drawing/2014/main" id="{E8B76120-B53C-48AE-8A74-1D59C845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433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1" name="row_text_2_2">
            <a:extLst xmlns:a="http://schemas.openxmlformats.org/drawingml/2006/main">
              <a:ext uri="{FF2B5EF4-FFF2-40B4-BE49-F238E27FC236}">
                <a16:creationId xmlns:a16="http://schemas.microsoft.com/office/drawing/2014/main" id="{087DA7BB-D65F-4B67-A9ED-049D69DE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766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fresh supply 如何冻结后验证？</a:t>
            </a:r>
          </a:p>
        </p:txBody>
      </p:sp>
      <p:sp>
        <p:nvSpPr>
          <p:cNvPr id="32" name="row_3_0">
            <a:extLst xmlns:a="http://schemas.openxmlformats.org/drawingml/2006/main">
              <a:ext uri="{FF2B5EF4-FFF2-40B4-BE49-F238E27FC236}">
                <a16:creationId xmlns:a16="http://schemas.microsoft.com/office/drawing/2014/main" id="{A0E91D9B-6BDF-4D6C-AB60-67ED8F90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291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3" name="row_text_3_0">
            <a:extLst xmlns:a="http://schemas.openxmlformats.org/drawingml/2006/main">
              <a:ext uri="{FF2B5EF4-FFF2-40B4-BE49-F238E27FC236}">
                <a16:creationId xmlns:a16="http://schemas.microsoft.com/office/drawing/2014/main" id="{1A1687B5-55A0-4237-9E02-5A120DE3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624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SWE-smith</a:t>
            </a:r>
          </a:p>
        </p:txBody>
      </p:sp>
      <p:sp>
        <p:nvSpPr>
          <p:cNvPr id="34" name="row_3_1">
            <a:extLst xmlns:a="http://schemas.openxmlformats.org/drawingml/2006/main">
              <a:ext uri="{FF2B5EF4-FFF2-40B4-BE49-F238E27FC236}">
                <a16:creationId xmlns:a16="http://schemas.microsoft.com/office/drawing/2014/main" id="{752A77CA-E885-4795-B000-4B010BC1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2291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5" name="row_text_3_1">
            <a:extLst xmlns:a="http://schemas.openxmlformats.org/drawingml/2006/main">
              <a:ext uri="{FF2B5EF4-FFF2-40B4-BE49-F238E27FC236}">
                <a16:creationId xmlns:a16="http://schemas.microsoft.com/office/drawing/2014/main" id="{BB8E13DF-C680-48D2-9422-DA477D56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3624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生成规模</a:t>
            </a:r>
          </a:p>
        </p:txBody>
      </p:sp>
      <p:sp>
        <p:nvSpPr>
          <p:cNvPr id="36" name="row_3_2">
            <a:extLst xmlns:a="http://schemas.openxmlformats.org/drawingml/2006/main">
              <a:ext uri="{FF2B5EF4-FFF2-40B4-BE49-F238E27FC236}">
                <a16:creationId xmlns:a16="http://schemas.microsoft.com/office/drawing/2014/main" id="{E0B16A2C-73A6-42ED-8BE2-62000AD0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291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7" name="row_text_3_2">
            <a:extLst xmlns:a="http://schemas.openxmlformats.org/drawingml/2006/main">
              <a:ext uri="{FF2B5EF4-FFF2-40B4-BE49-F238E27FC236}">
                <a16:creationId xmlns:a16="http://schemas.microsoft.com/office/drawing/2014/main" id="{D2F58061-AF6B-4C25-AB68-6908C0D4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3624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生成任务如何认证和选择？</a:t>
            </a:r>
          </a:p>
        </p:txBody>
      </p:sp>
      <p:sp>
        <p:nvSpPr>
          <p:cNvPr id="38" name="row_4_0">
            <a:extLst xmlns:a="http://schemas.openxmlformats.org/drawingml/2006/main">
              <a:ext uri="{FF2B5EF4-FFF2-40B4-BE49-F238E27FC236}">
                <a16:creationId xmlns:a16="http://schemas.microsoft.com/office/drawing/2014/main" id="{F5B9DE41-FFD9-4F54-89E4-C702A646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149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9" name="row_text_4_0">
            <a:extLst xmlns:a="http://schemas.openxmlformats.org/drawingml/2006/main">
              <a:ext uri="{FF2B5EF4-FFF2-40B4-BE49-F238E27FC236}">
                <a16:creationId xmlns:a16="http://schemas.microsoft.com/office/drawing/2014/main" id="{6269C18A-E5F8-4D8C-999D-52C29D37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482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R2E-Gym</a:t>
            </a:r>
          </a:p>
        </p:txBody>
      </p:sp>
      <p:sp>
        <p:nvSpPr>
          <p:cNvPr id="40" name="row_4_1">
            <a:extLst xmlns:a="http://schemas.openxmlformats.org/drawingml/2006/main">
              <a:ext uri="{FF2B5EF4-FFF2-40B4-BE49-F238E27FC236}">
                <a16:creationId xmlns:a16="http://schemas.microsoft.com/office/drawing/2014/main" id="{64BAEE1E-2525-4A73-9D05-12A7BA89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9149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1" name="row_text_4_1">
            <a:extLst xmlns:a="http://schemas.openxmlformats.org/drawingml/2006/main">
              <a:ext uri="{FF2B5EF4-FFF2-40B4-BE49-F238E27FC236}">
                <a16:creationId xmlns:a16="http://schemas.microsoft.com/office/drawing/2014/main" id="{47A05F59-8664-4E59-B5FF-D9EEF569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48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可执行环境</a:t>
            </a:r>
          </a:p>
        </p:txBody>
      </p:sp>
      <p:sp>
        <p:nvSpPr>
          <p:cNvPr id="42" name="row_4_2">
            <a:extLst xmlns:a="http://schemas.openxmlformats.org/drawingml/2006/main">
              <a:ext uri="{FF2B5EF4-FFF2-40B4-BE49-F238E27FC236}">
                <a16:creationId xmlns:a16="http://schemas.microsoft.com/office/drawing/2014/main" id="{F1192463-967D-462D-B1AA-C8B3455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149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3" name="row_text_4_2">
            <a:extLst xmlns:a="http://schemas.openxmlformats.org/drawingml/2006/main">
              <a:ext uri="{FF2B5EF4-FFF2-40B4-BE49-F238E27FC236}">
                <a16:creationId xmlns:a16="http://schemas.microsoft.com/office/drawing/2014/main" id="{FD1A14E1-41C3-4732-BF4B-61E62A77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0482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环境如何服务 release 证据？</a:t>
            </a:r>
          </a:p>
        </p:txBody>
      </p:sp>
      <p:sp>
        <p:nvSpPr>
          <p:cNvPr id="44" name="synthesis_rule">
            <a:extLst xmlns:a="http://schemas.openxmlformats.org/drawingml/2006/main">
              <a:ext uri="{FF2B5EF4-FFF2-40B4-BE49-F238E27FC236}">
                <a16:creationId xmlns:a16="http://schemas.microsoft.com/office/drawing/2014/main" id="{48891188-9149-4707-BB08-102FB8B8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7690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5" name="synthesis">
            <a:extLst xmlns:a="http://schemas.openxmlformats.org/drawingml/2006/main">
              <a:ext uri="{FF2B5EF4-FFF2-40B4-BE49-F238E27FC236}">
                <a16:creationId xmlns:a16="http://schemas.microsoft.com/office/drawing/2014/main" id="{4A077536-49BA-421F-9883-0B56FE27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293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候选供应越强，selection、split、fallback 和 future validation 的编译规则越需要单独研究。</a:t>
            </a:r>
          </a:p>
        </p:txBody>
      </p:sp>
    </p:spTree>
    <p:extLst>
      <p:ext uri="{BB962C8B-B14F-4D97-AF65-F5344CB8AC3E}">
        <p14:creationId xmlns:p14="http://schemas.microsoft.com/office/powerpoint/2010/main" val="11987947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765EB8E-B021-40E0-8E1A-AD298CF2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7531D614-CDF6-4554-ABA3-93344348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6D57C770-55F2-4788-AA65-D6F1AF63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35B9237C-0035-4975-A2C4-FA19FC0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7350C806-E5A9-40E3-946D-901358CC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北极星：outcome-unseen 预测效度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B25DB52-42A7-44AE-8AD6-32542D0A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冻结 release 要比简单替代方案更好地估计未来仓库表现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008A571D-3848-4687-AF2F-E889B0BD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formula_panel">
            <a:extLst xmlns:a="http://schemas.openxmlformats.org/drawingml/2006/main">
              <a:ext uri="{FF2B5EF4-FFF2-40B4-BE49-F238E27FC236}">
                <a16:creationId xmlns:a16="http://schemas.microsoft.com/office/drawing/2014/main" id="{B8C1E809-2460-4EFD-B986-AAF664AC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5715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formula">
            <a:extLst xmlns:a="http://schemas.openxmlformats.org/drawingml/2006/main">
              <a:ext uri="{FF2B5EF4-FFF2-40B4-BE49-F238E27FC236}">
                <a16:creationId xmlns:a16="http://schemas.microsoft.com/office/drawing/2014/main" id="{5947CEFE-B73A-41AC-AA84-A3ABF30E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B42"/>
                </a:solidFill>
                <a:latin typeface="PingFang SC"/>
                <a:ea typeface="PingFang SC"/>
                <a:cs typeface="PingFang SC"/>
              </a:defRPr>
            </a:pPr>
            <a:r>
              <a:rPr sz="2025">
                <a:solidFill>
                  <a:srgbClr val="153B42"/>
                </a:solidFill>
                <a:latin typeface="PingFang SC"/>
                <a:ea typeface="PingFang SC"/>
                <a:cs typeface="PingFang SC"/>
              </a:rPr>
              <a:t>W_r(a) = E[success(a, future target-repo work)]</a:t>
            </a:r>
          </a:p>
        </p:txBody>
      </p:sp>
      <p:sp>
        <p:nvSpPr>
          <p:cNvPr id="10" name="formula_note">
            <a:extLst xmlns:a="http://schemas.openxmlformats.org/drawingml/2006/main">
              <a:ext uri="{FF2B5EF4-FFF2-40B4-BE49-F238E27FC236}">
                <a16:creationId xmlns:a16="http://schemas.microsoft.com/office/drawing/2014/main" id="{63922666-C6BC-44A9-8740-AD5925F9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71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W_r(a) 表示 ACUT 在未来目标仓库工作中的成功率。</a:t>
            </a:r>
          </a:p>
        </p:txBody>
      </p:sp>
      <p:sp>
        <p:nvSpPr>
          <p:cNvPr id="11" name="mae_metric_fill">
            <a:extLst xmlns:a="http://schemas.openxmlformats.org/drawingml/2006/main">
              <a:ext uri="{FF2B5EF4-FFF2-40B4-BE49-F238E27FC236}">
                <a16:creationId xmlns:a16="http://schemas.microsoft.com/office/drawing/2014/main" id="{47515647-6AF7-48DD-86AB-3CEBC668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2857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2" name="mae_metric_rule">
            <a:extLst xmlns:a="http://schemas.openxmlformats.org/drawingml/2006/main">
              <a:ext uri="{FF2B5EF4-FFF2-40B4-BE49-F238E27FC236}">
                <a16:creationId xmlns:a16="http://schemas.microsoft.com/office/drawing/2014/main" id="{8F3503F9-2794-4F5B-9937-C49F403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3" name="mae_metric_label">
            <a:extLst xmlns:a="http://schemas.openxmlformats.org/drawingml/2006/main">
              <a:ext uri="{FF2B5EF4-FFF2-40B4-BE49-F238E27FC236}">
                <a16:creationId xmlns:a16="http://schemas.microsoft.com/office/drawing/2014/main" id="{132F2F70-B9D1-4D14-931E-7F65A3A6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43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Primary metric</a:t>
            </a:r>
          </a:p>
        </p:txBody>
      </p:sp>
      <p:sp>
        <p:nvSpPr>
          <p:cNvPr id="14" name="mae_metric_value">
            <a:extLst xmlns:a="http://schemas.openxmlformats.org/drawingml/2006/main">
              <a:ext uri="{FF2B5EF4-FFF2-40B4-BE49-F238E27FC236}">
                <a16:creationId xmlns:a16="http://schemas.microsoft.com/office/drawing/2014/main" id="{BF7178A2-0CF2-43F3-AD7C-27291415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MAE</a:t>
            </a:r>
          </a:p>
        </p:txBody>
      </p:sp>
      <p:sp>
        <p:nvSpPr>
          <p:cNvPr id="15" name="mae_metric_note">
            <a:extLst xmlns:a="http://schemas.openxmlformats.org/drawingml/2006/main">
              <a:ext uri="{FF2B5EF4-FFF2-40B4-BE49-F238E27FC236}">
                <a16:creationId xmlns:a16="http://schemas.microsoft.com/office/drawing/2014/main" id="{8C9D9456-7298-4D30-8036-36D2F4E0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平均预测误差；越低，benchmark estimate 越接近 observed future-work performance。</a:t>
            </a:r>
          </a:p>
        </p:txBody>
      </p:sp>
      <p:sp>
        <p:nvSpPr>
          <p:cNvPr id="16" name="scope_fill">
            <a:extLst xmlns:a="http://schemas.openxmlformats.org/drawingml/2006/main">
              <a:ext uri="{FF2B5EF4-FFF2-40B4-BE49-F238E27FC236}">
                <a16:creationId xmlns:a16="http://schemas.microsoft.com/office/drawing/2014/main" id="{221858F9-2329-48B5-A0A5-A5818DA2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3124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7" name="scope_accent">
            <a:extLst xmlns:a="http://schemas.openxmlformats.org/drawingml/2006/main">
              <a:ext uri="{FF2B5EF4-FFF2-40B4-BE49-F238E27FC236}">
                <a16:creationId xmlns:a16="http://schemas.microsoft.com/office/drawing/2014/main" id="{10C79174-9DF5-43D0-8A89-F788A9A5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8" name="scope_title">
            <a:extLst xmlns:a="http://schemas.openxmlformats.org/drawingml/2006/main">
              <a:ext uri="{FF2B5EF4-FFF2-40B4-BE49-F238E27FC236}">
                <a16:creationId xmlns:a16="http://schemas.microsoft.com/office/drawing/2014/main" id="{B7E4D25E-B1D4-46B7-93AE-72A97801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Formal scope</a:t>
            </a:r>
          </a:p>
        </p:txBody>
      </p:sp>
      <p:sp>
        <p:nvSpPr>
          <p:cNvPr id="19" name="scope_body">
            <a:extLst xmlns:a="http://schemas.openxmlformats.org/drawingml/2006/main">
              <a:ext uri="{FF2B5EF4-FFF2-40B4-BE49-F238E27FC236}">
                <a16:creationId xmlns:a16="http://schemas.microsoft.com/office/drawing/2014/main" id="{838DCAE7-FA82-4293-B6F6-24872B06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正式声明只属于 frozen scope，并由固定 ACUT、task supply、adapter、metric 和 invalid-cell policy 约束。</a:t>
            </a:r>
          </a:p>
        </p:txBody>
      </p:sp>
      <p:sp>
        <p:nvSpPr>
          <p:cNvPr id="20" name="route_fill">
            <a:extLst xmlns:a="http://schemas.openxmlformats.org/drawingml/2006/main">
              <a:ext uri="{FF2B5EF4-FFF2-40B4-BE49-F238E27FC236}">
                <a16:creationId xmlns:a16="http://schemas.microsoft.com/office/drawing/2014/main" id="{53E03275-9F66-487A-B612-E18A5FEE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95750"/>
            <a:ext cx="3124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1" name="route_accent">
            <a:extLst xmlns:a="http://schemas.openxmlformats.org/drawingml/2006/main">
              <a:ext uri="{FF2B5EF4-FFF2-40B4-BE49-F238E27FC236}">
                <a16:creationId xmlns:a16="http://schemas.microsoft.com/office/drawing/2014/main" id="{91A1799C-3992-4213-AD17-BBB5809E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95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2" name="route_title">
            <a:extLst xmlns:a="http://schemas.openxmlformats.org/drawingml/2006/main">
              <a:ext uri="{FF2B5EF4-FFF2-40B4-BE49-F238E27FC236}">
                <a16:creationId xmlns:a16="http://schemas.microsoft.com/office/drawing/2014/main" id="{2F54DF34-4D38-46AD-BD5E-2FC4EACC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481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Route finding</a:t>
            </a:r>
          </a:p>
        </p:txBody>
      </p:sp>
      <p:sp>
        <p:nvSpPr>
          <p:cNvPr id="23" name="route_body">
            <a:extLst xmlns:a="http://schemas.openxmlformats.org/drawingml/2006/main">
              <a:ext uri="{FF2B5EF4-FFF2-40B4-BE49-F238E27FC236}">
                <a16:creationId xmlns:a16="http://schemas.microsoft.com/office/drawing/2014/main" id="{7B3787F1-2A61-4CA1-B35E-765F43B1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720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Retrospective replay 用于路线发现、baseline stress testing 和 debug。</a:t>
            </a:r>
          </a:p>
        </p:txBody>
      </p:sp>
      <p:sp>
        <p:nvSpPr>
          <p:cNvPr id="24" name="boundary_fill">
            <a:extLst xmlns:a="http://schemas.openxmlformats.org/drawingml/2006/main">
              <a:ext uri="{FF2B5EF4-FFF2-40B4-BE49-F238E27FC236}">
                <a16:creationId xmlns:a16="http://schemas.microsoft.com/office/drawing/2014/main" id="{E5C9A311-F753-49EF-BC45-09933A11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25" name="boundary_accent">
            <a:extLst xmlns:a="http://schemas.openxmlformats.org/drawingml/2006/main">
              <a:ext uri="{FF2B5EF4-FFF2-40B4-BE49-F238E27FC236}">
                <a16:creationId xmlns:a16="http://schemas.microsoft.com/office/drawing/2014/main" id="{DD5DD491-252E-4D5D-8C94-C03EDAC2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26" name="boundary_title">
            <a:extLst xmlns:a="http://schemas.openxmlformats.org/drawingml/2006/main">
              <a:ext uri="{FF2B5EF4-FFF2-40B4-BE49-F238E27FC236}">
                <a16:creationId xmlns:a16="http://schemas.microsoft.com/office/drawing/2014/main" id="{73841186-B561-481F-A225-EDCB3AA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48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Boundary</a:t>
            </a:r>
          </a:p>
        </p:txBody>
      </p:sp>
      <p:sp>
        <p:nvSpPr>
          <p:cNvPr id="27" name="boundary_body">
            <a:extLst xmlns:a="http://schemas.openxmlformats.org/drawingml/2006/main">
              <a:ext uri="{FF2B5EF4-FFF2-40B4-BE49-F238E27FC236}">
                <a16:creationId xmlns:a16="http://schemas.microsoft.com/office/drawing/2014/main" id="{2E7A7C75-64CD-4B9C-91FB-EF073EEF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720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当前材料保留预测效度尚未建立的边界。</a:t>
            </a:r>
          </a:p>
        </p:txBody>
      </p:sp>
      <p:sp>
        <p:nvSpPr>
          <p:cNvPr id="28" name="bottom_rule">
            <a:extLst xmlns:a="http://schemas.openxmlformats.org/drawingml/2006/main">
              <a:ext uri="{FF2B5EF4-FFF2-40B4-BE49-F238E27FC236}">
                <a16:creationId xmlns:a16="http://schemas.microsoft.com/office/drawing/2014/main" id="{77E2E261-CF00-4470-BFDB-9A7EEF6A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9" name="role_note">
            <a:extLst xmlns:a="http://schemas.openxmlformats.org/drawingml/2006/main">
              <a:ext uri="{FF2B5EF4-FFF2-40B4-BE49-F238E27FC236}">
                <a16:creationId xmlns:a16="http://schemas.microsoft.com/office/drawing/2014/main" id="{B141834B-525C-4BEA-814A-8568D8B9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864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预测目标聚焦 estimand 和 MAE；未来验证路线见研究路线页。</a:t>
            </a:r>
          </a:p>
        </p:txBody>
      </p:sp>
    </p:spTree>
    <p:extLst>
      <p:ext uri="{BB962C8B-B14F-4D97-AF65-F5344CB8AC3E}">
        <p14:creationId xmlns:p14="http://schemas.microsoft.com/office/powerpoint/2010/main" val="8240862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82EA772-5A88-499D-95DD-9E9CD0E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DE6E44E8-81C7-4D43-94A8-08605D19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ED0D9BED-4B35-44E0-AA34-23FC4B70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A1F22266-537A-408B-94FA-FFF4CC87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ED917201-723E-4897-8333-D2595081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把候选任务编译成可审计 release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8FD8BF9-3652-4E1E-8659-34E6F8D7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从 supply 到 validation 的每一层都影响未来估计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FED60AA0-4EB0-4C7A-B922-E693A7EA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compiler_stage_1_fill">
            <a:extLst xmlns:a="http://schemas.openxmlformats.org/drawingml/2006/main">
              <a:ext uri="{FF2B5EF4-FFF2-40B4-BE49-F238E27FC236}">
                <a16:creationId xmlns:a16="http://schemas.microsoft.com/office/drawing/2014/main" id="{E150FF4B-ADD2-4C7B-A485-412D358B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1428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9" name="compiler_stage_1_label">
            <a:extLst xmlns:a="http://schemas.openxmlformats.org/drawingml/2006/main">
              <a:ext uri="{FF2B5EF4-FFF2-40B4-BE49-F238E27FC236}">
                <a16:creationId xmlns:a16="http://schemas.microsoft.com/office/drawing/2014/main" id="{255D3258-0F10-4547-836D-84F311C6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1  候选供应</a:t>
            </a:r>
          </a:p>
        </p:txBody>
      </p:sp>
      <p:sp>
        <p:nvSpPr>
          <p:cNvPr id="10" name="compiler_stage_1_body">
            <a:extLst xmlns:a="http://schemas.openxmlformats.org/drawingml/2006/main">
              <a:ext uri="{FF2B5EF4-FFF2-40B4-BE49-F238E27FC236}">
                <a16:creationId xmlns:a16="http://schemas.microsoft.com/office/drawing/2014/main" id="{6F3E9CF8-8628-46FB-AFB8-37CADCA1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112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repo history / public context / generated tasks</a:t>
            </a:r>
          </a:p>
        </p:txBody>
      </p:sp>
      <p:sp>
        <p:nvSpPr>
          <p:cNvPr id="11" name="stage_link_0">
            <a:extLst xmlns:a="http://schemas.openxmlformats.org/drawingml/2006/main">
              <a:ext uri="{FF2B5EF4-FFF2-40B4-BE49-F238E27FC236}">
                <a16:creationId xmlns:a16="http://schemas.microsoft.com/office/drawing/2014/main" id="{2EA5CD46-AF5C-487B-BE10-2650081D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00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2" name="compiler_stage_2_fill">
            <a:extLst xmlns:a="http://schemas.openxmlformats.org/drawingml/2006/main">
              <a:ext uri="{FF2B5EF4-FFF2-40B4-BE49-F238E27FC236}">
                <a16:creationId xmlns:a16="http://schemas.microsoft.com/office/drawing/2014/main" id="{096FAC0A-DB91-4698-870B-367B4E34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1428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3" name="compiler_stage_2_label">
            <a:extLst xmlns:a="http://schemas.openxmlformats.org/drawingml/2006/main">
              <a:ext uri="{FF2B5EF4-FFF2-40B4-BE49-F238E27FC236}">
                <a16:creationId xmlns:a16="http://schemas.microsoft.com/office/drawing/2014/main" id="{72D099FF-279B-44A0-9449-E2874F87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2  任务认证</a:t>
            </a:r>
          </a:p>
        </p:txBody>
      </p:sp>
      <p:sp>
        <p:nvSpPr>
          <p:cNvPr id="14" name="compiler_stage_2_body">
            <a:extLst xmlns:a="http://schemas.openxmlformats.org/drawingml/2006/main">
              <a:ext uri="{FF2B5EF4-FFF2-40B4-BE49-F238E27FC236}">
                <a16:creationId xmlns:a16="http://schemas.microsoft.com/office/drawing/2014/main" id="{994698C7-A155-43CA-86DF-F0F21DE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112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replayability / oracle / leakage / source quality</a:t>
            </a:r>
          </a:p>
        </p:txBody>
      </p:sp>
      <p:sp>
        <p:nvSpPr>
          <p:cNvPr id="15" name="stage_link_1">
            <a:extLst xmlns:a="http://schemas.openxmlformats.org/drawingml/2006/main">
              <a:ext uri="{FF2B5EF4-FFF2-40B4-BE49-F238E27FC236}">
                <a16:creationId xmlns:a16="http://schemas.microsoft.com/office/drawing/2014/main" id="{09BED878-9CA6-4C33-8ACB-32B020D7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6" name="compiler_stage_3_fill">
            <a:extLst xmlns:a="http://schemas.openxmlformats.org/drawingml/2006/main">
              <a:ext uri="{FF2B5EF4-FFF2-40B4-BE49-F238E27FC236}">
                <a16:creationId xmlns:a16="http://schemas.microsoft.com/office/drawing/2014/main" id="{B4875FC6-7DAA-439A-8FA3-A66BDCAF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1428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7" name="compiler_stage_3_label">
            <a:extLst xmlns:a="http://schemas.openxmlformats.org/drawingml/2006/main">
              <a:ext uri="{FF2B5EF4-FFF2-40B4-BE49-F238E27FC236}">
                <a16:creationId xmlns:a16="http://schemas.microsoft.com/office/drawing/2014/main" id="{03B6C072-547D-4D05-9CD0-AFFC4BF5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3  目标画像</a:t>
            </a:r>
          </a:p>
        </p:txBody>
      </p:sp>
      <p:sp>
        <p:nvSpPr>
          <p:cNvPr id="18" name="compiler_stage_3_body">
            <a:extLst xmlns:a="http://schemas.openxmlformats.org/drawingml/2006/main">
              <a:ext uri="{FF2B5EF4-FFF2-40B4-BE49-F238E27FC236}">
                <a16:creationId xmlns:a16="http://schemas.microsoft.com/office/drawing/2014/main" id="{45E1478E-1BF5-49F5-B34D-AE7EAFE4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28900"/>
            <a:ext cx="112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strata / support / uncertainty</a:t>
            </a:r>
          </a:p>
        </p:txBody>
      </p:sp>
      <p:sp>
        <p:nvSpPr>
          <p:cNvPr id="19" name="stage_link_2">
            <a:extLst xmlns:a="http://schemas.openxmlformats.org/drawingml/2006/main">
              <a:ext uri="{FF2B5EF4-FFF2-40B4-BE49-F238E27FC236}">
                <a16:creationId xmlns:a16="http://schemas.microsoft.com/office/drawing/2014/main" id="{40B417BB-592D-4385-A459-E2079387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0" name="compiler_stage_4_fill">
            <a:extLst xmlns:a="http://schemas.openxmlformats.org/drawingml/2006/main">
              <a:ext uri="{FF2B5EF4-FFF2-40B4-BE49-F238E27FC236}">
                <a16:creationId xmlns:a16="http://schemas.microsoft.com/office/drawing/2014/main" id="{AA9978A6-195F-4519-A2CC-FA92483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1428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1" name="compiler_stage_4_label">
            <a:extLst xmlns:a="http://schemas.openxmlformats.org/drawingml/2006/main">
              <a:ext uri="{FF2B5EF4-FFF2-40B4-BE49-F238E27FC236}">
                <a16:creationId xmlns:a16="http://schemas.microsoft.com/office/drawing/2014/main" id="{7854AE3A-E744-408F-BFC6-F559F360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4  组装规则</a:t>
            </a:r>
          </a:p>
        </p:txBody>
      </p:sp>
      <p:sp>
        <p:nvSpPr>
          <p:cNvPr id="22" name="compiler_stage_4_body">
            <a:extLst xmlns:a="http://schemas.openxmlformats.org/drawingml/2006/main">
              <a:ext uri="{FF2B5EF4-FFF2-40B4-BE49-F238E27FC236}">
                <a16:creationId xmlns:a16="http://schemas.microsoft.com/office/drawing/2014/main" id="{2C1D578B-FF60-451D-B0C3-13454AC4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112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selection / split / fallback</a:t>
            </a:r>
          </a:p>
        </p:txBody>
      </p:sp>
      <p:sp>
        <p:nvSpPr>
          <p:cNvPr id="23" name="stage_link_3">
            <a:extLst xmlns:a="http://schemas.openxmlformats.org/drawingml/2006/main">
              <a:ext uri="{FF2B5EF4-FFF2-40B4-BE49-F238E27FC236}">
                <a16:creationId xmlns:a16="http://schemas.microsoft.com/office/drawing/2014/main" id="{3C8E2D5C-E4A9-487A-B813-E6340F0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4" name="compiler_stage_5_fill">
            <a:extLst xmlns:a="http://schemas.openxmlformats.org/drawingml/2006/main">
              <a:ext uri="{FF2B5EF4-FFF2-40B4-BE49-F238E27FC236}">
                <a16:creationId xmlns:a16="http://schemas.microsoft.com/office/drawing/2014/main" id="{F489C8D5-0588-478C-B442-EBB231D6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1428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25" name="compiler_stage_5_label">
            <a:extLst xmlns:a="http://schemas.openxmlformats.org/drawingml/2006/main">
              <a:ext uri="{FF2B5EF4-FFF2-40B4-BE49-F238E27FC236}">
                <a16:creationId xmlns:a16="http://schemas.microsoft.com/office/drawing/2014/main" id="{356F7AF0-FB8C-405B-A3FD-2D1FB3FD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5  冻结 release</a:t>
            </a:r>
          </a:p>
        </p:txBody>
      </p:sp>
      <p:sp>
        <p:nvSpPr>
          <p:cNvPr id="26" name="compiler_stage_5_body">
            <a:extLst xmlns:a="http://schemas.openxmlformats.org/drawingml/2006/main">
              <a:ext uri="{FF2B5EF4-FFF2-40B4-BE49-F238E27FC236}">
                <a16:creationId xmlns:a16="http://schemas.microsoft.com/office/drawing/2014/main" id="{243627F0-B1D4-47C6-A741-53FC6A0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112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manifest / task set / ACUT boundary</a:t>
            </a:r>
          </a:p>
        </p:txBody>
      </p:sp>
      <p:sp>
        <p:nvSpPr>
          <p:cNvPr id="27" name="stage_link_4">
            <a:extLst xmlns:a="http://schemas.openxmlformats.org/drawingml/2006/main">
              <a:ext uri="{FF2B5EF4-FFF2-40B4-BE49-F238E27FC236}">
                <a16:creationId xmlns:a16="http://schemas.microsoft.com/office/drawing/2014/main" id="{C2F75677-01CF-4CF8-A756-9785CCF3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003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8" name="compiler_stage_6_fill">
            <a:extLst xmlns:a="http://schemas.openxmlformats.org/drawingml/2006/main">
              <a:ext uri="{FF2B5EF4-FFF2-40B4-BE49-F238E27FC236}">
                <a16:creationId xmlns:a16="http://schemas.microsoft.com/office/drawing/2014/main" id="{7C0E03BF-7B4D-4375-B05C-49033382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76450"/>
            <a:ext cx="1428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29" name="compiler_stage_6_label">
            <a:extLst xmlns:a="http://schemas.openxmlformats.org/drawingml/2006/main">
              <a:ext uri="{FF2B5EF4-FFF2-40B4-BE49-F238E27FC236}">
                <a16:creationId xmlns:a16="http://schemas.microsoft.com/office/drawing/2014/main" id="{30878034-ABFE-433D-903E-10ABC9B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6  score / refresh</a:t>
            </a:r>
          </a:p>
        </p:txBody>
      </p:sp>
      <p:sp>
        <p:nvSpPr>
          <p:cNvPr id="30" name="compiler_stage_6_body">
            <a:extLst xmlns:a="http://schemas.openxmlformats.org/drawingml/2006/main">
              <a:ext uri="{FF2B5EF4-FFF2-40B4-BE49-F238E27FC236}">
                <a16:creationId xmlns:a16="http://schemas.microsoft.com/office/drawing/2014/main" id="{030A19CB-1D5F-4A9C-9599-347B903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12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MAE / baseline / future validation</a:t>
            </a:r>
          </a:p>
        </p:txBody>
      </p:sp>
      <p:sp>
        <p:nvSpPr>
          <p:cNvPr id="31" name="workflow_copy">
            <a:extLst xmlns:a="http://schemas.openxmlformats.org/drawingml/2006/main">
              <a:ext uri="{FF2B5EF4-FFF2-40B4-BE49-F238E27FC236}">
                <a16:creationId xmlns:a16="http://schemas.microsoft.com/office/drawing/2014/main" id="{B84B5723-D82C-4458-8470-6C1A809C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候选供应经过认证、目标画像和组装规则，形成带 task set、split、fallback、ACUT boundary 和验证规则的 release。</a:t>
            </a:r>
          </a:p>
        </p:txBody>
      </p:sp>
      <p:sp>
        <p:nvSpPr>
          <p:cNvPr id="32" name="cert_1_fill">
            <a:extLst xmlns:a="http://schemas.openxmlformats.org/drawingml/2006/main">
              <a:ext uri="{FF2B5EF4-FFF2-40B4-BE49-F238E27FC236}">
                <a16:creationId xmlns:a16="http://schemas.microsoft.com/office/drawing/2014/main" id="{826383D0-A3AF-42CB-9A46-4814744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33" name="cert_1_label">
            <a:extLst xmlns:a="http://schemas.openxmlformats.org/drawingml/2006/main">
              <a:ext uri="{FF2B5EF4-FFF2-40B4-BE49-F238E27FC236}">
                <a16:creationId xmlns:a16="http://schemas.microsoft.com/office/drawing/2014/main" id="{02A33635-442A-4FFA-A84C-C0EAB2E3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673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replayability</a:t>
            </a:r>
          </a:p>
        </p:txBody>
      </p:sp>
      <p:sp>
        <p:nvSpPr>
          <p:cNvPr id="34" name="cert_2_fill">
            <a:extLst xmlns:a="http://schemas.openxmlformats.org/drawingml/2006/main">
              <a:ext uri="{FF2B5EF4-FFF2-40B4-BE49-F238E27FC236}">
                <a16:creationId xmlns:a16="http://schemas.microsoft.com/office/drawing/2014/main" id="{8FE70AD7-3C1C-44D0-9E3C-E1A82599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006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35" name="cert_2_label">
            <a:extLst xmlns:a="http://schemas.openxmlformats.org/drawingml/2006/main">
              <a:ext uri="{FF2B5EF4-FFF2-40B4-BE49-F238E27FC236}">
                <a16:creationId xmlns:a16="http://schemas.microsoft.com/office/drawing/2014/main" id="{FB2D62CE-5E92-4B2E-8539-25682C43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673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oracle</a:t>
            </a:r>
          </a:p>
        </p:txBody>
      </p:sp>
      <p:sp>
        <p:nvSpPr>
          <p:cNvPr id="36" name="cert_3_fill">
            <a:extLst xmlns:a="http://schemas.openxmlformats.org/drawingml/2006/main">
              <a:ext uri="{FF2B5EF4-FFF2-40B4-BE49-F238E27FC236}">
                <a16:creationId xmlns:a16="http://schemas.microsoft.com/office/drawing/2014/main" id="{A8AF2747-ED76-408A-8013-FADB8D76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006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37" name="cert_3_label">
            <a:extLst xmlns:a="http://schemas.openxmlformats.org/drawingml/2006/main">
              <a:ext uri="{FF2B5EF4-FFF2-40B4-BE49-F238E27FC236}">
                <a16:creationId xmlns:a16="http://schemas.microsoft.com/office/drawing/2014/main" id="{DB785D37-F90D-45AD-9137-5B4C8A35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673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leakage</a:t>
            </a:r>
          </a:p>
        </p:txBody>
      </p:sp>
      <p:sp>
        <p:nvSpPr>
          <p:cNvPr id="38" name="cert_4_fill">
            <a:extLst xmlns:a="http://schemas.openxmlformats.org/drawingml/2006/main">
              <a:ext uri="{FF2B5EF4-FFF2-40B4-BE49-F238E27FC236}">
                <a16:creationId xmlns:a16="http://schemas.microsoft.com/office/drawing/2014/main" id="{6BB05227-253F-4E1A-9F50-EED11A53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00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39" name="cert_4_label">
            <a:extLst xmlns:a="http://schemas.openxmlformats.org/drawingml/2006/main">
              <a:ext uri="{FF2B5EF4-FFF2-40B4-BE49-F238E27FC236}">
                <a16:creationId xmlns:a16="http://schemas.microsoft.com/office/drawing/2014/main" id="{57E742F0-8C90-4AE0-B4D4-FD82D930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673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source quality</a:t>
            </a:r>
          </a:p>
        </p:txBody>
      </p:sp>
      <p:sp>
        <p:nvSpPr>
          <p:cNvPr id="40" name="cert_5_fill">
            <a:extLst xmlns:a="http://schemas.openxmlformats.org/drawingml/2006/main">
              <a:ext uri="{FF2B5EF4-FFF2-40B4-BE49-F238E27FC236}">
                <a16:creationId xmlns:a16="http://schemas.microsoft.com/office/drawing/2014/main" id="{F436167A-207D-4EF1-9392-53FC9C70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41" name="cert_5_label">
            <a:extLst xmlns:a="http://schemas.openxmlformats.org/drawingml/2006/main">
              <a:ext uri="{FF2B5EF4-FFF2-40B4-BE49-F238E27FC236}">
                <a16:creationId xmlns:a16="http://schemas.microsoft.com/office/drawing/2014/main" id="{C75FE581-BB54-4FA8-B730-716164B8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673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environment</a:t>
            </a:r>
          </a:p>
        </p:txBody>
      </p:sp>
      <p:sp>
        <p:nvSpPr>
          <p:cNvPr id="42" name="cert_6_fill">
            <a:extLst xmlns:a="http://schemas.openxmlformats.org/drawingml/2006/main">
              <a:ext uri="{FF2B5EF4-FFF2-40B4-BE49-F238E27FC236}">
                <a16:creationId xmlns:a16="http://schemas.microsoft.com/office/drawing/2014/main" id="{D8C79D18-2129-445D-B0CF-F7FFD166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006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43" name="cert_6_label">
            <a:extLst xmlns:a="http://schemas.openxmlformats.org/drawingml/2006/main">
              <a:ext uri="{FF2B5EF4-FFF2-40B4-BE49-F238E27FC236}">
                <a16:creationId xmlns:a16="http://schemas.microsoft.com/office/drawing/2014/main" id="{E8629BD4-2ABC-4337-AEBD-09DB90A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673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ambiguity</a:t>
            </a:r>
          </a:p>
        </p:txBody>
      </p:sp>
      <p:sp>
        <p:nvSpPr>
          <p:cNvPr id="44" name="workflow_uniqueness">
            <a:extLst xmlns:a="http://schemas.openxmlformats.org/drawingml/2006/main">
              <a:ext uri="{FF2B5EF4-FFF2-40B4-BE49-F238E27FC236}">
                <a16:creationId xmlns:a16="http://schemas.microsoft.com/office/drawing/2014/main" id="{EE797043-DECF-4AC9-9301-97BCD8A8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编译流程在这里集中呈现，目标、边界和验证分别展开。</a:t>
            </a:r>
          </a:p>
        </p:txBody>
      </p:sp>
    </p:spTree>
    <p:extLst>
      <p:ext uri="{BB962C8B-B14F-4D97-AF65-F5344CB8AC3E}">
        <p14:creationId xmlns:p14="http://schemas.microsoft.com/office/powerpoint/2010/main" val="384857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584C444-D179-4FFB-9B65-E7B6EAA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6983963D-5EC9-403E-A811-24889235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849214D6-47F1-402D-B7EF-29B36001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DC3A17E4-675E-4435-8896-D40926BC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执行边界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86E38D3F-F7FA-4D8E-B987-44D2DB77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边界让 benchmark 不变成 agent harness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B551599-EEBB-49D5-BAB5-FDD16825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solver workspace 和 verifier workspace 分离，hidden oracle 只在验证侧出现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F628C630-3116-4300-ACDD-587B30CD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solver_fill">
            <a:extLst xmlns:a="http://schemas.openxmlformats.org/drawingml/2006/main">
              <a:ext uri="{FF2B5EF4-FFF2-40B4-BE49-F238E27FC236}">
                <a16:creationId xmlns:a16="http://schemas.microsoft.com/office/drawing/2014/main" id="{C21AB746-3F5F-449F-B1CD-4424AD4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266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9" name="solver_accent">
            <a:extLst xmlns:a="http://schemas.openxmlformats.org/drawingml/2006/main">
              <a:ext uri="{FF2B5EF4-FFF2-40B4-BE49-F238E27FC236}">
                <a16:creationId xmlns:a16="http://schemas.microsoft.com/office/drawing/2014/main" id="{35D70575-056B-465D-A9F3-E6F9C76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0" name="solver_title">
            <a:extLst xmlns:a="http://schemas.openxmlformats.org/drawingml/2006/main">
              <a:ext uri="{FF2B5EF4-FFF2-40B4-BE49-F238E27FC236}">
                <a16:creationId xmlns:a16="http://schemas.microsoft.com/office/drawing/2014/main" id="{C6655C48-436E-4E68-A76F-4B442EBA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Solver workspace</a:t>
            </a:r>
          </a:p>
        </p:txBody>
      </p:sp>
      <p:sp>
        <p:nvSpPr>
          <p:cNvPr id="11" name="solver_body">
            <a:extLst xmlns:a="http://schemas.openxmlformats.org/drawingml/2006/main">
              <a:ext uri="{FF2B5EF4-FFF2-40B4-BE49-F238E27FC236}">
                <a16:creationId xmlns:a16="http://schemas.microsoft.com/office/drawing/2014/main" id="{1F5FCA8E-6AC0-4A61-A937-52F65306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71750"/>
            <a:ext cx="2362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allowed context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solver-visible task statement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ACUT harness owns search / edit / tools</a:t>
            </a:r>
          </a:p>
        </p:txBody>
      </p:sp>
      <p:sp>
        <p:nvSpPr>
          <p:cNvPr id="12" name="diff_fill">
            <a:extLst xmlns:a="http://schemas.openxmlformats.org/drawingml/2006/main">
              <a:ext uri="{FF2B5EF4-FFF2-40B4-BE49-F238E27FC236}">
                <a16:creationId xmlns:a16="http://schemas.microsoft.com/office/drawing/2014/main" id="{2050285D-C78C-4466-AB00-D4CC2BF9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2000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3" name="diff_accent">
            <a:extLst xmlns:a="http://schemas.openxmlformats.org/drawingml/2006/main">
              <a:ext uri="{FF2B5EF4-FFF2-40B4-BE49-F238E27FC236}">
                <a16:creationId xmlns:a16="http://schemas.microsoft.com/office/drawing/2014/main" id="{3255358C-D75F-40DB-841C-A68E1D8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4" name="diff_title">
            <a:extLst xmlns:a="http://schemas.openxmlformats.org/drawingml/2006/main">
              <a:ext uri="{FF2B5EF4-FFF2-40B4-BE49-F238E27FC236}">
                <a16:creationId xmlns:a16="http://schemas.microsoft.com/office/drawing/2014/main" id="{6809CBF6-C702-42B9-B015-25194410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captured diff</a:t>
            </a:r>
          </a:p>
        </p:txBody>
      </p:sp>
      <p:sp>
        <p:nvSpPr>
          <p:cNvPr id="15" name="diff_body">
            <a:extLst xmlns:a="http://schemas.openxmlformats.org/drawingml/2006/main">
              <a:ext uri="{FF2B5EF4-FFF2-40B4-BE49-F238E27FC236}">
                <a16:creationId xmlns:a16="http://schemas.microsoft.com/office/drawing/2014/main" id="{B4CB274A-BF1B-471C-9DB8-0533DE7D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1695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final workspace change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benchmark captures the diff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no private oracle in solver</a:t>
            </a:r>
          </a:p>
        </p:txBody>
      </p:sp>
      <p:sp>
        <p:nvSpPr>
          <p:cNvPr id="16" name="verifier_fill">
            <a:extLst xmlns:a="http://schemas.openxmlformats.org/drawingml/2006/main">
              <a:ext uri="{FF2B5EF4-FFF2-40B4-BE49-F238E27FC236}">
                <a16:creationId xmlns:a16="http://schemas.microsoft.com/office/drawing/2014/main" id="{B19EAA6D-6D23-4EEC-97E7-DF843658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66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7" name="verifier_accent">
            <a:extLst xmlns:a="http://schemas.openxmlformats.org/drawingml/2006/main">
              <a:ext uri="{FF2B5EF4-FFF2-40B4-BE49-F238E27FC236}">
                <a16:creationId xmlns:a16="http://schemas.microsoft.com/office/drawing/2014/main" id="{C951D4D5-28B4-4205-AC65-02B2C510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8" name="verifier_title">
            <a:extLst xmlns:a="http://schemas.openxmlformats.org/drawingml/2006/main">
              <a:ext uri="{FF2B5EF4-FFF2-40B4-BE49-F238E27FC236}">
                <a16:creationId xmlns:a16="http://schemas.microsoft.com/office/drawing/2014/main" id="{E463D61A-4543-4905-B664-B7D335FC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Verifier workspace</a:t>
            </a:r>
          </a:p>
        </p:txBody>
      </p:sp>
      <p:sp>
        <p:nvSpPr>
          <p:cNvPr id="19" name="verifier_body">
            <a:extLst xmlns:a="http://schemas.openxmlformats.org/drawingml/2006/main">
              <a:ext uri="{FF2B5EF4-FFF2-40B4-BE49-F238E27FC236}">
                <a16:creationId xmlns:a16="http://schemas.microsoft.com/office/drawing/2014/main" id="{DDFF867F-F5F1-4752-8121-DC561492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362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hidden oracle injection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 / cost / latency / status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sanitized artifacts</a:t>
            </a:r>
          </a:p>
        </p:txBody>
      </p:sp>
      <p:sp>
        <p:nvSpPr>
          <p:cNvPr id="20" name="solver_diff_link">
            <a:extLst xmlns:a="http://schemas.openxmlformats.org/drawingml/2006/main">
              <a:ext uri="{FF2B5EF4-FFF2-40B4-BE49-F238E27FC236}">
                <a16:creationId xmlns:a16="http://schemas.microsoft.com/office/drawing/2014/main" id="{65AE31B1-7FA0-4B40-BE63-CF079162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1" name="diff_verifier_link">
            <a:extLst xmlns:a="http://schemas.openxmlformats.org/drawingml/2006/main">
              <a:ext uri="{FF2B5EF4-FFF2-40B4-BE49-F238E27FC236}">
                <a16:creationId xmlns:a16="http://schemas.microsoft.com/office/drawing/2014/main" id="{56B6AFA4-A18E-4C1C-B9BC-9B05EB1C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2" name="reporting_rule_box">
            <a:extLst xmlns:a="http://schemas.openxmlformats.org/drawingml/2006/main">
              <a:ext uri="{FF2B5EF4-FFF2-40B4-BE49-F238E27FC236}">
                <a16:creationId xmlns:a16="http://schemas.microsoft.com/office/drawing/2014/main" id="{1DBF9257-2703-4B19-AA1C-BCB6E3AA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3" name="adapter_rule">
            <a:extLst xmlns:a="http://schemas.openxmlformats.org/drawingml/2006/main">
              <a:ext uri="{FF2B5EF4-FFF2-40B4-BE49-F238E27FC236}">
                <a16:creationId xmlns:a16="http://schemas.microsoft.com/office/drawing/2014/main" id="{2D60A299-51C2-40D6-9FDD-CCD156BA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Adapter 差异按 named ACUT configuration 报告。Barcarolle 记录 workspace、verifier、policy 和 accounting 边界，避免把 adapter/harness 差异写成 model-only 结论。</a:t>
            </a:r>
          </a:p>
        </p:txBody>
      </p:sp>
    </p:spTree>
    <p:extLst>
      <p:ext uri="{BB962C8B-B14F-4D97-AF65-F5344CB8AC3E}">
        <p14:creationId xmlns:p14="http://schemas.microsoft.com/office/powerpoint/2010/main" val="21446114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D8D6DD5-E768-4D1E-A7F6-8BD3920C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36B4AB90-A5E3-4A96-A728-0FA30BB1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D13B015D-8206-4B63-8197-2E2A8D3F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922FAB7D-B66E-4EAC-96A9-045FD65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算法问题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91CCCB4D-5C9D-42F4-94F6-F098FA6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selection、support 和 fallback 会改变估计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8B18288-39F8-47E2-88FE-74DE610E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朴素 weighted 构造失败，构造规则本身就是研究问题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E0C07C8E-9C31-4A47-A41F-6715BDF9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attrs_gap_fill">
            <a:extLst xmlns:a="http://schemas.openxmlformats.org/drawingml/2006/main">
              <a:ext uri="{FF2B5EF4-FFF2-40B4-BE49-F238E27FC236}">
                <a16:creationId xmlns:a16="http://schemas.microsoft.com/office/drawing/2014/main" id="{BE3FA6B1-C19C-4F30-BF9B-3B7287FE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9" name="attrs_gap_rule">
            <a:extLst xmlns:a="http://schemas.openxmlformats.org/drawingml/2006/main">
              <a:ext uri="{FF2B5EF4-FFF2-40B4-BE49-F238E27FC236}">
                <a16:creationId xmlns:a16="http://schemas.microsoft.com/office/drawing/2014/main" id="{3E78D755-2C1E-434C-954F-F875DF9E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10" name="attrs_gap_label">
            <a:extLst xmlns:a="http://schemas.openxmlformats.org/drawingml/2006/main">
              <a:ext uri="{FF2B5EF4-FFF2-40B4-BE49-F238E27FC236}">
                <a16:creationId xmlns:a16="http://schemas.microsoft.com/office/drawing/2014/main" id="{6A5BF801-22C3-4DDD-8C74-7F747A63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907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attrs weighted gap</a:t>
            </a:r>
          </a:p>
        </p:txBody>
      </p:sp>
      <p:sp>
        <p:nvSpPr>
          <p:cNvPr id="11" name="attrs_gap_value">
            <a:extLst xmlns:a="http://schemas.openxmlformats.org/drawingml/2006/main">
              <a:ext uri="{FF2B5EF4-FFF2-40B4-BE49-F238E27FC236}">
                <a16:creationId xmlns:a16="http://schemas.microsoft.com/office/drawing/2014/main" id="{F70FBA6D-9872-46F7-86FD-A9D0D3C3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384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0.3148</a:t>
            </a:r>
          </a:p>
        </p:txBody>
      </p:sp>
      <p:sp>
        <p:nvSpPr>
          <p:cNvPr id="12" name="attrs_gap_note">
            <a:extLst xmlns:a="http://schemas.openxmlformats.org/drawingml/2006/main">
              <a:ext uri="{FF2B5EF4-FFF2-40B4-BE49-F238E27FC236}">
                <a16:creationId xmlns:a16="http://schemas.microsoft.com/office/drawing/2014/main" id="{DE5B984D-97E3-4E2D-ACF3-4F59B4F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simple same-budget baseline 0.25</a:t>
            </a:r>
          </a:p>
        </p:txBody>
      </p:sp>
      <p:sp>
        <p:nvSpPr>
          <p:cNvPr id="13" name="boltons_gap_fill">
            <a:extLst xmlns:a="http://schemas.openxmlformats.org/drawingml/2006/main">
              <a:ext uri="{FF2B5EF4-FFF2-40B4-BE49-F238E27FC236}">
                <a16:creationId xmlns:a16="http://schemas.microsoft.com/office/drawing/2014/main" id="{7A838109-2E8E-4AB9-A918-9FE735A3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14" name="boltons_gap_rule">
            <a:extLst xmlns:a="http://schemas.openxmlformats.org/drawingml/2006/main">
              <a:ext uri="{FF2B5EF4-FFF2-40B4-BE49-F238E27FC236}">
                <a16:creationId xmlns:a16="http://schemas.microsoft.com/office/drawing/2014/main" id="{A8B1BC2E-968A-400B-A3BF-4CFCD35D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15" name="boltons_gap_label">
            <a:extLst xmlns:a="http://schemas.openxmlformats.org/drawingml/2006/main">
              <a:ext uri="{FF2B5EF4-FFF2-40B4-BE49-F238E27FC236}">
                <a16:creationId xmlns:a16="http://schemas.microsoft.com/office/drawing/2014/main" id="{C24BEA05-A479-41E9-9C83-64C7CFFE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boltons weighted gap</a:t>
            </a:r>
          </a:p>
        </p:txBody>
      </p:sp>
      <p:sp>
        <p:nvSpPr>
          <p:cNvPr id="16" name="boltons_gap_value">
            <a:extLst xmlns:a="http://schemas.openxmlformats.org/drawingml/2006/main">
              <a:ext uri="{FF2B5EF4-FFF2-40B4-BE49-F238E27FC236}">
                <a16:creationId xmlns:a16="http://schemas.microsoft.com/office/drawing/2014/main" id="{BB6481A3-7679-4F00-BB81-81365A3C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384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0.7481</a:t>
            </a:r>
          </a:p>
        </p:txBody>
      </p:sp>
      <p:sp>
        <p:nvSpPr>
          <p:cNvPr id="17" name="boltons_gap_note">
            <a:extLst xmlns:a="http://schemas.openxmlformats.org/drawingml/2006/main">
              <a:ext uri="{FF2B5EF4-FFF2-40B4-BE49-F238E27FC236}">
                <a16:creationId xmlns:a16="http://schemas.microsoft.com/office/drawing/2014/main" id="{DEEED966-B72F-48EC-A2EE-F2AB729C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simple same-budget baseline 0.125</a:t>
            </a:r>
          </a:p>
        </p:txBody>
      </p:sp>
      <p:sp>
        <p:nvSpPr>
          <p:cNvPr id="18" name="diagnosis_fill">
            <a:extLst xmlns:a="http://schemas.openxmlformats.org/drawingml/2006/main">
              <a:ext uri="{FF2B5EF4-FFF2-40B4-BE49-F238E27FC236}">
                <a16:creationId xmlns:a16="http://schemas.microsoft.com/office/drawing/2014/main" id="{7AFD5041-9481-4753-894E-3A90A20A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9" name="diagnosis_accent">
            <a:extLst xmlns:a="http://schemas.openxmlformats.org/drawingml/2006/main">
              <a:ext uri="{FF2B5EF4-FFF2-40B4-BE49-F238E27FC236}">
                <a16:creationId xmlns:a16="http://schemas.microsoft.com/office/drawing/2014/main" id="{A418392F-F54E-4846-A689-004CA43C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0" name="diagnosis_title">
            <a:extLst xmlns:a="http://schemas.openxmlformats.org/drawingml/2006/main">
              <a:ext uri="{FF2B5EF4-FFF2-40B4-BE49-F238E27FC236}">
                <a16:creationId xmlns:a16="http://schemas.microsoft.com/office/drawing/2014/main" id="{D9BD2351-F286-4DB4-BD17-BFFFB060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Diagnosis</a:t>
            </a:r>
          </a:p>
        </p:txBody>
      </p:sp>
      <p:sp>
        <p:nvSpPr>
          <p:cNvPr id="21" name="diagnosis_body">
            <a:extLst xmlns:a="http://schemas.openxmlformats.org/drawingml/2006/main">
              <a:ext uri="{FF2B5EF4-FFF2-40B4-BE49-F238E27FC236}">
                <a16:creationId xmlns:a16="http://schemas.microsoft.com/office/drawing/2014/main" id="{B6B64641-E96E-4C54-98B2-AA2CF52B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旧 weighted target-profile design 在 sparse support 下失效。构造规则会显著改变 repo-specific estimate。</a:t>
            </a:r>
          </a:p>
        </p:txBody>
      </p:sp>
      <p:sp>
        <p:nvSpPr>
          <p:cNvPr id="22" name="decision_rule">
            <a:extLst xmlns:a="http://schemas.openxmlformats.org/drawingml/2006/main">
              <a:ext uri="{FF2B5EF4-FFF2-40B4-BE49-F238E27FC236}">
                <a16:creationId xmlns:a16="http://schemas.microsoft.com/office/drawing/2014/main" id="{FC5D8C0A-293B-4811-ACA2-AB95A9EB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1005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3" name="decision_0">
            <a:extLst xmlns:a="http://schemas.openxmlformats.org/drawingml/2006/main">
              <a:ext uri="{FF2B5EF4-FFF2-40B4-BE49-F238E27FC236}">
                <a16:creationId xmlns:a16="http://schemas.microsoft.com/office/drawing/2014/main" id="{39E51078-D029-486A-BDE4-EB60CF8D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4" name="decision_label_0">
            <a:extLst xmlns:a="http://schemas.openxmlformats.org/drawingml/2006/main">
              <a:ext uri="{FF2B5EF4-FFF2-40B4-BE49-F238E27FC236}">
                <a16:creationId xmlns:a16="http://schemas.microsoft.com/office/drawing/2014/main" id="{265C5917-3C18-40DB-B3C7-616BA13D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00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support</a:t>
            </a:r>
          </a:p>
        </p:txBody>
      </p:sp>
      <p:sp>
        <p:nvSpPr>
          <p:cNvPr id="25" name="decision_1">
            <a:extLst xmlns:a="http://schemas.openxmlformats.org/drawingml/2006/main">
              <a:ext uri="{FF2B5EF4-FFF2-40B4-BE49-F238E27FC236}">
                <a16:creationId xmlns:a16="http://schemas.microsoft.com/office/drawing/2014/main" id="{6B4FB59E-2B04-4DDD-B1BD-875A58F5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291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6" name="decision_label_1">
            <a:extLst xmlns:a="http://schemas.openxmlformats.org/drawingml/2006/main">
              <a:ext uri="{FF2B5EF4-FFF2-40B4-BE49-F238E27FC236}">
                <a16:creationId xmlns:a16="http://schemas.microsoft.com/office/drawing/2014/main" id="{94CAB98F-0C91-4DF4-A6B9-9D887897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00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fallback</a:t>
            </a:r>
          </a:p>
        </p:txBody>
      </p:sp>
      <p:sp>
        <p:nvSpPr>
          <p:cNvPr id="27" name="decision_2">
            <a:extLst xmlns:a="http://schemas.openxmlformats.org/drawingml/2006/main">
              <a:ext uri="{FF2B5EF4-FFF2-40B4-BE49-F238E27FC236}">
                <a16:creationId xmlns:a16="http://schemas.microsoft.com/office/drawing/2014/main" id="{354E2789-4223-44E6-A689-4D6A0A5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8" name="decision_label_2">
            <a:extLst xmlns:a="http://schemas.openxmlformats.org/drawingml/2006/main">
              <a:ext uri="{FF2B5EF4-FFF2-40B4-BE49-F238E27FC236}">
                <a16:creationId xmlns:a16="http://schemas.microsoft.com/office/drawing/2014/main" id="{3579A926-4A0F-4E33-B871-69591093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00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baseline comparison</a:t>
            </a:r>
          </a:p>
        </p:txBody>
      </p:sp>
      <p:sp>
        <p:nvSpPr>
          <p:cNvPr id="29" name="decision_3">
            <a:extLst xmlns:a="http://schemas.openxmlformats.org/drawingml/2006/main">
              <a:ext uri="{FF2B5EF4-FFF2-40B4-BE49-F238E27FC236}">
                <a16:creationId xmlns:a16="http://schemas.microsoft.com/office/drawing/2014/main" id="{14A200C1-A0C2-4F85-A7AA-5EB37832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30" name="decision_label_3">
            <a:extLst xmlns:a="http://schemas.openxmlformats.org/drawingml/2006/main">
              <a:ext uri="{FF2B5EF4-FFF2-40B4-BE49-F238E27FC236}">
                <a16:creationId xmlns:a16="http://schemas.microsoft.com/office/drawing/2014/main" id="{05F489FA-5D68-4703-BA17-5015D3EF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00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slice stability</a:t>
            </a:r>
          </a:p>
        </p:txBody>
      </p:sp>
      <p:sp>
        <p:nvSpPr>
          <p:cNvPr id="31" name="selector_requirement">
            <a:extLst xmlns:a="http://schemas.openxmlformats.org/drawingml/2006/main">
              <a:ext uri="{FF2B5EF4-FFF2-40B4-BE49-F238E27FC236}">
                <a16:creationId xmlns:a16="http://schemas.microsoft.com/office/drawing/2014/main" id="{133BB3E0-33AD-496F-87D1-294AB7A4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34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后续 selector 必须显式处理 support、fallback 和 baseline comparison。</a:t>
            </a:r>
          </a:p>
        </p:txBody>
      </p:sp>
    </p:spTree>
    <p:extLst>
      <p:ext uri="{BB962C8B-B14F-4D97-AF65-F5344CB8AC3E}">
        <p14:creationId xmlns:p14="http://schemas.microsoft.com/office/powerpoint/2010/main" val="9939457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7DF1AF6-81DA-4793-BCCC-8776431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D0587375-874C-44CB-8E10-981E670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148F5A2-2924-4E42-AF4E-C45CDDB0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3702A136-0280-4F42-99FD-5EEEA3FF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算法环境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65DC0C2E-67F5-46D4-9B34-1953C2AE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算法演进环境已经成形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3A82914-05BE-4794-980F-11E84E3F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selection policy 可以用 baseline、random control 和 slice diagnostics 比较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2B7928D1-97BE-406D-A644-DF137932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algorithm_copy">
            <a:extLst xmlns:a="http://schemas.openxmlformats.org/drawingml/2006/main">
              <a:ext uri="{FF2B5EF4-FFF2-40B4-BE49-F238E27FC236}">
                <a16:creationId xmlns:a16="http://schemas.microsoft.com/office/drawing/2014/main" id="{727F83DB-BED0-41AE-AB12-9FE0BF32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57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当前 candidate 是 coverage-constrained unweighted with labeled fallback。比较环境覆盖 temporal/repo baselines、many-seed random envelope、adapter/repo/window diagnostics 和 fallback accounting。</a:t>
            </a:r>
          </a:p>
        </p:txBody>
      </p:sp>
      <p:sp>
        <p:nvSpPr>
          <p:cNvPr id="9" name="features_fill">
            <a:extLst xmlns:a="http://schemas.openxmlformats.org/drawingml/2006/main">
              <a:ext uri="{FF2B5EF4-FFF2-40B4-BE49-F238E27FC236}">
                <a16:creationId xmlns:a16="http://schemas.microsoft.com/office/drawing/2014/main" id="{2160C8BC-A3CE-4476-AF4F-A4AA5418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2305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features_accent">
            <a:extLst xmlns:a="http://schemas.openxmlformats.org/drawingml/2006/main">
              <a:ext uri="{FF2B5EF4-FFF2-40B4-BE49-F238E27FC236}">
                <a16:creationId xmlns:a16="http://schemas.microsoft.com/office/drawing/2014/main" id="{92F87CC2-B28B-427B-AC64-CA87DB17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features_title">
            <a:extLst xmlns:a="http://schemas.openxmlformats.org/drawingml/2006/main">
              <a:ext uri="{FF2B5EF4-FFF2-40B4-BE49-F238E27FC236}">
                <a16:creationId xmlns:a16="http://schemas.microsoft.com/office/drawing/2014/main" id="{D933085F-F424-4FD7-ACFE-45CAC36B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765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Candidate features</a:t>
            </a:r>
          </a:p>
        </p:txBody>
      </p:sp>
      <p:sp>
        <p:nvSpPr>
          <p:cNvPr id="12" name="features_body">
            <a:extLst xmlns:a="http://schemas.openxmlformats.org/drawingml/2006/main">
              <a:ext uri="{FF2B5EF4-FFF2-40B4-BE49-F238E27FC236}">
                <a16:creationId xmlns:a16="http://schemas.microsoft.com/office/drawing/2014/main" id="{A7C0B734-6700-4357-831B-BF70472F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strata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support</a:t>
            </a:r>
          </a:p>
        </p:txBody>
      </p:sp>
      <p:sp>
        <p:nvSpPr>
          <p:cNvPr id="13" name="policy_fill">
            <a:extLst xmlns:a="http://schemas.openxmlformats.org/drawingml/2006/main">
              <a:ext uri="{FF2B5EF4-FFF2-40B4-BE49-F238E27FC236}">
                <a16:creationId xmlns:a16="http://schemas.microsoft.com/office/drawing/2014/main" id="{3FC6FD69-BA38-4047-8F00-F390C47A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2476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4" name="policy_accent">
            <a:extLst xmlns:a="http://schemas.openxmlformats.org/drawingml/2006/main">
              <a:ext uri="{FF2B5EF4-FFF2-40B4-BE49-F238E27FC236}">
                <a16:creationId xmlns:a16="http://schemas.microsoft.com/office/drawing/2014/main" id="{421908FB-271F-4DA8-97A2-6A4141B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5" name="policy_title">
            <a:extLst xmlns:a="http://schemas.openxmlformats.org/drawingml/2006/main">
              <a:ext uri="{FF2B5EF4-FFF2-40B4-BE49-F238E27FC236}">
                <a16:creationId xmlns:a16="http://schemas.microsoft.com/office/drawing/2014/main" id="{6C7BCFB9-C85F-41FC-8CC5-24F7676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33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Selection policy</a:t>
            </a:r>
          </a:p>
        </p:txBody>
      </p:sp>
      <p:sp>
        <p:nvSpPr>
          <p:cNvPr id="16" name="policy_body">
            <a:extLst xmlns:a="http://schemas.openxmlformats.org/drawingml/2006/main">
              <a:ext uri="{FF2B5EF4-FFF2-40B4-BE49-F238E27FC236}">
                <a16:creationId xmlns:a16="http://schemas.microsoft.com/office/drawing/2014/main" id="{A02835B1-244E-49B7-A72A-43E8FB96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2171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coverage-constrained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temporal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blocked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shrinkage</a:t>
            </a:r>
          </a:p>
        </p:txBody>
      </p:sp>
      <p:sp>
        <p:nvSpPr>
          <p:cNvPr id="17" name="baselines_fill">
            <a:extLst xmlns:a="http://schemas.openxmlformats.org/drawingml/2006/main">
              <a:ext uri="{FF2B5EF4-FFF2-40B4-BE49-F238E27FC236}">
                <a16:creationId xmlns:a16="http://schemas.microsoft.com/office/drawing/2014/main" id="{34879A0B-77A1-43DD-BB11-A04921B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05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8" name="baselines_accent">
            <a:extLst xmlns:a="http://schemas.openxmlformats.org/drawingml/2006/main">
              <a:ext uri="{FF2B5EF4-FFF2-40B4-BE49-F238E27FC236}">
                <a16:creationId xmlns:a16="http://schemas.microsoft.com/office/drawing/2014/main" id="{F1A5D07F-2D24-47EB-A861-3E91C18A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9" name="baselines_title">
            <a:extLst xmlns:a="http://schemas.openxmlformats.org/drawingml/2006/main">
              <a:ext uri="{FF2B5EF4-FFF2-40B4-BE49-F238E27FC236}">
                <a16:creationId xmlns:a16="http://schemas.microsoft.com/office/drawing/2014/main" id="{2372C6BD-53A0-4E01-96C7-63DD94C2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Baselines</a:t>
            </a:r>
          </a:p>
        </p:txBody>
      </p:sp>
      <p:sp>
        <p:nvSpPr>
          <p:cNvPr id="20" name="baselines_body">
            <a:extLst xmlns:a="http://schemas.openxmlformats.org/drawingml/2006/main">
              <a:ext uri="{FF2B5EF4-FFF2-40B4-BE49-F238E27FC236}">
                <a16:creationId xmlns:a16="http://schemas.microsoft.com/office/drawing/2014/main" id="{63EDBD10-1460-4F3B-AA36-3590CF8A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recent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repo-unweighted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repo-stratified</a:t>
            </a:r>
          </a:p>
        </p:txBody>
      </p:sp>
      <p:sp>
        <p:nvSpPr>
          <p:cNvPr id="21" name="diagnostics_fill">
            <a:extLst xmlns:a="http://schemas.openxmlformats.org/drawingml/2006/main">
              <a:ext uri="{FF2B5EF4-FFF2-40B4-BE49-F238E27FC236}">
                <a16:creationId xmlns:a16="http://schemas.microsoft.com/office/drawing/2014/main" id="{C8039E71-7B41-467A-98ED-F85C3A78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2" name="diagnostics_accent">
            <a:extLst xmlns:a="http://schemas.openxmlformats.org/drawingml/2006/main">
              <a:ext uri="{FF2B5EF4-FFF2-40B4-BE49-F238E27FC236}">
                <a16:creationId xmlns:a16="http://schemas.microsoft.com/office/drawing/2014/main" id="{1A3C3C83-31F1-4D87-83C8-3113E31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3" name="diagnostics_title">
            <a:extLst xmlns:a="http://schemas.openxmlformats.org/drawingml/2006/main">
              <a:ext uri="{FF2B5EF4-FFF2-40B4-BE49-F238E27FC236}">
                <a16:creationId xmlns:a16="http://schemas.microsoft.com/office/drawing/2014/main" id="{CAC47CEC-2283-485E-B7C2-61EFC79F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Diagnostics</a:t>
            </a:r>
          </a:p>
        </p:txBody>
      </p:sp>
      <p:sp>
        <p:nvSpPr>
          <p:cNvPr id="24" name="diagnostics_body">
            <a:extLst xmlns:a="http://schemas.openxmlformats.org/drawingml/2006/main">
              <a:ext uri="{FF2B5EF4-FFF2-40B4-BE49-F238E27FC236}">
                <a16:creationId xmlns:a16="http://schemas.microsoft.com/office/drawing/2014/main" id="{891EBCA0-9621-4F52-8DD1-3357DC2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387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adapter / repo / window / fallback</a:t>
            </a:r>
          </a:p>
        </p:txBody>
      </p:sp>
      <p:sp>
        <p:nvSpPr>
          <p:cNvPr id="25" name="features_to_policy">
            <a:extLst xmlns:a="http://schemas.openxmlformats.org/drawingml/2006/main">
              <a:ext uri="{FF2B5EF4-FFF2-40B4-BE49-F238E27FC236}">
                <a16:creationId xmlns:a16="http://schemas.microsoft.com/office/drawing/2014/main" id="{A6449828-1296-47E2-9EDA-7FF47227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90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6" name="policy_to_baselines">
            <a:extLst xmlns:a="http://schemas.openxmlformats.org/drawingml/2006/main">
              <a:ext uri="{FF2B5EF4-FFF2-40B4-BE49-F238E27FC236}">
                <a16:creationId xmlns:a16="http://schemas.microsoft.com/office/drawing/2014/main" id="{FE24200C-1397-454D-9BF7-8A3126D2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7" name="policy_to_diagnostics">
            <a:extLst xmlns:a="http://schemas.openxmlformats.org/drawingml/2006/main">
              <a:ext uri="{FF2B5EF4-FFF2-40B4-BE49-F238E27FC236}">
                <a16:creationId xmlns:a16="http://schemas.microsoft.com/office/drawing/2014/main" id="{451B8272-A9DD-4920-BE5E-5A1C39D8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8" name="candidate_badge">
            <a:extLst xmlns:a="http://schemas.openxmlformats.org/drawingml/2006/main">
              <a:ext uri="{FF2B5EF4-FFF2-40B4-BE49-F238E27FC236}">
                <a16:creationId xmlns:a16="http://schemas.microsoft.com/office/drawing/2014/main" id="{CB87BC72-6545-4C34-9FE4-61CAB1DC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819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9" name="candidate_badge_text">
            <a:extLst xmlns:a="http://schemas.openxmlformats.org/drawingml/2006/main">
              <a:ext uri="{FF2B5EF4-FFF2-40B4-BE49-F238E27FC236}">
                <a16:creationId xmlns:a16="http://schemas.microsoft.com/office/drawing/2014/main" id="{022D5E89-AE22-4E1B-9C8F-5F3CC417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6705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research</a:t>
            </a:r>
          </a:p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candidate</a:t>
            </a:r>
          </a:p>
        </p:txBody>
      </p:sp>
    </p:spTree>
    <p:extLst>
      <p:ext uri="{BB962C8B-B14F-4D97-AF65-F5344CB8AC3E}">
        <p14:creationId xmlns:p14="http://schemas.microsoft.com/office/powerpoint/2010/main" val="19379201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934DE77-1BA0-4ECF-86EB-84DFA0FF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03783C9B-2B10-4EAE-BCF6-ADA9C1C6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852D9BAE-8D53-4D1E-B562-AA69872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84BE475F-FEB5-4888-B502-885E0C98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当前效果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EE5EFBD5-04FB-43F5-AFD7-9CAC4D13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当前效果支持继续优化，但还不支持最终有效性声明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FB3D6EE-7F7E-48BC-9A55-82E6D080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问题真实、执行可行、selection 有初步信号；edge 仍然很小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FB31F900-D93C-45A8-B375-D038BD3A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traction_boundary">
            <a:extLst xmlns:a="http://schemas.openxmlformats.org/drawingml/2006/main">
              <a:ext uri="{FF2B5EF4-FFF2-40B4-BE49-F238E27FC236}">
                <a16:creationId xmlns:a16="http://schemas.microsoft.com/office/drawing/2014/main" id="{D012DCDA-EEA8-4153-9414-9D5E1678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探索性结果支持继续优化 benchmark compiler，同时保留预测效度尚未建立的边界。</a:t>
            </a:r>
          </a:p>
        </p:txBody>
      </p:sp>
      <p:sp>
        <p:nvSpPr>
          <p:cNvPr id="9" name="exec_fill">
            <a:extLst xmlns:a="http://schemas.openxmlformats.org/drawingml/2006/main">
              <a:ext uri="{FF2B5EF4-FFF2-40B4-BE49-F238E27FC236}">
                <a16:creationId xmlns:a16="http://schemas.microsoft.com/office/drawing/2014/main" id="{0B57317F-8687-41F0-A88D-945B8479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exec_rule">
            <a:extLst xmlns:a="http://schemas.openxmlformats.org/drawingml/2006/main">
              <a:ext uri="{FF2B5EF4-FFF2-40B4-BE49-F238E27FC236}">
                <a16:creationId xmlns:a16="http://schemas.microsoft.com/office/drawing/2014/main" id="{C44172E7-2AC5-49EE-93CD-57F758AD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exec_label">
            <a:extLst xmlns:a="http://schemas.openxmlformats.org/drawingml/2006/main">
              <a:ext uri="{FF2B5EF4-FFF2-40B4-BE49-F238E27FC236}">
                <a16:creationId xmlns:a16="http://schemas.microsoft.com/office/drawing/2014/main" id="{118709A7-B1B9-492D-B811-5E6AC47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2890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Execution feasible</a:t>
            </a:r>
          </a:p>
        </p:txBody>
      </p:sp>
      <p:sp>
        <p:nvSpPr>
          <p:cNvPr id="12" name="exec_value">
            <a:extLst xmlns:a="http://schemas.openxmlformats.org/drawingml/2006/main">
              <a:ext uri="{FF2B5EF4-FFF2-40B4-BE49-F238E27FC236}">
                <a16:creationId xmlns:a16="http://schemas.microsoft.com/office/drawing/2014/main" id="{3C279819-1884-46A9-B54E-D296FAD8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206692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120/120</a:t>
            </a:r>
          </a:p>
        </p:txBody>
      </p:sp>
      <p:sp>
        <p:nvSpPr>
          <p:cNvPr id="13" name="exec_note">
            <a:extLst xmlns:a="http://schemas.openxmlformats.org/drawingml/2006/main">
              <a:ext uri="{FF2B5EF4-FFF2-40B4-BE49-F238E27FC236}">
                <a16:creationId xmlns:a16="http://schemas.microsoft.com/office/drawing/2014/main" id="{2657C1B8-B295-4794-BD23-B19C0692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95650"/>
            <a:ext cx="202882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planned cells completed; scoreability 1.0</a:t>
            </a:r>
          </a:p>
        </p:txBody>
      </p:sp>
      <p:sp>
        <p:nvSpPr>
          <p:cNvPr id="14" name="source_repair_fill">
            <a:extLst xmlns:a="http://schemas.openxmlformats.org/drawingml/2006/main">
              <a:ext uri="{FF2B5EF4-FFF2-40B4-BE49-F238E27FC236}">
                <a16:creationId xmlns:a16="http://schemas.microsoft.com/office/drawing/2014/main" id="{51B1A922-F000-4765-B5E6-2599F07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5" name="source_repair_rule">
            <a:extLst xmlns:a="http://schemas.openxmlformats.org/drawingml/2006/main">
              <a:ext uri="{FF2B5EF4-FFF2-40B4-BE49-F238E27FC236}">
                <a16:creationId xmlns:a16="http://schemas.microsoft.com/office/drawing/2014/main" id="{80F01C42-CEEE-47A6-AD10-B173A4D6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6" name="source_repair_label">
            <a:extLst xmlns:a="http://schemas.openxmlformats.org/drawingml/2006/main">
              <a:ext uri="{FF2B5EF4-FFF2-40B4-BE49-F238E27FC236}">
                <a16:creationId xmlns:a16="http://schemas.microsoft.com/office/drawing/2014/main" id="{C4B94DC6-4100-41B7-9669-9F8E5332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2890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repair</a:t>
            </a:r>
          </a:p>
        </p:txBody>
      </p:sp>
      <p:sp>
        <p:nvSpPr>
          <p:cNvPr id="17" name="source_repair_value">
            <a:extLst xmlns:a="http://schemas.openxmlformats.org/drawingml/2006/main">
              <a:ext uri="{FF2B5EF4-FFF2-40B4-BE49-F238E27FC236}">
                <a16:creationId xmlns:a16="http://schemas.microsoft.com/office/drawing/2014/main" id="{DA6605EF-CA80-4A0C-A49F-9153441D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206692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30/30</a:t>
            </a:r>
          </a:p>
        </p:txBody>
      </p:sp>
      <p:sp>
        <p:nvSpPr>
          <p:cNvPr id="18" name="source_repair_note">
            <a:extLst xmlns:a="http://schemas.openxmlformats.org/drawingml/2006/main">
              <a:ext uri="{FF2B5EF4-FFF2-40B4-BE49-F238E27FC236}">
                <a16:creationId xmlns:a16="http://schemas.microsoft.com/office/drawing/2014/main" id="{C280353F-73F6-470A-BD77-ACDA797E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202882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click frozen tasks repaired with public context</a:t>
            </a:r>
          </a:p>
        </p:txBody>
      </p:sp>
      <p:sp>
        <p:nvSpPr>
          <p:cNvPr id="19" name="mae_fill">
            <a:extLst xmlns:a="http://schemas.openxmlformats.org/drawingml/2006/main">
              <a:ext uri="{FF2B5EF4-FFF2-40B4-BE49-F238E27FC236}">
                <a16:creationId xmlns:a16="http://schemas.microsoft.com/office/drawing/2014/main" id="{513DDD56-8AE3-4BD7-863E-20ACAF6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0" name="mae_rule">
            <a:extLst xmlns:a="http://schemas.openxmlformats.org/drawingml/2006/main">
              <a:ext uri="{FF2B5EF4-FFF2-40B4-BE49-F238E27FC236}">
                <a16:creationId xmlns:a16="http://schemas.microsoft.com/office/drawing/2014/main" id="{79AD05D5-937F-4092-AEC9-40B4A16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1" name="mae_label">
            <a:extLst xmlns:a="http://schemas.openxmlformats.org/drawingml/2006/main">
              <a:ext uri="{FF2B5EF4-FFF2-40B4-BE49-F238E27FC236}">
                <a16:creationId xmlns:a16="http://schemas.microsoft.com/office/drawing/2014/main" id="{5DAB30EB-77E7-416D-A463-EF47CBD5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MAE traction</a:t>
            </a:r>
          </a:p>
        </p:txBody>
      </p:sp>
      <p:sp>
        <p:nvSpPr>
          <p:cNvPr id="22" name="mae_value">
            <a:extLst xmlns:a="http://schemas.openxmlformats.org/drawingml/2006/main">
              <a:ext uri="{FF2B5EF4-FFF2-40B4-BE49-F238E27FC236}">
                <a16:creationId xmlns:a16="http://schemas.microsoft.com/office/drawing/2014/main" id="{79F874AE-B58D-47B1-AFB0-0BCFD513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76550"/>
            <a:ext cx="206692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0.209</a:t>
            </a:r>
          </a:p>
        </p:txBody>
      </p:sp>
      <p:sp>
        <p:nvSpPr>
          <p:cNvPr id="23" name="mae_note">
            <a:extLst xmlns:a="http://schemas.openxmlformats.org/drawingml/2006/main">
              <a:ext uri="{FF2B5EF4-FFF2-40B4-BE49-F238E27FC236}">
                <a16:creationId xmlns:a16="http://schemas.microsoft.com/office/drawing/2014/main" id="{22829F0C-D02F-47D3-90E6-B0D30D63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202882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best aggregate baseline 0.2149; edge 0.0059</a:t>
            </a:r>
          </a:p>
        </p:txBody>
      </p:sp>
      <p:sp>
        <p:nvSpPr>
          <p:cNvPr id="24" name="random_fill">
            <a:extLst xmlns:a="http://schemas.openxmlformats.org/drawingml/2006/main">
              <a:ext uri="{FF2B5EF4-FFF2-40B4-BE49-F238E27FC236}">
                <a16:creationId xmlns:a16="http://schemas.microsoft.com/office/drawing/2014/main" id="{EBD0031E-797F-4F2E-A329-60C5EF5A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5" name="random_rule">
            <a:extLst xmlns:a="http://schemas.openxmlformats.org/drawingml/2006/main">
              <a:ext uri="{FF2B5EF4-FFF2-40B4-BE49-F238E27FC236}">
                <a16:creationId xmlns:a16="http://schemas.microsoft.com/office/drawing/2014/main" id="{BE96A95E-E652-4069-91A3-73048521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6" name="random_label">
            <a:extLst xmlns:a="http://schemas.openxmlformats.org/drawingml/2006/main">
              <a:ext uri="{FF2B5EF4-FFF2-40B4-BE49-F238E27FC236}">
                <a16:creationId xmlns:a16="http://schemas.microsoft.com/office/drawing/2014/main" id="{9473C75D-7567-408C-B23C-DA6F2024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2890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Random control</a:t>
            </a:r>
          </a:p>
        </p:txBody>
      </p:sp>
      <p:sp>
        <p:nvSpPr>
          <p:cNvPr id="27" name="random_value">
            <a:extLst xmlns:a="http://schemas.openxmlformats.org/drawingml/2006/main">
              <a:ext uri="{FF2B5EF4-FFF2-40B4-BE49-F238E27FC236}">
                <a16:creationId xmlns:a16="http://schemas.microsoft.com/office/drawing/2014/main" id="{0DA733A0-D21C-4973-99E9-6D90AE51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76550"/>
            <a:ext cx="206692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93.4%</a:t>
            </a:r>
          </a:p>
        </p:txBody>
      </p:sp>
      <p:sp>
        <p:nvSpPr>
          <p:cNvPr id="28" name="random_note">
            <a:extLst xmlns:a="http://schemas.openxmlformats.org/drawingml/2006/main">
              <a:ext uri="{FF2B5EF4-FFF2-40B4-BE49-F238E27FC236}">
                <a16:creationId xmlns:a16="http://schemas.microsoft.com/office/drawing/2014/main" id="{45D25440-56DF-4EE6-A4FA-A7162215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95650"/>
            <a:ext cx="202882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candidate beats/ties of 1000 same-budget selections</a:t>
            </a:r>
          </a:p>
        </p:txBody>
      </p:sp>
      <p:sp>
        <p:nvSpPr>
          <p:cNvPr id="29" name="role_guard">
            <a:extLst xmlns:a="http://schemas.openxmlformats.org/drawingml/2006/main">
              <a:ext uri="{FF2B5EF4-FFF2-40B4-BE49-F238E27FC236}">
                <a16:creationId xmlns:a16="http://schemas.microsoft.com/office/drawing/2014/main" id="{3E17B3FF-BB51-42D4-AA3D-4AC83568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牵引性证据需要与下一步修复动作分开阅读。</a:t>
            </a:r>
          </a:p>
        </p:txBody>
      </p:sp>
    </p:spTree>
    <p:extLst>
      <p:ext uri="{BB962C8B-B14F-4D97-AF65-F5344CB8AC3E}">
        <p14:creationId xmlns:p14="http://schemas.microsoft.com/office/powerpoint/2010/main" val="6698713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3B70294-BA68-491E-BEF8-EFE13AFE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AE6EBDF0-5579-4591-9638-80FBC370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BD6EF632-E784-41F4-880F-5D03B767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EF5041B5-DBA2-4FD4-ABC5-F6718E17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限制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EB96294E-C8E7-4537-82F1-7C25C039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尚未证明的部分决定下一步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8377824-7852-4D44-ACF5-3D52E077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fallback、adapter 和 support weakness 必须前置处理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D4DD3347-5BCC-4948-8D8F-79390522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weakness_0_fill">
            <a:extLst xmlns:a="http://schemas.openxmlformats.org/drawingml/2006/main">
              <a:ext uri="{FF2B5EF4-FFF2-40B4-BE49-F238E27FC236}">
                <a16:creationId xmlns:a16="http://schemas.microsoft.com/office/drawing/2014/main" id="{76E0E246-9526-4784-A90D-441262F1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3000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9" name="weakness_0_accent">
            <a:extLst xmlns:a="http://schemas.openxmlformats.org/drawingml/2006/main">
              <a:ext uri="{FF2B5EF4-FFF2-40B4-BE49-F238E27FC236}">
                <a16:creationId xmlns:a16="http://schemas.microsoft.com/office/drawing/2014/main" id="{99E55B3A-6876-4404-9487-6B5D0FA5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10" name="weakness_0_title">
            <a:extLst xmlns:a="http://schemas.openxmlformats.org/drawingml/2006/main">
              <a:ext uri="{FF2B5EF4-FFF2-40B4-BE49-F238E27FC236}">
                <a16:creationId xmlns:a16="http://schemas.microsoft.com/office/drawing/2014/main" id="{4D324573-9B47-415D-A313-CFB6A52C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90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Fallback composite</a:t>
            </a:r>
          </a:p>
        </p:txBody>
      </p:sp>
      <p:sp>
        <p:nvSpPr>
          <p:cNvPr id="11" name="weakness_0_body">
            <a:extLst xmlns:a="http://schemas.openxmlformats.org/drawingml/2006/main">
              <a:ext uri="{FF2B5EF4-FFF2-40B4-BE49-F238E27FC236}">
                <a16:creationId xmlns:a16="http://schemas.microsoft.com/office/drawing/2014/main" id="{2EE291E2-8871-4BB8-AF18-152A9AD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14600"/>
            <a:ext cx="26955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6/18 selected slots；boltons 6/6</a:t>
            </a:r>
          </a:p>
        </p:txBody>
      </p:sp>
      <p:sp>
        <p:nvSpPr>
          <p:cNvPr id="12" name="bridge_0">
            <a:extLst xmlns:a="http://schemas.openxmlformats.org/drawingml/2006/main">
              <a:ext uri="{FF2B5EF4-FFF2-40B4-BE49-F238E27FC236}">
                <a16:creationId xmlns:a16="http://schemas.microsoft.com/office/drawing/2014/main" id="{89F42660-6FD8-4FEA-841E-47D7324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3" name="action_0_fill">
            <a:extLst xmlns:a="http://schemas.openxmlformats.org/drawingml/2006/main">
              <a:ext uri="{FF2B5EF4-FFF2-40B4-BE49-F238E27FC236}">
                <a16:creationId xmlns:a16="http://schemas.microsoft.com/office/drawing/2014/main" id="{E2778F36-2454-4886-B1DD-A0D9DC0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383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action_0">
            <a:extLst xmlns:a="http://schemas.openxmlformats.org/drawingml/2006/main">
              <a:ext uri="{FF2B5EF4-FFF2-40B4-BE49-F238E27FC236}">
                <a16:creationId xmlns:a16="http://schemas.microsoft.com/office/drawing/2014/main" id="{53A910BD-9390-4207-AE27-46FAACD0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76475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修复 feature support 或缩小声明</a:t>
            </a:r>
          </a:p>
        </p:txBody>
      </p:sp>
      <p:sp>
        <p:nvSpPr>
          <p:cNvPr id="15" name="weakness_1_fill">
            <a:extLst xmlns:a="http://schemas.openxmlformats.org/drawingml/2006/main">
              <a:ext uri="{FF2B5EF4-FFF2-40B4-BE49-F238E27FC236}">
                <a16:creationId xmlns:a16="http://schemas.microsoft.com/office/drawing/2014/main" id="{959CC25D-B878-4D95-B254-05C3FEC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000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6" name="weakness_1_accent">
            <a:extLst xmlns:a="http://schemas.openxmlformats.org/drawingml/2006/main">
              <a:ext uri="{FF2B5EF4-FFF2-40B4-BE49-F238E27FC236}">
                <a16:creationId xmlns:a16="http://schemas.microsoft.com/office/drawing/2014/main" id="{58E7F0BD-2AF1-4461-8215-F354481E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7" name="weakness_1_title">
            <a:extLst xmlns:a="http://schemas.openxmlformats.org/drawingml/2006/main">
              <a:ext uri="{FF2B5EF4-FFF2-40B4-BE49-F238E27FC236}">
                <a16:creationId xmlns:a16="http://schemas.microsoft.com/office/drawing/2014/main" id="{E7CE2AC1-9AC4-4A73-8F49-4A63F3DE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Adapter fragility</a:t>
            </a:r>
          </a:p>
        </p:txBody>
      </p:sp>
      <p:sp>
        <p:nvSpPr>
          <p:cNvPr id="18" name="weakness_1_body">
            <a:extLst xmlns:a="http://schemas.openxmlformats.org/drawingml/2006/main">
              <a:ext uri="{FF2B5EF4-FFF2-40B4-BE49-F238E27FC236}">
                <a16:creationId xmlns:a16="http://schemas.microsoft.com/office/drawing/2014/main" id="{D231F015-2027-4536-8B3A-87E5B100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14750"/>
            <a:ext cx="26955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Codex / Kilo 分开报告</a:t>
            </a:r>
          </a:p>
        </p:txBody>
      </p:sp>
      <p:sp>
        <p:nvSpPr>
          <p:cNvPr id="19" name="bridge_1">
            <a:extLst xmlns:a="http://schemas.openxmlformats.org/drawingml/2006/main">
              <a:ext uri="{FF2B5EF4-FFF2-40B4-BE49-F238E27FC236}">
                <a16:creationId xmlns:a16="http://schemas.microsoft.com/office/drawing/2014/main" id="{5F2DA67A-4CDA-45B9-9322-732692AE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0" name="action_1_fill">
            <a:extLst xmlns:a="http://schemas.openxmlformats.org/drawingml/2006/main">
              <a:ext uri="{FF2B5EF4-FFF2-40B4-BE49-F238E27FC236}">
                <a16:creationId xmlns:a16="http://schemas.microsoft.com/office/drawing/2014/main" id="{746E5693-CD7B-412A-8969-20DA6B1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1" name="action_1">
            <a:extLst xmlns:a="http://schemas.openxmlformats.org/drawingml/2006/main">
              <a:ext uri="{FF2B5EF4-FFF2-40B4-BE49-F238E27FC236}">
                <a16:creationId xmlns:a16="http://schemas.microsoft.com/office/drawing/2014/main" id="{B39F7C87-AA43-445A-BB05-1844628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76625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named ACUT configuration first</a:t>
            </a:r>
          </a:p>
        </p:txBody>
      </p:sp>
      <p:sp>
        <p:nvSpPr>
          <p:cNvPr id="22" name="weakness_2_fill">
            <a:extLst xmlns:a="http://schemas.openxmlformats.org/drawingml/2006/main">
              <a:ext uri="{FF2B5EF4-FFF2-40B4-BE49-F238E27FC236}">
                <a16:creationId xmlns:a16="http://schemas.microsoft.com/office/drawing/2014/main" id="{2375F004-1090-46A5-857A-778CF180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3000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3" name="weakness_2_accent">
            <a:extLst xmlns:a="http://schemas.openxmlformats.org/drawingml/2006/main">
              <a:ext uri="{FF2B5EF4-FFF2-40B4-BE49-F238E27FC236}">
                <a16:creationId xmlns:a16="http://schemas.microsoft.com/office/drawing/2014/main" id="{9E69632B-2903-4424-8F45-D01733B6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4" name="weakness_2_title">
            <a:extLst xmlns:a="http://schemas.openxmlformats.org/drawingml/2006/main">
              <a:ext uri="{FF2B5EF4-FFF2-40B4-BE49-F238E27FC236}">
                <a16:creationId xmlns:a16="http://schemas.microsoft.com/office/drawing/2014/main" id="{B9BC25F9-35E1-4DDC-9B51-90D24334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910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Small MAE edge</a:t>
            </a:r>
          </a:p>
        </p:txBody>
      </p:sp>
      <p:sp>
        <p:nvSpPr>
          <p:cNvPr id="25" name="weakness_2_body">
            <a:extLst xmlns:a="http://schemas.openxmlformats.org/drawingml/2006/main">
              <a:ext uri="{FF2B5EF4-FFF2-40B4-BE49-F238E27FC236}">
                <a16:creationId xmlns:a16="http://schemas.microsoft.com/office/drawing/2014/main" id="{9DD37280-0C8E-4801-AB75-C6D6361D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26955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0.0059 aggregate edge</a:t>
            </a:r>
          </a:p>
        </p:txBody>
      </p:sp>
      <p:sp>
        <p:nvSpPr>
          <p:cNvPr id="26" name="bridge_2">
            <a:extLst xmlns:a="http://schemas.openxmlformats.org/drawingml/2006/main">
              <a:ext uri="{FF2B5EF4-FFF2-40B4-BE49-F238E27FC236}">
                <a16:creationId xmlns:a16="http://schemas.microsoft.com/office/drawing/2014/main" id="{17B5C3BE-1D30-402F-8177-89EE875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38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7" name="action_2_fill">
            <a:extLst xmlns:a="http://schemas.openxmlformats.org/drawingml/2006/main">
              <a:ext uri="{FF2B5EF4-FFF2-40B4-BE49-F238E27FC236}">
                <a16:creationId xmlns:a16="http://schemas.microsoft.com/office/drawing/2014/main" id="{A9E8E71C-6782-4AF1-87A3-5C3CBFFC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386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" name="action_2">
            <a:extLst xmlns:a="http://schemas.openxmlformats.org/drawingml/2006/main">
              <a:ext uri="{FF2B5EF4-FFF2-40B4-BE49-F238E27FC236}">
                <a16:creationId xmlns:a16="http://schemas.microsoft.com/office/drawing/2014/main" id="{67F2966E-D7FA-4A54-BD65-40FD7F9D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76775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要求 practical margin 和 slice stability</a:t>
            </a:r>
          </a:p>
        </p:txBody>
      </p:sp>
      <p:sp>
        <p:nvSpPr>
          <p:cNvPr id="29" name="boundary_box">
            <a:extLst xmlns:a="http://schemas.openxmlformats.org/drawingml/2006/main">
              <a:ext uri="{FF2B5EF4-FFF2-40B4-BE49-F238E27FC236}">
                <a16:creationId xmlns:a16="http://schemas.microsoft.com/office/drawing/2014/main" id="{DE4946A9-272D-430A-8981-EBABDD49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0" name="claim_boundary">
            <a:extLst xmlns:a="http://schemas.openxmlformats.org/drawingml/2006/main">
              <a:ext uri="{FF2B5EF4-FFF2-40B4-BE49-F238E27FC236}">
                <a16:creationId xmlns:a16="http://schemas.microsoft.com/office/drawing/2014/main" id="{F4F09DBD-AE34-47FD-87AD-2022D6AD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预测效度尚未建立；tuning-loop improvement 也尚未实证。</a:t>
            </a:r>
          </a:p>
        </p:txBody>
      </p:sp>
    </p:spTree>
    <p:extLst>
      <p:ext uri="{BB962C8B-B14F-4D97-AF65-F5344CB8AC3E}">
        <p14:creationId xmlns:p14="http://schemas.microsoft.com/office/powerpoint/2010/main" val="5630686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7B7CE1E-432D-493B-899B-8661E678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9DAE692A-5DAE-4995-B882-4082B058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BB79A1FD-0E5A-4B0C-818C-44CF3B9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C1792E73-DFED-4B12-B4E7-6F67AAAD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研究路线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AE63FCB1-CE94-47DA-9F6F-D2E4279C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后续研究走向冻结 release 和未来验证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D0ABE6C-E304-4C61-98C5-129FE45A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outcome-unseen evidence 才能支撑更强声明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C3506F24-AC4B-46CC-8F39-CDA340F4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route_copy">
            <a:extLst xmlns:a="http://schemas.openxmlformats.org/drawingml/2006/main">
              <a:ext uri="{FF2B5EF4-FFF2-40B4-BE49-F238E27FC236}">
                <a16:creationId xmlns:a16="http://schemas.microsoft.com/office/drawing/2014/main" id="{CBFEA4C4-3A24-4273-B156-7D16B7B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5735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下一阶段固定 release、selection rule、baseline suite、invalid handling 和 success criteria，再用 true future holdout 或 preregistered rolling-origin evidence 验证。</a:t>
            </a:r>
          </a:p>
        </p:txBody>
      </p:sp>
      <p:sp>
        <p:nvSpPr>
          <p:cNvPr id="9" name="validation_stage_1_fill">
            <a:extLst xmlns:a="http://schemas.openxmlformats.org/drawingml/2006/main">
              <a:ext uri="{FF2B5EF4-FFF2-40B4-BE49-F238E27FC236}">
                <a16:creationId xmlns:a16="http://schemas.microsoft.com/office/drawing/2014/main" id="{EB16BAA6-F8F0-4721-B22B-702EA7B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24150"/>
            <a:ext cx="1676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validation_stage_1_label">
            <a:extLst xmlns:a="http://schemas.openxmlformats.org/drawingml/2006/main">
              <a:ext uri="{FF2B5EF4-FFF2-40B4-BE49-F238E27FC236}">
                <a16:creationId xmlns:a16="http://schemas.microsoft.com/office/drawing/2014/main" id="{2610E1CD-986C-4451-B378-ECC53EF5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1  Freeze release</a:t>
            </a:r>
          </a:p>
        </p:txBody>
      </p:sp>
      <p:sp>
        <p:nvSpPr>
          <p:cNvPr id="11" name="validation_stage_1_body">
            <a:extLst xmlns:a="http://schemas.openxmlformats.org/drawingml/2006/main">
              <a:ext uri="{FF2B5EF4-FFF2-40B4-BE49-F238E27FC236}">
                <a16:creationId xmlns:a16="http://schemas.microsoft.com/office/drawing/2014/main" id="{EF27B94A-8E7A-4C90-9D7E-010B0DED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766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task IDs / split / fallback</a:t>
            </a:r>
          </a:p>
        </p:txBody>
      </p:sp>
      <p:sp>
        <p:nvSpPr>
          <p:cNvPr id="12" name="validation_link_0">
            <a:extLst xmlns:a="http://schemas.openxmlformats.org/drawingml/2006/main">
              <a:ext uri="{FF2B5EF4-FFF2-40B4-BE49-F238E27FC236}">
                <a16:creationId xmlns:a16="http://schemas.microsoft.com/office/drawing/2014/main" id="{C6E88405-EBB1-4099-A2F1-A05A432E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3" name="validation_stage_2_fill">
            <a:extLst xmlns:a="http://schemas.openxmlformats.org/drawingml/2006/main">
              <a:ext uri="{FF2B5EF4-FFF2-40B4-BE49-F238E27FC236}">
                <a16:creationId xmlns:a16="http://schemas.microsoft.com/office/drawing/2014/main" id="{A2976802-4E9B-4798-BEB4-8A24DBE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1676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4" name="validation_stage_2_label">
            <a:extLst xmlns:a="http://schemas.openxmlformats.org/drawingml/2006/main">
              <a:ext uri="{FF2B5EF4-FFF2-40B4-BE49-F238E27FC236}">
                <a16:creationId xmlns:a16="http://schemas.microsoft.com/office/drawing/2014/main" id="{459CA70F-502C-493B-94AD-76AE0E25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2  Run named ACUTs</a:t>
            </a:r>
          </a:p>
        </p:txBody>
      </p:sp>
      <p:sp>
        <p:nvSpPr>
          <p:cNvPr id="15" name="validation_stage_2_body">
            <a:extLst xmlns:a="http://schemas.openxmlformats.org/drawingml/2006/main">
              <a:ext uri="{FF2B5EF4-FFF2-40B4-BE49-F238E27FC236}">
                <a16:creationId xmlns:a16="http://schemas.microsoft.com/office/drawing/2014/main" id="{BA8289C5-B7E3-4304-8568-8C00296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endpoint and adapter checks</a:t>
            </a:r>
          </a:p>
        </p:txBody>
      </p:sp>
      <p:sp>
        <p:nvSpPr>
          <p:cNvPr id="16" name="validation_link_1">
            <a:extLst xmlns:a="http://schemas.openxmlformats.org/drawingml/2006/main">
              <a:ext uri="{FF2B5EF4-FFF2-40B4-BE49-F238E27FC236}">
                <a16:creationId xmlns:a16="http://schemas.microsoft.com/office/drawing/2014/main" id="{3E4E17E1-0264-46BD-801E-253BA6A1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7" name="validation_stage_3_fill">
            <a:extLst xmlns:a="http://schemas.openxmlformats.org/drawingml/2006/main">
              <a:ext uri="{FF2B5EF4-FFF2-40B4-BE49-F238E27FC236}">
                <a16:creationId xmlns:a16="http://schemas.microsoft.com/office/drawing/2014/main" id="{7854BEDC-3750-4AB9-8AFE-2FAA689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1676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8" name="validation_stage_3_label">
            <a:extLst xmlns:a="http://schemas.openxmlformats.org/drawingml/2006/main">
              <a:ext uri="{FF2B5EF4-FFF2-40B4-BE49-F238E27FC236}">
                <a16:creationId xmlns:a16="http://schemas.microsoft.com/office/drawing/2014/main" id="{7CE7A4A3-4D9F-4B54-A219-88DBB636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38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3  Join future outcomes</a:t>
            </a:r>
          </a:p>
        </p:txBody>
      </p:sp>
      <p:sp>
        <p:nvSpPr>
          <p:cNvPr id="19" name="validation_stage_3_body">
            <a:extLst xmlns:a="http://schemas.openxmlformats.org/drawingml/2006/main">
              <a:ext uri="{FF2B5EF4-FFF2-40B4-BE49-F238E27FC236}">
                <a16:creationId xmlns:a16="http://schemas.microsoft.com/office/drawing/2014/main" id="{AC8D5D9D-3F19-4F41-84C6-39E5D75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766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outcome-unseen score join</a:t>
            </a:r>
          </a:p>
        </p:txBody>
      </p:sp>
      <p:sp>
        <p:nvSpPr>
          <p:cNvPr id="20" name="validation_link_2">
            <a:extLst xmlns:a="http://schemas.openxmlformats.org/drawingml/2006/main">
              <a:ext uri="{FF2B5EF4-FFF2-40B4-BE49-F238E27FC236}">
                <a16:creationId xmlns:a16="http://schemas.microsoft.com/office/drawing/2014/main" id="{13836D57-3010-471C-A56B-16BA354A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1" name="validation_stage_4_fill">
            <a:extLst xmlns:a="http://schemas.openxmlformats.org/drawingml/2006/main">
              <a:ext uri="{FF2B5EF4-FFF2-40B4-BE49-F238E27FC236}">
                <a16:creationId xmlns:a16="http://schemas.microsoft.com/office/drawing/2014/main" id="{88F8539D-CD30-457E-B216-AD442434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1676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2" name="validation_stage_4_label">
            <a:extLst xmlns:a="http://schemas.openxmlformats.org/drawingml/2006/main">
              <a:ext uri="{FF2B5EF4-FFF2-40B4-BE49-F238E27FC236}">
                <a16:creationId xmlns:a16="http://schemas.microsoft.com/office/drawing/2014/main" id="{B8E53C55-3F45-4C14-AF53-53A0A1CC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38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4  Compare envelope</a:t>
            </a:r>
          </a:p>
        </p:txBody>
      </p:sp>
      <p:sp>
        <p:nvSpPr>
          <p:cNvPr id="23" name="validation_stage_4_body">
            <a:extLst xmlns:a="http://schemas.openxmlformats.org/drawingml/2006/main">
              <a:ext uri="{FF2B5EF4-FFF2-40B4-BE49-F238E27FC236}">
                <a16:creationId xmlns:a16="http://schemas.microsoft.com/office/drawing/2014/main" id="{2FB21A1B-3544-43A8-9F92-CC977D4A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766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temporal / repo / random</a:t>
            </a:r>
          </a:p>
        </p:txBody>
      </p:sp>
      <p:sp>
        <p:nvSpPr>
          <p:cNvPr id="24" name="validation_link_3">
            <a:extLst xmlns:a="http://schemas.openxmlformats.org/drawingml/2006/main">
              <a:ext uri="{FF2B5EF4-FFF2-40B4-BE49-F238E27FC236}">
                <a16:creationId xmlns:a16="http://schemas.microsoft.com/office/drawing/2014/main" id="{1E87D8B1-2DAB-4E5A-9478-4DCF0956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5" name="validation_stage_5_fill">
            <a:extLst xmlns:a="http://schemas.openxmlformats.org/drawingml/2006/main">
              <a:ext uri="{FF2B5EF4-FFF2-40B4-BE49-F238E27FC236}">
                <a16:creationId xmlns:a16="http://schemas.microsoft.com/office/drawing/2014/main" id="{C1FAFE0D-2556-4614-863F-A780CCBF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1676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26" name="validation_stage_5_label">
            <a:extLst xmlns:a="http://schemas.openxmlformats.org/drawingml/2006/main">
              <a:ext uri="{FF2B5EF4-FFF2-40B4-BE49-F238E27FC236}">
                <a16:creationId xmlns:a16="http://schemas.microsoft.com/office/drawing/2014/main" id="{087368FD-B500-4A9C-AB07-CAC77CE3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5  State scoped result</a:t>
            </a:r>
          </a:p>
        </p:txBody>
      </p:sp>
      <p:sp>
        <p:nvSpPr>
          <p:cNvPr id="27" name="validation_stage_5_body">
            <a:extLst xmlns:a="http://schemas.openxmlformats.org/drawingml/2006/main">
              <a:ext uri="{FF2B5EF4-FFF2-40B4-BE49-F238E27FC236}">
                <a16:creationId xmlns:a16="http://schemas.microsoft.com/office/drawing/2014/main" id="{05726EC0-9A0A-4299-ADA6-FF239EBE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1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margin / support / invalid cells</a:t>
            </a:r>
          </a:p>
        </p:txBody>
      </p:sp>
      <p:sp>
        <p:nvSpPr>
          <p:cNvPr id="28" name="holdout_fill">
            <a:extLst xmlns:a="http://schemas.openxmlformats.org/drawingml/2006/main">
              <a:ext uri="{FF2B5EF4-FFF2-40B4-BE49-F238E27FC236}">
                <a16:creationId xmlns:a16="http://schemas.microsoft.com/office/drawing/2014/main" id="{473DEC34-04E2-4767-B5D6-94FD3DB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9" name="holdout_accent">
            <a:extLst xmlns:a="http://schemas.openxmlformats.org/drawingml/2006/main">
              <a:ext uri="{FF2B5EF4-FFF2-40B4-BE49-F238E27FC236}">
                <a16:creationId xmlns:a16="http://schemas.microsoft.com/office/drawing/2014/main" id="{373DEE60-84E5-4036-BE33-4F39D57F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30" name="holdout_title">
            <a:extLst xmlns:a="http://schemas.openxmlformats.org/drawingml/2006/main">
              <a:ext uri="{FF2B5EF4-FFF2-40B4-BE49-F238E27FC236}">
                <a16:creationId xmlns:a16="http://schemas.microsoft.com/office/drawing/2014/main" id="{5E3A5BE9-398B-49F0-9CAB-FFC8FAB4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14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Future holdout</a:t>
            </a:r>
          </a:p>
        </p:txBody>
      </p:sp>
      <p:sp>
        <p:nvSpPr>
          <p:cNvPr id="31" name="holdout_body">
            <a:extLst xmlns:a="http://schemas.openxmlformats.org/drawingml/2006/main">
              <a:ext uri="{FF2B5EF4-FFF2-40B4-BE49-F238E27FC236}">
                <a16:creationId xmlns:a16="http://schemas.microsoft.com/office/drawing/2014/main" id="{77092FDA-73BE-40B2-B24F-062CE83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3875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strongest route for named repos, ACUT configurations, task supply, and release boundary</a:t>
            </a:r>
          </a:p>
        </p:txBody>
      </p:sp>
      <p:sp>
        <p:nvSpPr>
          <p:cNvPr id="32" name="rolling_fill">
            <a:extLst xmlns:a="http://schemas.openxmlformats.org/drawingml/2006/main">
              <a:ext uri="{FF2B5EF4-FFF2-40B4-BE49-F238E27FC236}">
                <a16:creationId xmlns:a16="http://schemas.microsoft.com/office/drawing/2014/main" id="{E4BFF543-3C11-4BE3-839F-2FEB88AC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33" name="rolling_accent">
            <a:extLst xmlns:a="http://schemas.openxmlformats.org/drawingml/2006/main">
              <a:ext uri="{FF2B5EF4-FFF2-40B4-BE49-F238E27FC236}">
                <a16:creationId xmlns:a16="http://schemas.microsoft.com/office/drawing/2014/main" id="{F4B28F66-FB61-41AA-985C-0F56A0A0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34" name="rolling_title">
            <a:extLst xmlns:a="http://schemas.openxmlformats.org/drawingml/2006/main">
              <a:ext uri="{FF2B5EF4-FFF2-40B4-BE49-F238E27FC236}">
                <a16:creationId xmlns:a16="http://schemas.microsoft.com/office/drawing/2014/main" id="{3CAE48D1-E4E4-490A-9699-5A5FB084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14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Rolling origin</a:t>
            </a:r>
          </a:p>
        </p:txBody>
      </p:sp>
      <p:sp>
        <p:nvSpPr>
          <p:cNvPr id="35" name="rolling_body">
            <a:extLst xmlns:a="http://schemas.openxmlformats.org/drawingml/2006/main">
              <a:ext uri="{FF2B5EF4-FFF2-40B4-BE49-F238E27FC236}">
                <a16:creationId xmlns:a16="http://schemas.microsoft.com/office/drawing/2014/main" id="{08620336-C5E7-40A0-9C4B-0FB1185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3875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requires frozen cutoffs, seeds, selection rule, baselines, invalid handling, and 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18622130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A376779-8D98-476F-857C-FF8BF405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9AA169C7-B201-4DD3-B64C-E3512C0D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A4F2BD00-8CD7-4EAC-821C-FF3BFFF5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B5E83B0C-D70A-4730-B4E9-AA87DE59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产品化方向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7A57280C-C1C5-4514-8413-BF56055B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Agent License 需要仓库级证据层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BC108FD-FA1B-497B-9719-5F665802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Barcarolle 可以支持 deployment governance，但不负责发放授权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A94EA039-8BFD-41C7-8084-8BEBA047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license_copy">
            <a:extLst xmlns:a="http://schemas.openxmlformats.org/drawingml/2006/main">
              <a:ext uri="{FF2B5EF4-FFF2-40B4-BE49-F238E27FC236}">
                <a16:creationId xmlns:a16="http://schemas.microsoft.com/office/drawing/2014/main" id="{6DBC9971-F798-45CE-A7DD-758E563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57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证据层连接仓库/任务类别、风险等级、ACUT 配置和 scoped use decision，帮助 deployment governance 判断证据是否足够。</a:t>
            </a:r>
          </a:p>
        </p:txBody>
      </p:sp>
      <p:sp>
        <p:nvSpPr>
          <p:cNvPr id="9" name="gov_0_fill">
            <a:extLst xmlns:a="http://schemas.openxmlformats.org/drawingml/2006/main">
              <a:ext uri="{FF2B5EF4-FFF2-40B4-BE49-F238E27FC236}">
                <a16:creationId xmlns:a16="http://schemas.microsoft.com/office/drawing/2014/main" id="{AD19444C-25E6-4FC2-ACCD-DD00D101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86050"/>
            <a:ext cx="2038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0" name="gov_0_rule">
            <a:extLst xmlns:a="http://schemas.openxmlformats.org/drawingml/2006/main">
              <a:ext uri="{FF2B5EF4-FFF2-40B4-BE49-F238E27FC236}">
                <a16:creationId xmlns:a16="http://schemas.microsoft.com/office/drawing/2014/main" id="{1E3043DA-422F-446F-9CE0-F10ECFC5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860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1" name="gov_title_0">
            <a:extLst xmlns:a="http://schemas.openxmlformats.org/drawingml/2006/main">
              <a:ext uri="{FF2B5EF4-FFF2-40B4-BE49-F238E27FC236}">
                <a16:creationId xmlns:a16="http://schemas.microsoft.com/office/drawing/2014/main" id="{93728D97-CCED-4811-98A7-6334C1A9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仓库 / 任务类别</a:t>
            </a:r>
          </a:p>
        </p:txBody>
      </p:sp>
      <p:sp>
        <p:nvSpPr>
          <p:cNvPr id="12" name="gov_body_0">
            <a:extLst xmlns:a="http://schemas.openxmlformats.org/drawingml/2006/main">
              <a:ext uri="{FF2B5EF4-FFF2-40B4-BE49-F238E27FC236}">
                <a16:creationId xmlns:a16="http://schemas.microsoft.com/office/drawing/2014/main" id="{055383F5-9576-4750-B023-B9D6AFF1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242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quality + support</a:t>
            </a:r>
          </a:p>
        </p:txBody>
      </p:sp>
      <p:sp>
        <p:nvSpPr>
          <p:cNvPr id="13" name="gov_link_0">
            <a:extLst xmlns:a="http://schemas.openxmlformats.org/drawingml/2006/main">
              <a:ext uri="{FF2B5EF4-FFF2-40B4-BE49-F238E27FC236}">
                <a16:creationId xmlns:a16="http://schemas.microsoft.com/office/drawing/2014/main" id="{7BAF7178-BBFC-4C08-864F-12506D8B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gov_1_fill">
            <a:extLst xmlns:a="http://schemas.openxmlformats.org/drawingml/2006/main">
              <a:ext uri="{FF2B5EF4-FFF2-40B4-BE49-F238E27FC236}">
                <a16:creationId xmlns:a16="http://schemas.microsoft.com/office/drawing/2014/main" id="{9DE5F68C-BE73-4E9B-B449-A2AF5D72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86050"/>
            <a:ext cx="2038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5" name="gov_1_rule">
            <a:extLst xmlns:a="http://schemas.openxmlformats.org/drawingml/2006/main">
              <a:ext uri="{FF2B5EF4-FFF2-40B4-BE49-F238E27FC236}">
                <a16:creationId xmlns:a16="http://schemas.microsoft.com/office/drawing/2014/main" id="{36F78F14-2673-478C-B7D8-21D748B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860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6" name="gov_title_1">
            <a:extLst xmlns:a="http://schemas.openxmlformats.org/drawingml/2006/main">
              <a:ext uri="{FF2B5EF4-FFF2-40B4-BE49-F238E27FC236}">
                <a16:creationId xmlns:a16="http://schemas.microsoft.com/office/drawing/2014/main" id="{92B0433C-34D3-4E10-A634-1BBDCE88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527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风险等级</a:t>
            </a:r>
          </a:p>
        </p:txBody>
      </p:sp>
      <p:sp>
        <p:nvSpPr>
          <p:cNvPr id="17" name="gov_body_1">
            <a:extLst xmlns:a="http://schemas.openxmlformats.org/drawingml/2006/main">
              <a:ext uri="{FF2B5EF4-FFF2-40B4-BE49-F238E27FC236}">
                <a16:creationId xmlns:a16="http://schemas.microsoft.com/office/drawing/2014/main" id="{A9653577-029C-493A-A886-ADE001A0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242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uncertainty + failure taxonomy</a:t>
            </a:r>
          </a:p>
        </p:txBody>
      </p:sp>
      <p:sp>
        <p:nvSpPr>
          <p:cNvPr id="18" name="gov_link_1">
            <a:extLst xmlns:a="http://schemas.openxmlformats.org/drawingml/2006/main">
              <a:ext uri="{FF2B5EF4-FFF2-40B4-BE49-F238E27FC236}">
                <a16:creationId xmlns:a16="http://schemas.microsoft.com/office/drawing/2014/main" id="{F1D03A02-AC48-4E43-83B1-AA1C6DB0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581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9" name="gov_2_fill">
            <a:extLst xmlns:a="http://schemas.openxmlformats.org/drawingml/2006/main">
              <a:ext uri="{FF2B5EF4-FFF2-40B4-BE49-F238E27FC236}">
                <a16:creationId xmlns:a16="http://schemas.microsoft.com/office/drawing/2014/main" id="{90D06949-D558-4D0E-8BDA-CBD4983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038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0" name="gov_2_rule">
            <a:extLst xmlns:a="http://schemas.openxmlformats.org/drawingml/2006/main">
              <a:ext uri="{FF2B5EF4-FFF2-40B4-BE49-F238E27FC236}">
                <a16:creationId xmlns:a16="http://schemas.microsoft.com/office/drawing/2014/main" id="{892E38E9-4270-4CA4-BCE7-B63120F7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21" name="gov_title_2">
            <a:extLst xmlns:a="http://schemas.openxmlformats.org/drawingml/2006/main">
              <a:ext uri="{FF2B5EF4-FFF2-40B4-BE49-F238E27FC236}">
                <a16:creationId xmlns:a16="http://schemas.microsoft.com/office/drawing/2014/main" id="{06FA16D1-C057-4DDF-BAA5-0D01BD6F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配置</a:t>
            </a:r>
          </a:p>
        </p:txBody>
      </p:sp>
      <p:sp>
        <p:nvSpPr>
          <p:cNvPr id="22" name="gov_body_2">
            <a:extLst xmlns:a="http://schemas.openxmlformats.org/drawingml/2006/main">
              <a:ext uri="{FF2B5EF4-FFF2-40B4-BE49-F238E27FC236}">
                <a16:creationId xmlns:a16="http://schemas.microsoft.com/office/drawing/2014/main" id="{4FCEF26D-81A0-4368-A1D8-E6B53B5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adapter-stratified scorecard</a:t>
            </a:r>
          </a:p>
        </p:txBody>
      </p:sp>
      <p:sp>
        <p:nvSpPr>
          <p:cNvPr id="23" name="gov_link_2">
            <a:extLst xmlns:a="http://schemas.openxmlformats.org/drawingml/2006/main">
              <a:ext uri="{FF2B5EF4-FFF2-40B4-BE49-F238E27FC236}">
                <a16:creationId xmlns:a16="http://schemas.microsoft.com/office/drawing/2014/main" id="{C5A43E93-13FC-4B46-BB19-AFEB520C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4" name="gov_3_fill">
            <a:extLst xmlns:a="http://schemas.openxmlformats.org/drawingml/2006/main">
              <a:ext uri="{FF2B5EF4-FFF2-40B4-BE49-F238E27FC236}">
                <a16:creationId xmlns:a16="http://schemas.microsoft.com/office/drawing/2014/main" id="{093CF15D-FFEF-4089-924A-405B9888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86050"/>
            <a:ext cx="2038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5" name="gov_3_rule">
            <a:extLst xmlns:a="http://schemas.openxmlformats.org/drawingml/2006/main">
              <a:ext uri="{FF2B5EF4-FFF2-40B4-BE49-F238E27FC236}">
                <a16:creationId xmlns:a16="http://schemas.microsoft.com/office/drawing/2014/main" id="{2608FF79-B204-441E-96BF-9498C921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860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6" name="gov_title_3">
            <a:extLst xmlns:a="http://schemas.openxmlformats.org/drawingml/2006/main">
              <a:ext uri="{FF2B5EF4-FFF2-40B4-BE49-F238E27FC236}">
                <a16:creationId xmlns:a16="http://schemas.microsoft.com/office/drawing/2014/main" id="{0AA1B303-CE23-42EF-A764-CAC867B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527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使用判断</a:t>
            </a:r>
          </a:p>
        </p:txBody>
      </p:sp>
      <p:sp>
        <p:nvSpPr>
          <p:cNvPr id="27" name="gov_body_3">
            <a:extLst xmlns:a="http://schemas.openxmlformats.org/drawingml/2006/main">
              <a:ext uri="{FF2B5EF4-FFF2-40B4-BE49-F238E27FC236}">
                <a16:creationId xmlns:a16="http://schemas.microsoft.com/office/drawing/2014/main" id="{EA2F15AB-5380-428C-9758-56CCAC69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242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evidence status + scoped limits</a:t>
            </a:r>
          </a:p>
        </p:txBody>
      </p:sp>
      <p:sp>
        <p:nvSpPr>
          <p:cNvPr id="28" name="decision_box">
            <a:extLst xmlns:a="http://schemas.openxmlformats.org/drawingml/2006/main">
              <a:ext uri="{FF2B5EF4-FFF2-40B4-BE49-F238E27FC236}">
                <a16:creationId xmlns:a16="http://schemas.microsoft.com/office/drawing/2014/main" id="{600A828D-904F-4C48-84D7-563360F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43500"/>
            <a:ext cx="3638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9" name="decision_text">
            <a:extLst xmlns:a="http://schemas.openxmlformats.org/drawingml/2006/main">
              <a:ext uri="{FF2B5EF4-FFF2-40B4-BE49-F238E27FC236}">
                <a16:creationId xmlns:a16="http://schemas.microsoft.com/office/drawing/2014/main" id="{8CE49101-667F-4F49-9F78-9CB8101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959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53B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B42"/>
                </a:solidFill>
                <a:latin typeface="PingFang SC"/>
                <a:ea typeface="PingFang SC"/>
                <a:cs typeface="PingFang SC"/>
              </a:rPr>
              <a:t>scoped use decision</a:t>
            </a:r>
          </a:p>
        </p:txBody>
      </p:sp>
    </p:spTree>
    <p:extLst>
      <p:ext uri="{BB962C8B-B14F-4D97-AF65-F5344CB8AC3E}">
        <p14:creationId xmlns:p14="http://schemas.microsoft.com/office/powerpoint/2010/main" val="5746539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A79C405-A0E7-4884-8E63-3CD95678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B484FE94-787C-4304-A417-E8AB2B0B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5FB9D8B8-4CB1-412F-9E87-CD10701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0CBD3BA4-4F50-4E6D-BBA3-A6DFC06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产品化方向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2E7E6B76-3780-40B7-8736-FA53CD73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Agent Tuning 需要受保护的反馈回路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4EBD5B9-B690-4E8B-99EF-B3E5CA0A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Barcarolle 提供 scorecard 和 regression signal，但不接管调优闭环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02584334-8068-4FD9-9E0C-329A026D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tuning_copy">
            <a:extLst xmlns:a="http://schemas.openxmlformats.org/drawingml/2006/main">
              <a:ext uri="{FF2B5EF4-FFF2-40B4-BE49-F238E27FC236}">
                <a16:creationId xmlns:a16="http://schemas.microsoft.com/office/drawing/2014/main" id="{B6FA11B1-E174-444D-96FC-17A25DBA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573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可提供 dev/eval/canary release、failure taxonomy、scorecard 和 regression signal，帮助比较 prompt、retrieval、skills、tool policy 和 runtime budget，同时保护正式验证材料。</a:t>
            </a:r>
          </a:p>
        </p:txBody>
      </p:sp>
      <p:sp>
        <p:nvSpPr>
          <p:cNvPr id="9" name="input_0_fill">
            <a:extLst xmlns:a="http://schemas.openxmlformats.org/drawingml/2006/main">
              <a:ext uri="{FF2B5EF4-FFF2-40B4-BE49-F238E27FC236}">
                <a16:creationId xmlns:a16="http://schemas.microsoft.com/office/drawing/2014/main" id="{4B2ACAD4-1894-46DF-BB2E-F3855F3B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051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input_0_label">
            <a:extLst xmlns:a="http://schemas.openxmlformats.org/drawingml/2006/main">
              <a:ext uri="{FF2B5EF4-FFF2-40B4-BE49-F238E27FC236}">
                <a16:creationId xmlns:a16="http://schemas.microsoft.com/office/drawing/2014/main" id="{6D48402B-5A95-4E69-B075-BE9CE035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717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11" name="input_1_fill">
            <a:extLst xmlns:a="http://schemas.openxmlformats.org/drawingml/2006/main">
              <a:ext uri="{FF2B5EF4-FFF2-40B4-BE49-F238E27FC236}">
                <a16:creationId xmlns:a16="http://schemas.microsoft.com/office/drawing/2014/main" id="{5A714BC1-9680-45E5-8E60-B6FE0769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2" name="input_1_label">
            <a:extLst xmlns:a="http://schemas.openxmlformats.org/drawingml/2006/main">
              <a:ext uri="{FF2B5EF4-FFF2-40B4-BE49-F238E27FC236}">
                <a16:creationId xmlns:a16="http://schemas.microsoft.com/office/drawing/2014/main" id="{C0F40B75-4F00-448E-BB06-6A46D8C2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289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retrieval</a:t>
            </a:r>
          </a:p>
        </p:txBody>
      </p:sp>
      <p:sp>
        <p:nvSpPr>
          <p:cNvPr id="13" name="input_2_fill">
            <a:extLst xmlns:a="http://schemas.openxmlformats.org/drawingml/2006/main">
              <a:ext uri="{FF2B5EF4-FFF2-40B4-BE49-F238E27FC236}">
                <a16:creationId xmlns:a16="http://schemas.microsoft.com/office/drawing/2014/main" id="{17501CC2-6EFE-4A9D-B506-7406FB78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4" name="input_2_label">
            <a:extLst xmlns:a="http://schemas.openxmlformats.org/drawingml/2006/main">
              <a:ext uri="{FF2B5EF4-FFF2-40B4-BE49-F238E27FC236}">
                <a16:creationId xmlns:a16="http://schemas.microsoft.com/office/drawing/2014/main" id="{45A2ECA2-C057-4C0A-9CEA-8FF8F2CB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861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15" name="input_3_fill">
            <a:extLst xmlns:a="http://schemas.openxmlformats.org/drawingml/2006/main">
              <a:ext uri="{FF2B5EF4-FFF2-40B4-BE49-F238E27FC236}">
                <a16:creationId xmlns:a16="http://schemas.microsoft.com/office/drawing/2014/main" id="{480B9A01-3913-49AE-9D28-9B1346AB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6" name="input_3_label">
            <a:extLst xmlns:a="http://schemas.openxmlformats.org/drawingml/2006/main">
              <a:ext uri="{FF2B5EF4-FFF2-40B4-BE49-F238E27FC236}">
                <a16:creationId xmlns:a16="http://schemas.microsoft.com/office/drawing/2014/main" id="{5E046468-2166-4062-80B1-DDEF6CE5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433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tool policy</a:t>
            </a:r>
          </a:p>
        </p:txBody>
      </p:sp>
      <p:sp>
        <p:nvSpPr>
          <p:cNvPr id="17" name="input_4_fill">
            <a:extLst xmlns:a="http://schemas.openxmlformats.org/drawingml/2006/main">
              <a:ext uri="{FF2B5EF4-FFF2-40B4-BE49-F238E27FC236}">
                <a16:creationId xmlns:a16="http://schemas.microsoft.com/office/drawing/2014/main" id="{4174DF2C-531E-4E46-90FD-A21DE52B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8" name="input_4_label">
            <a:extLst xmlns:a="http://schemas.openxmlformats.org/drawingml/2006/main">
              <a:ext uri="{FF2B5EF4-FFF2-40B4-BE49-F238E27FC236}">
                <a16:creationId xmlns:a16="http://schemas.microsoft.com/office/drawing/2014/main" id="{4EAA5088-42F7-484C-86BD-89D23A7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005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2F6FB2"/>
                </a:solidFill>
                <a:latin typeface="PingFang SC"/>
                <a:ea typeface="PingFang SC"/>
                <a:cs typeface="PingFang SC"/>
              </a:rPr>
              <a:t>runtime budget</a:t>
            </a:r>
          </a:p>
        </p:txBody>
      </p:sp>
      <p:sp>
        <p:nvSpPr>
          <p:cNvPr id="19" name="dev_feedback_fill">
            <a:extLst xmlns:a="http://schemas.openxmlformats.org/drawingml/2006/main">
              <a:ext uri="{FF2B5EF4-FFF2-40B4-BE49-F238E27FC236}">
                <a16:creationId xmlns:a16="http://schemas.microsoft.com/office/drawing/2014/main" id="{6DE1FC74-324D-4026-B6DD-62015BF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2190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0" name="dev_feedback_accent">
            <a:extLst xmlns:a="http://schemas.openxmlformats.org/drawingml/2006/main">
              <a:ext uri="{FF2B5EF4-FFF2-40B4-BE49-F238E27FC236}">
                <a16:creationId xmlns:a16="http://schemas.microsoft.com/office/drawing/2014/main" id="{F34740F5-2359-4E1D-855E-2E9CBEEF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1" name="dev_feedback_title">
            <a:extLst xmlns:a="http://schemas.openxmlformats.org/drawingml/2006/main">
              <a:ext uri="{FF2B5EF4-FFF2-40B4-BE49-F238E27FC236}">
                <a16:creationId xmlns:a16="http://schemas.microsoft.com/office/drawing/2014/main" id="{11A93D96-58CC-4AD5-9AC4-24C7A79D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6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dev feedback</a:t>
            </a:r>
          </a:p>
        </p:txBody>
      </p:sp>
      <p:sp>
        <p:nvSpPr>
          <p:cNvPr id="22" name="dev_feedback_body">
            <a:extLst xmlns:a="http://schemas.openxmlformats.org/drawingml/2006/main">
              <a:ext uri="{FF2B5EF4-FFF2-40B4-BE49-F238E27FC236}">
                <a16:creationId xmlns:a16="http://schemas.microsoft.com/office/drawing/2014/main" id="{C99BB484-F0D6-4738-90A6-7C491C0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0400"/>
            <a:ext cx="188595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failure taxonomy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scorecard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configuration comparison</a:t>
            </a:r>
          </a:p>
        </p:txBody>
      </p:sp>
      <p:sp>
        <p:nvSpPr>
          <p:cNvPr id="23" name="eval_fill">
            <a:extLst xmlns:a="http://schemas.openxmlformats.org/drawingml/2006/main">
              <a:ext uri="{FF2B5EF4-FFF2-40B4-BE49-F238E27FC236}">
                <a16:creationId xmlns:a16="http://schemas.microsoft.com/office/drawing/2014/main" id="{79466134-655C-44C2-A1A1-0C51B21E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4" name="eval_accent">
            <a:extLst xmlns:a="http://schemas.openxmlformats.org/drawingml/2006/main">
              <a:ext uri="{FF2B5EF4-FFF2-40B4-BE49-F238E27FC236}">
                <a16:creationId xmlns:a16="http://schemas.microsoft.com/office/drawing/2014/main" id="{3DE910D6-AF23-4980-99F6-06E723C2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5" name="eval_title">
            <a:extLst xmlns:a="http://schemas.openxmlformats.org/drawingml/2006/main">
              <a:ext uri="{FF2B5EF4-FFF2-40B4-BE49-F238E27FC236}">
                <a16:creationId xmlns:a16="http://schemas.microsoft.com/office/drawing/2014/main" id="{6461EBCB-2269-46E0-B2BE-D94E31F7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protected eval</a:t>
            </a:r>
          </a:p>
        </p:txBody>
      </p:sp>
      <p:sp>
        <p:nvSpPr>
          <p:cNvPr id="26" name="eval_body">
            <a:extLst xmlns:a="http://schemas.openxmlformats.org/drawingml/2006/main">
              <a:ext uri="{FF2B5EF4-FFF2-40B4-BE49-F238E27FC236}">
                <a16:creationId xmlns:a16="http://schemas.microsoft.com/office/drawing/2014/main" id="{168ABFA5-D8D5-4A8A-8B46-B265B801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fixed rules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held-out tasks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 accounting</a:t>
            </a:r>
          </a:p>
        </p:txBody>
      </p:sp>
      <p:sp>
        <p:nvSpPr>
          <p:cNvPr id="27" name="canary_fill">
            <a:extLst xmlns:a="http://schemas.openxmlformats.org/drawingml/2006/main">
              <a:ext uri="{FF2B5EF4-FFF2-40B4-BE49-F238E27FC236}">
                <a16:creationId xmlns:a16="http://schemas.microsoft.com/office/drawing/2014/main" id="{14240C3B-27EF-480C-986F-476B77C5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2910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8" name="canary_accent">
            <a:extLst xmlns:a="http://schemas.openxmlformats.org/drawingml/2006/main">
              <a:ext uri="{FF2B5EF4-FFF2-40B4-BE49-F238E27FC236}">
                <a16:creationId xmlns:a16="http://schemas.microsoft.com/office/drawing/2014/main" id="{64006CCE-60A7-48EF-94E6-11B0EA37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291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9" name="canary_title">
            <a:extLst xmlns:a="http://schemas.openxmlformats.org/drawingml/2006/main">
              <a:ext uri="{FF2B5EF4-FFF2-40B4-BE49-F238E27FC236}">
                <a16:creationId xmlns:a16="http://schemas.microsoft.com/office/drawing/2014/main" id="{4AE595D8-B5B0-41C9-86AA-52111F4E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canary release</a:t>
            </a:r>
          </a:p>
        </p:txBody>
      </p:sp>
      <p:sp>
        <p:nvSpPr>
          <p:cNvPr id="30" name="canary_body">
            <a:extLst xmlns:a="http://schemas.openxmlformats.org/drawingml/2006/main">
              <a:ext uri="{FF2B5EF4-FFF2-40B4-BE49-F238E27FC236}">
                <a16:creationId xmlns:a16="http://schemas.microsoft.com/office/drawing/2014/main" id="{73899FBB-D135-4FA2-B9D6-306A921F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0535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regression signal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cost / latency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slice stability</a:t>
            </a:r>
          </a:p>
        </p:txBody>
      </p:sp>
      <p:sp>
        <p:nvSpPr>
          <p:cNvPr id="31" name="inputs_to_dev">
            <a:extLst xmlns:a="http://schemas.openxmlformats.org/drawingml/2006/main">
              <a:ext uri="{FF2B5EF4-FFF2-40B4-BE49-F238E27FC236}">
                <a16:creationId xmlns:a16="http://schemas.microsoft.com/office/drawing/2014/main" id="{D764B548-DCF4-43A4-93A0-15F31E5F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2" name="dev_to_eval">
            <a:extLst xmlns:a="http://schemas.openxmlformats.org/drawingml/2006/main">
              <a:ext uri="{FF2B5EF4-FFF2-40B4-BE49-F238E27FC236}">
                <a16:creationId xmlns:a16="http://schemas.microsoft.com/office/drawing/2014/main" id="{E850E709-A8E0-42DC-BE42-9C18BE1E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3" name="dev_to_canary">
            <a:extLst xmlns:a="http://schemas.openxmlformats.org/drawingml/2006/main">
              <a:ext uri="{FF2B5EF4-FFF2-40B4-BE49-F238E27FC236}">
                <a16:creationId xmlns:a16="http://schemas.microsoft.com/office/drawing/2014/main" id="{55854BDE-42C9-4D69-B070-9713E2DF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76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4" name="protected_box">
            <a:extLst xmlns:a="http://schemas.openxmlformats.org/drawingml/2006/main">
              <a:ext uri="{FF2B5EF4-FFF2-40B4-BE49-F238E27FC236}">
                <a16:creationId xmlns:a16="http://schemas.microsoft.com/office/drawing/2014/main" id="{3064F5DC-9794-4FE5-AA08-24E1ADA7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147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5" name="protected_text">
            <a:extLst xmlns:a="http://schemas.openxmlformats.org/drawingml/2006/main">
              <a:ext uri="{FF2B5EF4-FFF2-40B4-BE49-F238E27FC236}">
                <a16:creationId xmlns:a16="http://schemas.microsoft.com/office/drawing/2014/main" id="{968B18E0-3DAF-4C72-842D-D5DCC34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formal evidence</a:t>
            </a:r>
          </a:p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stays protected</a:t>
            </a:r>
          </a:p>
        </p:txBody>
      </p:sp>
    </p:spTree>
    <p:extLst>
      <p:ext uri="{BB962C8B-B14F-4D97-AF65-F5344CB8AC3E}">
        <p14:creationId xmlns:p14="http://schemas.microsoft.com/office/powerpoint/2010/main" val="1922790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2026-06-02T03:58:15.5870000Z</dcterms:created>
  <dcterms:modified xsi:type="dcterms:W3CDTF">2026-06-02T03:58:15.5870000Z</dcterms:modified>
</coreProperties>
</file>