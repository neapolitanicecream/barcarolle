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6d882b9104a77" /><Relationship Type="http://schemas.openxmlformats.org/officeDocument/2006/relationships/extended-properties" Target="/docProps/app.xml" Id="R4a35f271b5ac44f1" /><Relationship Type="http://schemas.openxmlformats.org/officeDocument/2006/relationships/officeDocument" Target="/ppt/presentation.xml" Id="R24af18299d6845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a3361d900476b"/>
  </p:sldMasterIdLst>
  <p:notesMasterIdLst>
    <p:notesMasterId xmlns:r="http://schemas.openxmlformats.org/officeDocument/2006/relationships" r:id="R8de8f152be704481"/>
  </p:notesMasterIdLst>
  <p:sldIdLst>
    <p:sldId xmlns:r="http://schemas.openxmlformats.org/officeDocument/2006/relationships" id="256" r:id="R8d9c9b5524f649d9"/>
    <p:sldId xmlns:r="http://schemas.openxmlformats.org/officeDocument/2006/relationships" id="257" r:id="Reaa3134c3e634f24"/>
    <p:sldId xmlns:r="http://schemas.openxmlformats.org/officeDocument/2006/relationships" id="258" r:id="Rac61d99d6bcd4e6d"/>
    <p:sldId xmlns:r="http://schemas.openxmlformats.org/officeDocument/2006/relationships" id="259" r:id="Rc7949b7e1a2e4620"/>
    <p:sldId xmlns:r="http://schemas.openxmlformats.org/officeDocument/2006/relationships" id="260" r:id="R371b97fde47a48c9"/>
    <p:sldId xmlns:r="http://schemas.openxmlformats.org/officeDocument/2006/relationships" id="261" r:id="R7e54e14b1ff14893"/>
    <p:sldId xmlns:r="http://schemas.openxmlformats.org/officeDocument/2006/relationships" id="262" r:id="Re9de6deb52934671"/>
    <p:sldId xmlns:r="http://schemas.openxmlformats.org/officeDocument/2006/relationships" id="263" r:id="R482ec45061934f1c"/>
    <p:sldId xmlns:r="http://schemas.openxmlformats.org/officeDocument/2006/relationships" id="264" r:id="R528d1985c1d44646"/>
    <p:sldId xmlns:r="http://schemas.openxmlformats.org/officeDocument/2006/relationships" id="265" r:id="Ra2bf523470bb4663"/>
    <p:sldId xmlns:r="http://schemas.openxmlformats.org/officeDocument/2006/relationships" id="266" r:id="Rb90bb6aae73f4f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7e8384818b42e9" /><Relationship Type="http://schemas.openxmlformats.org/officeDocument/2006/relationships/slideMaster" Target="/ppt/slideMasters/slideMaster1.xml" Id="R81ca3361d900476b" /><Relationship Type="http://schemas.openxmlformats.org/officeDocument/2006/relationships/notesMaster" Target="/ppt/notesMasters/notesMaster1.xml" Id="R8de8f152be704481" /><Relationship Type="http://schemas.openxmlformats.org/officeDocument/2006/relationships/presProps" Target="/ppt/presProps.xml" Id="R65330ed045834ca2" /><Relationship Type="http://schemas.openxmlformats.org/officeDocument/2006/relationships/viewProps" Target="/ppt/viewProps.xml" Id="Rfe095beaf33d4424" /><Relationship Type="http://schemas.openxmlformats.org/officeDocument/2006/relationships/tableStyles" Target="/ppt/tableStyles.xml" Id="R07381815f6884d7e" /><Relationship Type="http://schemas.openxmlformats.org/officeDocument/2006/relationships/slide" Target="/ppt/slides/slide1.xml" Id="R8d9c9b5524f649d9" /><Relationship Type="http://schemas.openxmlformats.org/officeDocument/2006/relationships/slide" Target="/ppt/slides/slide2.xml" Id="Reaa3134c3e634f24" /><Relationship Type="http://schemas.openxmlformats.org/officeDocument/2006/relationships/slide" Target="/ppt/slides/slide3.xml" Id="Rac61d99d6bcd4e6d" /><Relationship Type="http://schemas.openxmlformats.org/officeDocument/2006/relationships/slide" Target="/ppt/slides/slide4.xml" Id="Rc7949b7e1a2e4620" /><Relationship Type="http://schemas.openxmlformats.org/officeDocument/2006/relationships/slide" Target="/ppt/slides/slide5.xml" Id="R371b97fde47a48c9" /><Relationship Type="http://schemas.openxmlformats.org/officeDocument/2006/relationships/slide" Target="/ppt/slides/slide6.xml" Id="R7e54e14b1ff14893" /><Relationship Type="http://schemas.openxmlformats.org/officeDocument/2006/relationships/slide" Target="/ppt/slides/slide7.xml" Id="Re9de6deb52934671" /><Relationship Type="http://schemas.openxmlformats.org/officeDocument/2006/relationships/slide" Target="/ppt/slides/slide8.xml" Id="R482ec45061934f1c" /><Relationship Type="http://schemas.openxmlformats.org/officeDocument/2006/relationships/slide" Target="/ppt/slides/slide9.xml" Id="R528d1985c1d44646" /><Relationship Type="http://schemas.openxmlformats.org/officeDocument/2006/relationships/slide" Target="/ppt/slides/slide10.xml" Id="Ra2bf523470bb4663" /><Relationship Type="http://schemas.openxmlformats.org/officeDocument/2006/relationships/slide" Target="/ppt/slides/slide11.xml" Id="Rb90bb6aae73f4f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abf7544fc647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3b986c848541aa" /><Relationship Type="http://schemas.openxmlformats.org/officeDocument/2006/relationships/notesMaster" Target="/ppt/notesMasters/notesMaster1.xml" Id="R46b07a733c084e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11c1bca48d46c1" /><Relationship Type="http://schemas.openxmlformats.org/officeDocument/2006/relationships/notesMaster" Target="/ppt/notesMasters/notesMaster1.xml" Id="R8ffa63c9c56d49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329682056f47b0" /><Relationship Type="http://schemas.openxmlformats.org/officeDocument/2006/relationships/notesMaster" Target="/ppt/notesMasters/notesMaster1.xml" Id="Re1b73834e90c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f2230c7a77435e" /><Relationship Type="http://schemas.openxmlformats.org/officeDocument/2006/relationships/notesMaster" Target="/ppt/notesMasters/notesMaster1.xml" Id="R53c9167eb6d74f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af89a99b5c43e1" /><Relationship Type="http://schemas.openxmlformats.org/officeDocument/2006/relationships/notesMaster" Target="/ppt/notesMasters/notesMaster1.xml" Id="R6d8d2a99aba641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a522a12ace4c02" /><Relationship Type="http://schemas.openxmlformats.org/officeDocument/2006/relationships/notesMaster" Target="/ppt/notesMasters/notesMaster1.xml" Id="Rfac7d6c48c1142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a0e69f677942ae" /><Relationship Type="http://schemas.openxmlformats.org/officeDocument/2006/relationships/notesMaster" Target="/ppt/notesMasters/notesMaster1.xml" Id="Ra8684b528e0c4c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30d79a9cc345b0" /><Relationship Type="http://schemas.openxmlformats.org/officeDocument/2006/relationships/notesMaster" Target="/ppt/notesMasters/notesMaster1.xml" Id="R062c205269e14a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b9587187f34b89" /><Relationship Type="http://schemas.openxmlformats.org/officeDocument/2006/relationships/notesMaster" Target="/ppt/notesMasters/notesMaster1.xml" Id="Re37315a6638643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78a21af2dc4790" /><Relationship Type="http://schemas.openxmlformats.org/officeDocument/2006/relationships/notesMaster" Target="/ppt/notesMasters/notesMaster1.xml" Id="R9a4efe56fe5947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b1a42209214408" /><Relationship Type="http://schemas.openxmlformats.org/officeDocument/2006/relationships/notesMaster" Target="/ppt/notesMasters/notesMaster1.xml" Id="R20f4029cf6ba49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31a982e0d44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89d81ccc344c2" /><Relationship Type="http://schemas.openxmlformats.org/officeDocument/2006/relationships/slideLayout" Target="/ppt/slideLayouts/slideLayout1.xml" Id="R866c7913c2924a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c7913c2924a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35e69ae2d4266" /><Relationship Type="http://schemas.openxmlformats.org/officeDocument/2006/relationships/notesSlide" Target="/ppt/notesSlides/notesSlide1.xml" Id="Rb01e1570ac714a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90315207c4260" /><Relationship Type="http://schemas.openxmlformats.org/officeDocument/2006/relationships/notesSlide" Target="/ppt/notesSlides/notesSlide2.xml" Id="Rff03898dd0694b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6f26d45fb4df8" /><Relationship Type="http://schemas.openxmlformats.org/officeDocument/2006/relationships/notesSlide" Target="/ppt/notesSlides/notesSlide3.xml" Id="Rd83e1caeaca348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3b7e014ff41d7" /><Relationship Type="http://schemas.openxmlformats.org/officeDocument/2006/relationships/notesSlide" Target="/ppt/notesSlides/notesSlide4.xml" Id="R799052932574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c9ada86b342f6" /><Relationship Type="http://schemas.openxmlformats.org/officeDocument/2006/relationships/notesSlide" Target="/ppt/notesSlides/notesSlide5.xml" Id="R5eade039c01548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0cdfc81b74510" /><Relationship Type="http://schemas.openxmlformats.org/officeDocument/2006/relationships/notesSlide" Target="/ppt/notesSlides/notesSlide6.xml" Id="Rf2be62d549cd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fa821853148f1" /><Relationship Type="http://schemas.openxmlformats.org/officeDocument/2006/relationships/notesSlide" Target="/ppt/notesSlides/notesSlide7.xml" Id="R727021ac77ac43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ff7bdd9194b55" /><Relationship Type="http://schemas.openxmlformats.org/officeDocument/2006/relationships/notesSlide" Target="/ppt/notesSlides/notesSlide8.xml" Id="R0a43c5da825647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c8e63eaf541bc" /><Relationship Type="http://schemas.openxmlformats.org/officeDocument/2006/relationships/notesSlide" Target="/ppt/notesSlides/notesSlide9.xml" Id="R0c964e9a35684f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84eef138c4b2d" /><Relationship Type="http://schemas.openxmlformats.org/officeDocument/2006/relationships/notesSlide" Target="/ppt/notesSlides/notesSlide10.xml" Id="R6b50936160ae4a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5314283ec4a6a" /><Relationship Type="http://schemas.openxmlformats.org/officeDocument/2006/relationships/notesSlide" Target="/ppt/notesSlides/notesSlide11.xml" Id="Re9c57f41c3a04b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5D58C3F-ECB6-40BC-9626-4554300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768D6509-3378-4D1D-9440-259711F2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F94965D-5C04-476B-B12B-CE7DBBD6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0A9A5D71-5282-4814-B968-8B53F8F3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项目定位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E0E5E432-B5C8-44F1-87CC-B8DB9ECE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编译面向目标仓库的评测 release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6D4963E-13DC-4B44-9F75-8643905C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ACUT = Agent Configuration Under Test，一次被评估的 agent 配置。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0BFCF442-7A2C-45EF-B43E-29C808F3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definition_copy">
            <a:extLst xmlns:a="http://schemas.openxmlformats.org/drawingml/2006/main">
              <a:ext uri="{FF2B5EF4-FFF2-40B4-BE49-F238E27FC236}">
                <a16:creationId xmlns:a16="http://schemas.microsoft.com/office/drawing/2014/main" id="{EF21C600-2C36-4F76-9A53-CBF8ABA5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171450" tIns="152400" rIns="171450" bIns="1524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把目标仓库、候选任务、验证规则和 ACUT 边界组织成可冻结 release，用来估计这个 agent 配置在未来仓库工作中的表现。</a:t>
            </a:r>
          </a:p>
        </p:txBody>
      </p:sp>
      <p:sp>
        <p:nvSpPr>
          <p:cNvPr id="9" name="bench_boundary_fill">
            <a:extLst xmlns:a="http://schemas.openxmlformats.org/drawingml/2006/main">
              <a:ext uri="{FF2B5EF4-FFF2-40B4-BE49-F238E27FC236}">
                <a16:creationId xmlns:a16="http://schemas.microsoft.com/office/drawing/2014/main" id="{AD8F7D6D-A150-4C68-9702-32457B15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10" name="bench_boundary_accent">
            <a:extLst xmlns:a="http://schemas.openxmlformats.org/drawingml/2006/main">
              <a:ext uri="{FF2B5EF4-FFF2-40B4-BE49-F238E27FC236}">
                <a16:creationId xmlns:a16="http://schemas.microsoft.com/office/drawing/2014/main" id="{05A54E14-2FE4-466B-B1B3-06CB5E5C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1" name="bench_boundary_title">
            <a:extLst xmlns:a="http://schemas.openxmlformats.org/drawingml/2006/main">
              <a:ext uri="{FF2B5EF4-FFF2-40B4-BE49-F238E27FC236}">
                <a16:creationId xmlns:a16="http://schemas.microsoft.com/office/drawing/2014/main" id="{BC0CDA8E-1D41-4088-9550-AF01ADE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组织 release evidence</a:t>
            </a:r>
          </a:p>
        </p:txBody>
      </p:sp>
      <p:sp>
        <p:nvSpPr>
          <p:cNvPr id="12" name="bench_boundary_body">
            <a:extLst xmlns:a="http://schemas.openxmlformats.org/drawingml/2006/main">
              <a:ext uri="{FF2B5EF4-FFF2-40B4-BE49-F238E27FC236}">
                <a16:creationId xmlns:a16="http://schemas.microsoft.com/office/drawing/2014/main" id="{EA0FFD52-A242-4D2A-BA1A-CA374F50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052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task set、split、source/oracle metadata、validation rules。</a:t>
            </a:r>
          </a:p>
        </p:txBody>
      </p:sp>
      <p:sp>
        <p:nvSpPr>
          <p:cNvPr id="13" name="acut_boundary_fill">
            <a:extLst xmlns:a="http://schemas.openxmlformats.org/drawingml/2006/main">
              <a:ext uri="{FF2B5EF4-FFF2-40B4-BE49-F238E27FC236}">
                <a16:creationId xmlns:a16="http://schemas.microsoft.com/office/drawing/2014/main" id="{14C7BAEF-C420-4392-B56A-80BF087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4" name="acut_boundary_accent">
            <a:extLst xmlns:a="http://schemas.openxmlformats.org/drawingml/2006/main">
              <a:ext uri="{FF2B5EF4-FFF2-40B4-BE49-F238E27FC236}">
                <a16:creationId xmlns:a16="http://schemas.microsoft.com/office/drawing/2014/main" id="{F71F2A6F-BDB7-4BC0-8D1C-3FB9BD8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5" name="acut_boundary_title">
            <a:extLst xmlns:a="http://schemas.openxmlformats.org/drawingml/2006/main">
              <a:ext uri="{FF2B5EF4-FFF2-40B4-BE49-F238E27FC236}">
                <a16:creationId xmlns:a16="http://schemas.microsoft.com/office/drawing/2014/main" id="{583BB68D-180F-4244-BB15-36ABB7FC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76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保留自己的 harness</a:t>
            </a:r>
          </a:p>
        </p:txBody>
      </p:sp>
      <p:sp>
        <p:nvSpPr>
          <p:cNvPr id="16" name="acut_boundary_body">
            <a:extLst xmlns:a="http://schemas.openxmlformats.org/drawingml/2006/main">
              <a:ext uri="{FF2B5EF4-FFF2-40B4-BE49-F238E27FC236}">
                <a16:creationId xmlns:a16="http://schemas.microsoft.com/office/drawing/2014/main" id="{E89B93EE-C609-491C-8093-43524D8C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prompt、tools、model、budget 和运行策略由该配置控制。</a:t>
            </a:r>
          </a:p>
        </p:txBody>
      </p:sp>
      <p:sp>
        <p:nvSpPr>
          <p:cNvPr id="17" name="目标仓库_box">
            <a:extLst xmlns:a="http://schemas.openxmlformats.org/drawingml/2006/main">
              <a:ext uri="{FF2B5EF4-FFF2-40B4-BE49-F238E27FC236}">
                <a16:creationId xmlns:a16="http://schemas.microsoft.com/office/drawing/2014/main" id="{8EE51DB0-A9F1-4CF4-934D-BA830528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8" name="目标仓库_accent">
            <a:extLst xmlns:a="http://schemas.openxmlformats.org/drawingml/2006/main">
              <a:ext uri="{FF2B5EF4-FFF2-40B4-BE49-F238E27FC236}">
                <a16:creationId xmlns:a16="http://schemas.microsoft.com/office/drawing/2014/main" id="{50D9F256-7F2D-46CE-8F4D-F0C2D92E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9" name="目标仓库_title">
            <a:extLst xmlns:a="http://schemas.openxmlformats.org/drawingml/2006/main">
              <a:ext uri="{FF2B5EF4-FFF2-40B4-BE49-F238E27FC236}">
                <a16:creationId xmlns:a16="http://schemas.microsoft.com/office/drawing/2014/main" id="{64C88070-EC11-4BBA-8531-76A95C77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目标仓库</a:t>
            </a:r>
          </a:p>
        </p:txBody>
      </p:sp>
      <p:sp>
        <p:nvSpPr>
          <p:cNvPr id="20" name="目标仓库_body">
            <a:extLst xmlns:a="http://schemas.openxmlformats.org/drawingml/2006/main">
              <a:ext uri="{FF2B5EF4-FFF2-40B4-BE49-F238E27FC236}">
                <a16:creationId xmlns:a16="http://schemas.microsoft.com/office/drawing/2014/main" id="{BB20D6D6-82F9-4659-8DCC-BD557E3B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7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7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未来 issue / API / 测试习惯 / 依赖约束</a:t>
            </a:r>
          </a:p>
        </p:txBody>
      </p:sp>
      <p:sp>
        <p:nvSpPr>
          <p:cNvPr id="21" name="仓库级评测 release_box">
            <a:extLst xmlns:a="http://schemas.openxmlformats.org/drawingml/2006/main">
              <a:ext uri="{FF2B5EF4-FFF2-40B4-BE49-F238E27FC236}">
                <a16:creationId xmlns:a16="http://schemas.microsoft.com/office/drawing/2014/main" id="{33822713-A3B8-4D1C-9825-864CDA19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2" name="仓库级评测 release_accent">
            <a:extLst xmlns:a="http://schemas.openxmlformats.org/drawingml/2006/main">
              <a:ext uri="{FF2B5EF4-FFF2-40B4-BE49-F238E27FC236}">
                <a16:creationId xmlns:a16="http://schemas.microsoft.com/office/drawing/2014/main" id="{899A0E62-F519-40C6-8E66-A6AEEF7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3" name="仓库级评测 release_title">
            <a:extLst xmlns:a="http://schemas.openxmlformats.org/drawingml/2006/main">
              <a:ext uri="{FF2B5EF4-FFF2-40B4-BE49-F238E27FC236}">
                <a16:creationId xmlns:a16="http://schemas.microsoft.com/office/drawing/2014/main" id="{BBA1E196-541D-4063-B865-7FF3A1C6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仓库级评测 release</a:t>
            </a:r>
          </a:p>
        </p:txBody>
      </p:sp>
      <p:sp>
        <p:nvSpPr>
          <p:cNvPr id="24" name="仓库级评测 release_body">
            <a:extLst xmlns:a="http://schemas.openxmlformats.org/drawingml/2006/main">
              <a:ext uri="{FF2B5EF4-FFF2-40B4-BE49-F238E27FC236}">
                <a16:creationId xmlns:a16="http://schemas.microsoft.com/office/drawing/2014/main" id="{D9B646B8-3C6E-4519-A376-AD2247B2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7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7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task set / split / metadata / validation rules</a:t>
            </a:r>
          </a:p>
        </p:txBody>
      </p:sp>
      <p:sp>
        <p:nvSpPr>
          <p:cNvPr id="25" name="ACUT 运行与结果_box">
            <a:extLst xmlns:a="http://schemas.openxmlformats.org/drawingml/2006/main">
              <a:ext uri="{FF2B5EF4-FFF2-40B4-BE49-F238E27FC236}">
                <a16:creationId xmlns:a16="http://schemas.microsoft.com/office/drawing/2014/main" id="{1AD69D27-67AC-448A-93A4-03E86C8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6" name="ACUT 运行与结果_accent">
            <a:extLst xmlns:a="http://schemas.openxmlformats.org/drawingml/2006/main">
              <a:ext uri="{FF2B5EF4-FFF2-40B4-BE49-F238E27FC236}">
                <a16:creationId xmlns:a16="http://schemas.microsoft.com/office/drawing/2014/main" id="{21D17E07-5FDE-4D9A-8BFB-BECA69B8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27" name="ACUT 运行与结果_title">
            <a:extLst xmlns:a="http://schemas.openxmlformats.org/drawingml/2006/main">
              <a:ext uri="{FF2B5EF4-FFF2-40B4-BE49-F238E27FC236}">
                <a16:creationId xmlns:a16="http://schemas.microsoft.com/office/drawing/2014/main" id="{CD2C637E-0F08-4A53-BC65-115E297B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813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运行与结果</a:t>
            </a:r>
          </a:p>
        </p:txBody>
      </p:sp>
      <p:sp>
        <p:nvSpPr>
          <p:cNvPr id="28" name="ACUT 运行与结果_body">
            <a:extLst xmlns:a="http://schemas.openxmlformats.org/drawingml/2006/main">
              <a:ext uri="{FF2B5EF4-FFF2-40B4-BE49-F238E27FC236}">
                <a16:creationId xmlns:a16="http://schemas.microsoft.com/office/drawing/2014/main" id="{22F711F4-0F4D-43E1-B8BD-E5DD20C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19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7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7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agent 配置执行并记录 score / cost / latency</a:t>
            </a:r>
          </a:p>
        </p:txBody>
      </p:sp>
      <p:sp>
        <p:nvSpPr>
          <p:cNvPr id="29" name="repo_to_release_link">
            <a:extLst xmlns:a="http://schemas.openxmlformats.org/drawingml/2006/main">
              <a:ext uri="{FF2B5EF4-FFF2-40B4-BE49-F238E27FC236}">
                <a16:creationId xmlns:a16="http://schemas.microsoft.com/office/drawing/2014/main" id="{3B4F7CE4-9BA5-4C12-AF81-73E0F3F3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623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0" name="repo_to_release_arrow">
            <a:extLst xmlns:a="http://schemas.openxmlformats.org/drawingml/2006/main">
              <a:ext uri="{FF2B5EF4-FFF2-40B4-BE49-F238E27FC236}">
                <a16:creationId xmlns:a16="http://schemas.microsoft.com/office/drawing/2014/main" id="{9349C7CC-B22C-4E09-8606-A8A58E7A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1" name="release_to_acut_link">
            <a:extLst xmlns:a="http://schemas.openxmlformats.org/drawingml/2006/main">
              <a:ext uri="{FF2B5EF4-FFF2-40B4-BE49-F238E27FC236}">
                <a16:creationId xmlns:a16="http://schemas.microsoft.com/office/drawing/2014/main" id="{5005A0BA-6E43-4949-90AC-A5ECA3D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2" name="release_to_acut_arrow">
            <a:extLst xmlns:a="http://schemas.openxmlformats.org/drawingml/2006/main">
              <a:ext uri="{FF2B5EF4-FFF2-40B4-BE49-F238E27FC236}">
                <a16:creationId xmlns:a16="http://schemas.microsoft.com/office/drawing/2014/main" id="{539E0C41-665D-4A42-AB30-183545E9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3" name="ownership_band">
            <a:extLst xmlns:a="http://schemas.openxmlformats.org/drawingml/2006/main">
              <a:ext uri="{FF2B5EF4-FFF2-40B4-BE49-F238E27FC236}">
                <a16:creationId xmlns:a16="http://schemas.microsoft.com/office/drawing/2014/main" id="{DCD73159-EA24-42D5-AB1E-2C42AECC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48200"/>
            <a:ext cx="4895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4" name="ownership_rule">
            <a:extLst xmlns:a="http://schemas.openxmlformats.org/drawingml/2006/main">
              <a:ext uri="{FF2B5EF4-FFF2-40B4-BE49-F238E27FC236}">
                <a16:creationId xmlns:a16="http://schemas.microsoft.com/office/drawing/2014/main" id="{E96D8D37-FD6E-4C23-B288-AAEF5A49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48200"/>
            <a:ext cx="489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5" name="ownership_text">
            <a:extLst xmlns:a="http://schemas.openxmlformats.org/drawingml/2006/main">
              <a:ext uri="{FF2B5EF4-FFF2-40B4-BE49-F238E27FC236}">
                <a16:creationId xmlns:a16="http://schemas.microsoft.com/office/drawing/2014/main" id="{C5CD9933-6EC9-4A31-9BE5-B364D127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62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9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9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维护评测包边界；ACUT 保留 harness / prompt / tools / model / budget。</a:t>
            </a:r>
          </a:p>
        </p:txBody>
      </p:sp>
      <p:sp>
        <p:nvSpPr>
          <p:cNvPr id="36" name="release_formula">
            <a:extLst xmlns:a="http://schemas.openxmlformats.org/drawingml/2006/main">
              <a:ext uri="{FF2B5EF4-FFF2-40B4-BE49-F238E27FC236}">
                <a16:creationId xmlns:a16="http://schemas.microsoft.com/office/drawing/2014/main" id="{48697A6D-164A-4D6A-B47D-0C5FAE09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24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release = task set + split + source/oracle metadata + ACUT boundary + validation rules</a:t>
            </a:r>
          </a:p>
        </p:txBody>
      </p:sp>
    </p:spTree>
    <p:extLst>
      <p:ext uri="{BB962C8B-B14F-4D97-AF65-F5344CB8AC3E}">
        <p14:creationId xmlns:p14="http://schemas.microsoft.com/office/powerpoint/2010/main" val="14964114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DAB3CD6-8ABF-429B-8E86-1E20F260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FBDDA840-6051-4A8C-BEC2-95F93F3A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B931763C-7E24-418E-9C46-6E4BC549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CC0DBA4B-F048-4AA1-BE06-A3A544F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问题与代价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F2F66067-68F6-4DB3-804F-ACB514FA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通用分数还不能直接估计本仓库未来工作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2D6606D-2780-42F4-92DA-12F6D0C1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部署、调优和治理都需要目标仓库未来证据。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0C7D39A9-8BBD-4BEC-A5CC-856E0D7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problem_copy">
            <a:extLst xmlns:a="http://schemas.openxmlformats.org/drawingml/2006/main">
              <a:ext uri="{FF2B5EF4-FFF2-40B4-BE49-F238E27FC236}">
                <a16:creationId xmlns:a16="http://schemas.microsoft.com/office/drawing/2014/main" id="{86BCD8C1-F37B-4BF1-8A32-4C5E3CA6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通用 benchmark 提供广泛能力信号；项目团队还要知道同一个 agent 配置在本仓库未来 issue、API、测试习惯、依赖约束和 review norms 下会怎样。</a:t>
            </a:r>
          </a:p>
        </p:txBody>
      </p:sp>
      <p:sp>
        <p:nvSpPr>
          <p:cNvPr id="9" name="general_bench_fill">
            <a:extLst xmlns:a="http://schemas.openxmlformats.org/drawingml/2006/main">
              <a:ext uri="{FF2B5EF4-FFF2-40B4-BE49-F238E27FC236}">
                <a16:creationId xmlns:a16="http://schemas.microsoft.com/office/drawing/2014/main" id="{3C287A76-EF61-4560-99F6-4FE5713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2857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general_bench_accent">
            <a:extLst xmlns:a="http://schemas.openxmlformats.org/drawingml/2006/main">
              <a:ext uri="{FF2B5EF4-FFF2-40B4-BE49-F238E27FC236}">
                <a16:creationId xmlns:a16="http://schemas.microsoft.com/office/drawing/2014/main" id="{E2C9A158-7FA9-43F7-B255-B8302CD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general_bench_title">
            <a:extLst xmlns:a="http://schemas.openxmlformats.org/drawingml/2006/main">
              <a:ext uri="{FF2B5EF4-FFF2-40B4-BE49-F238E27FC236}">
                <a16:creationId xmlns:a16="http://schemas.microsoft.com/office/drawing/2014/main" id="{D9524748-B18B-4B43-A1B6-5CDEB952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通用 benchmark score</a:t>
            </a:r>
          </a:p>
        </p:txBody>
      </p:sp>
      <p:sp>
        <p:nvSpPr>
          <p:cNvPr id="12" name="general_bench_body">
            <a:extLst xmlns:a="http://schemas.openxmlformats.org/drawingml/2006/main">
              <a:ext uri="{FF2B5EF4-FFF2-40B4-BE49-F238E27FC236}">
                <a16:creationId xmlns:a16="http://schemas.microsoft.com/office/drawing/2014/main" id="{5AA356F8-958B-4CC4-8526-E3EE3461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480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广泛能力、可执行评分、公开对照、跨系统可比较性。</a:t>
            </a:r>
          </a:p>
        </p:txBody>
      </p:sp>
      <p:sp>
        <p:nvSpPr>
          <p:cNvPr id="13" name="future_work_fill">
            <a:extLst xmlns:a="http://schemas.openxmlformats.org/drawingml/2006/main">
              <a:ext uri="{FF2B5EF4-FFF2-40B4-BE49-F238E27FC236}">
                <a16:creationId xmlns:a16="http://schemas.microsoft.com/office/drawing/2014/main" id="{BE27A62F-FC44-4E0A-892C-0502CB6E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4" name="future_work_accent">
            <a:extLst xmlns:a="http://schemas.openxmlformats.org/drawingml/2006/main">
              <a:ext uri="{FF2B5EF4-FFF2-40B4-BE49-F238E27FC236}">
                <a16:creationId xmlns:a16="http://schemas.microsoft.com/office/drawing/2014/main" id="{C5EB0994-0B69-4C9C-97DE-A92ED0F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5" name="future_work_title">
            <a:extLst xmlns:a="http://schemas.openxmlformats.org/drawingml/2006/main">
              <a:ext uri="{FF2B5EF4-FFF2-40B4-BE49-F238E27FC236}">
                <a16:creationId xmlns:a16="http://schemas.microsoft.com/office/drawing/2014/main" id="{E1FE878E-0B19-4D71-8A11-4F9FEF17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目标仓库未来工作</a:t>
            </a:r>
          </a:p>
        </p:txBody>
      </p:sp>
      <p:sp>
        <p:nvSpPr>
          <p:cNvPr id="16" name="future_work_body">
            <a:extLst xmlns:a="http://schemas.openxmlformats.org/drawingml/2006/main">
              <a:ext uri="{FF2B5EF4-FFF2-40B4-BE49-F238E27FC236}">
                <a16:creationId xmlns:a16="http://schemas.microsoft.com/office/drawing/2014/main" id="{B4252EB6-055A-42AC-A102-56168503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未来 issue、API、测试、依赖、评审规范和 failure modes。</a:t>
            </a:r>
          </a:p>
        </p:txBody>
      </p:sp>
      <p:sp>
        <p:nvSpPr>
          <p:cNvPr id="17" name="gap_link_left">
            <a:extLst xmlns:a="http://schemas.openxmlformats.org/drawingml/2006/main">
              <a:ext uri="{FF2B5EF4-FFF2-40B4-BE49-F238E27FC236}">
                <a16:creationId xmlns:a16="http://schemas.microsoft.com/office/drawing/2014/main" id="{2072E5ED-633A-43F9-83D9-3F3C5F48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8" name="gap_band">
            <a:extLst xmlns:a="http://schemas.openxmlformats.org/drawingml/2006/main">
              <a:ext uri="{FF2B5EF4-FFF2-40B4-BE49-F238E27FC236}">
                <a16:creationId xmlns:a16="http://schemas.microsoft.com/office/drawing/2014/main" id="{E28FC016-D7A1-4E2B-B725-F617E2D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765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9" name="gap_band_rule">
            <a:extLst xmlns:a="http://schemas.openxmlformats.org/drawingml/2006/main">
              <a:ext uri="{FF2B5EF4-FFF2-40B4-BE49-F238E27FC236}">
                <a16:creationId xmlns:a16="http://schemas.microsoft.com/office/drawing/2014/main" id="{73A6D444-66CF-457F-AEE3-67C1CA1B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76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0" name="gap_label">
            <a:extLst xmlns:a="http://schemas.openxmlformats.org/drawingml/2006/main">
              <a:ext uri="{FF2B5EF4-FFF2-40B4-BE49-F238E27FC236}">
                <a16:creationId xmlns:a16="http://schemas.microsoft.com/office/drawing/2014/main" id="{B160C97D-3C46-428F-971C-8CA5CF3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预测缺口</a:t>
            </a:r>
          </a:p>
        </p:txBody>
      </p:sp>
      <p:sp>
        <p:nvSpPr>
          <p:cNvPr id="21" name="gap_body">
            <a:extLst xmlns:a="http://schemas.openxmlformats.org/drawingml/2006/main">
              <a:ext uri="{FF2B5EF4-FFF2-40B4-BE49-F238E27FC236}">
                <a16:creationId xmlns:a16="http://schemas.microsoft.com/office/drawing/2014/main" id="{AEE9047D-B249-4802-88BA-07371E9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147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通用能力信号到本仓库未来表现之间的距离</a:t>
            </a:r>
          </a:p>
        </p:txBody>
      </p:sp>
      <p:sp>
        <p:nvSpPr>
          <p:cNvPr id="22" name="gap_link_right">
            <a:extLst xmlns:a="http://schemas.openxmlformats.org/drawingml/2006/main">
              <a:ext uri="{FF2B5EF4-FFF2-40B4-BE49-F238E27FC236}">
                <a16:creationId xmlns:a16="http://schemas.microsoft.com/office/drawing/2014/main" id="{68AB44C5-1727-44E5-805A-893235F9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3" name="gap_to_consequence">
            <a:extLst xmlns:a="http://schemas.openxmlformats.org/drawingml/2006/main">
              <a:ext uri="{FF2B5EF4-FFF2-40B4-BE49-F238E27FC236}">
                <a16:creationId xmlns:a16="http://schemas.microsoft.com/office/drawing/2014/main" id="{3A4CDA2C-ED76-4F25-BE00-DE2DB723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4" name="consequence_shared_rail">
            <a:extLst xmlns:a="http://schemas.openxmlformats.org/drawingml/2006/main">
              <a:ext uri="{FF2B5EF4-FFF2-40B4-BE49-F238E27FC236}">
                <a16:creationId xmlns:a16="http://schemas.microsoft.com/office/drawing/2014/main" id="{19B0F464-CECD-4AD4-89EB-8F435A67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6245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5" name="consequence_drop_0">
            <a:extLst xmlns:a="http://schemas.openxmlformats.org/drawingml/2006/main">
              <a:ext uri="{FF2B5EF4-FFF2-40B4-BE49-F238E27FC236}">
                <a16:creationId xmlns:a16="http://schemas.microsoft.com/office/drawing/2014/main" id="{01621BB9-230D-4A37-A056-CC15BA8B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624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6" name="consequence_0_fill">
            <a:extLst xmlns:a="http://schemas.openxmlformats.org/drawingml/2006/main">
              <a:ext uri="{FF2B5EF4-FFF2-40B4-BE49-F238E27FC236}">
                <a16:creationId xmlns:a16="http://schemas.microsoft.com/office/drawing/2014/main" id="{7518DC39-97BB-4BDF-BAF8-AF35A214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27" name="consequence_0_accent">
            <a:extLst xmlns:a="http://schemas.openxmlformats.org/drawingml/2006/main">
              <a:ext uri="{FF2B5EF4-FFF2-40B4-BE49-F238E27FC236}">
                <a16:creationId xmlns:a16="http://schemas.microsoft.com/office/drawing/2014/main" id="{6967C914-FD30-4A2B-BF65-CDA1E7C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28" name="consequence_0_title">
            <a:extLst xmlns:a="http://schemas.openxmlformats.org/drawingml/2006/main">
              <a:ext uri="{FF2B5EF4-FFF2-40B4-BE49-F238E27FC236}">
                <a16:creationId xmlns:a16="http://schemas.microsoft.com/office/drawing/2014/main" id="{BCC3A26B-4838-42D9-A411-B6D8082B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006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部署选择</a:t>
            </a:r>
          </a:p>
        </p:txBody>
      </p:sp>
      <p:sp>
        <p:nvSpPr>
          <p:cNvPr id="29" name="consequence_0_body">
            <a:extLst xmlns:a="http://schemas.openxmlformats.org/drawingml/2006/main">
              <a:ext uri="{FF2B5EF4-FFF2-40B4-BE49-F238E27FC236}">
                <a16:creationId xmlns:a16="http://schemas.microsoft.com/office/drawing/2014/main" id="{C3020E16-E787-4569-BD81-31FC774D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244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配置选择可能偏离本仓库真实约束。</a:t>
            </a:r>
          </a:p>
        </p:txBody>
      </p:sp>
      <p:sp>
        <p:nvSpPr>
          <p:cNvPr id="30" name="consequence_drop_1">
            <a:extLst xmlns:a="http://schemas.openxmlformats.org/drawingml/2006/main">
              <a:ext uri="{FF2B5EF4-FFF2-40B4-BE49-F238E27FC236}">
                <a16:creationId xmlns:a16="http://schemas.microsoft.com/office/drawing/2014/main" id="{BAF76A63-A418-42C4-8CC7-5A7DD922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624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1" name="consequence_1_fill">
            <a:extLst xmlns:a="http://schemas.openxmlformats.org/drawingml/2006/main">
              <a:ext uri="{FF2B5EF4-FFF2-40B4-BE49-F238E27FC236}">
                <a16:creationId xmlns:a16="http://schemas.microsoft.com/office/drawing/2014/main" id="{54681F85-3528-4A0C-80DB-B85FBC1A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32" name="consequence_1_accent">
            <a:extLst xmlns:a="http://schemas.openxmlformats.org/drawingml/2006/main">
              <a:ext uri="{FF2B5EF4-FFF2-40B4-BE49-F238E27FC236}">
                <a16:creationId xmlns:a16="http://schemas.microsoft.com/office/drawing/2014/main" id="{CA792447-8469-4187-9CE0-BD7EAE93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33" name="consequence_1_title">
            <a:extLst xmlns:a="http://schemas.openxmlformats.org/drawingml/2006/main">
              <a:ext uri="{FF2B5EF4-FFF2-40B4-BE49-F238E27FC236}">
                <a16:creationId xmlns:a16="http://schemas.microsoft.com/office/drawing/2014/main" id="{5A568596-612A-400A-81D7-DFAD4935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配置调优</a:t>
            </a:r>
          </a:p>
        </p:txBody>
      </p:sp>
      <p:sp>
        <p:nvSpPr>
          <p:cNvPr id="34" name="consequence_1_body">
            <a:extLst xmlns:a="http://schemas.openxmlformats.org/drawingml/2006/main">
              <a:ext uri="{FF2B5EF4-FFF2-40B4-BE49-F238E27FC236}">
                <a16:creationId xmlns:a16="http://schemas.microsoft.com/office/drawing/2014/main" id="{0D3CABC9-150F-4EF7-95A8-F359FA36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dev set 收益可能被误读成未来改善。</a:t>
            </a:r>
          </a:p>
        </p:txBody>
      </p:sp>
      <p:sp>
        <p:nvSpPr>
          <p:cNvPr id="35" name="consequence_drop_2">
            <a:extLst xmlns:a="http://schemas.openxmlformats.org/drawingml/2006/main">
              <a:ext uri="{FF2B5EF4-FFF2-40B4-BE49-F238E27FC236}">
                <a16:creationId xmlns:a16="http://schemas.microsoft.com/office/drawing/2014/main" id="{C328673E-9951-41E4-A553-9E6E3B6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624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6" name="consequence_2_fill">
            <a:extLst xmlns:a="http://schemas.openxmlformats.org/drawingml/2006/main">
              <a:ext uri="{FF2B5EF4-FFF2-40B4-BE49-F238E27FC236}">
                <a16:creationId xmlns:a16="http://schemas.microsoft.com/office/drawing/2014/main" id="{5C4B8EEE-91FB-4AA8-90D9-200EBBFC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37" name="consequence_2_accent">
            <a:extLst xmlns:a="http://schemas.openxmlformats.org/drawingml/2006/main">
              <a:ext uri="{FF2B5EF4-FFF2-40B4-BE49-F238E27FC236}">
                <a16:creationId xmlns:a16="http://schemas.microsoft.com/office/drawing/2014/main" id="{AD72D3E2-9EA9-4B25-B9A9-49763A97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38" name="consequence_2_title">
            <a:extLst xmlns:a="http://schemas.openxmlformats.org/drawingml/2006/main">
              <a:ext uri="{FF2B5EF4-FFF2-40B4-BE49-F238E27FC236}">
                <a16:creationId xmlns:a16="http://schemas.microsoft.com/office/drawing/2014/main" id="{59D5BC4C-5CEB-42EF-9D73-6A2B4E66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006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治理决策</a:t>
            </a:r>
          </a:p>
        </p:txBody>
      </p:sp>
      <p:sp>
        <p:nvSpPr>
          <p:cNvPr id="39" name="consequence_2_body">
            <a:extLst xmlns:a="http://schemas.openxmlformats.org/drawingml/2006/main">
              <a:ext uri="{FF2B5EF4-FFF2-40B4-BE49-F238E27FC236}">
                <a16:creationId xmlns:a16="http://schemas.microsoft.com/office/drawing/2014/main" id="{411E776F-172E-4932-9496-7F12F9EF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244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缺少 source、adapter、成本和不确定性说明。</a:t>
            </a:r>
          </a:p>
        </p:txBody>
      </p:sp>
      <p:sp>
        <p:nvSpPr>
          <p:cNvPr id="40" name="target_question">
            <a:extLst xmlns:a="http://schemas.openxmlformats.org/drawingml/2006/main">
              <a:ext uri="{FF2B5EF4-FFF2-40B4-BE49-F238E27FC236}">
                <a16:creationId xmlns:a16="http://schemas.microsoft.com/office/drawing/2014/main" id="{4259E3E6-F88E-43A0-ACFB-F7F1072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2455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核心问题：给定一个 ACUT，它在某个目标仓库未来真实工作中的表现会怎样？</a:t>
            </a:r>
          </a:p>
        </p:txBody>
      </p:sp>
    </p:spTree>
    <p:extLst>
      <p:ext uri="{BB962C8B-B14F-4D97-AF65-F5344CB8AC3E}">
        <p14:creationId xmlns:p14="http://schemas.microsoft.com/office/powerpoint/2010/main" val="10014821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7292591-0434-4596-976D-C7455EF7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79AB32E7-BB1C-447C-A343-D803B72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B4346F73-9EEB-42B8-A0AD-ED46B0FB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11DCFB1F-278E-43E8-A8FB-C69FE5FB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相关工作与缺口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E25EDB4F-7DE7-4B10-82E0-E4172060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相邻工作提供任务、质量、鲜度、规模和环境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E4B2D7F-0F39-4274-B72B-9A1077E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Barcarolle 研究这些输入怎样变成目标仓库 release 证据。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E5AF363C-EB6B-408C-97A9-0A4EB79A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related_copy">
            <a:extLst xmlns:a="http://schemas.openxmlformats.org/drawingml/2006/main">
              <a:ext uri="{FF2B5EF4-FFF2-40B4-BE49-F238E27FC236}">
                <a16:creationId xmlns:a16="http://schemas.microsoft.com/office/drawing/2014/main" id="{3228B61F-8E31-4A70-9A48-1C81B27C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SWE-bench、SWE-bench Verified、SWE-bench-Live、SWE-Bench++、SWE-smith 和 R2E-Gym 扩大了 coding-agent evaluation 的可用输入；Barcarolle 关注未看未来结果时的 release 选择与验证。</a:t>
            </a:r>
          </a:p>
        </p:txBody>
      </p:sp>
      <p:sp>
        <p:nvSpPr>
          <p:cNvPr id="9" name="header_0">
            <a:extLst xmlns:a="http://schemas.openxmlformats.org/drawingml/2006/main">
              <a:ext uri="{FF2B5EF4-FFF2-40B4-BE49-F238E27FC236}">
                <a16:creationId xmlns:a16="http://schemas.microsoft.com/office/drawing/2014/main" id="{86B6077B-2695-4C42-91C6-B86D102A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95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10" name="header_text_0">
            <a:extLst xmlns:a="http://schemas.openxmlformats.org/drawingml/2006/main">
              <a:ext uri="{FF2B5EF4-FFF2-40B4-BE49-F238E27FC236}">
                <a16:creationId xmlns:a16="http://schemas.microsoft.com/office/drawing/2014/main" id="{101F1BD0-F668-4834-8635-DD5EABE4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03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</a:t>
            </a:r>
          </a:p>
        </p:txBody>
      </p:sp>
      <p:sp>
        <p:nvSpPr>
          <p:cNvPr id="11" name="header_1">
            <a:extLst xmlns:a="http://schemas.openxmlformats.org/drawingml/2006/main">
              <a:ext uri="{FF2B5EF4-FFF2-40B4-BE49-F238E27FC236}">
                <a16:creationId xmlns:a16="http://schemas.microsoft.com/office/drawing/2014/main" id="{6DB1855D-1662-4262-929A-3A22B1D7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955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2" name="header_text_1">
            <a:extLst xmlns:a="http://schemas.openxmlformats.org/drawingml/2006/main">
              <a:ext uri="{FF2B5EF4-FFF2-40B4-BE49-F238E27FC236}">
                <a16:creationId xmlns:a16="http://schemas.microsoft.com/office/drawing/2014/main" id="{65A67A39-1AF7-45E0-B5DB-1D2DC344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0325"/>
            <a:ext cx="256222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3" name="header_2">
            <a:extLst xmlns:a="http://schemas.openxmlformats.org/drawingml/2006/main">
              <a:ext uri="{FF2B5EF4-FFF2-40B4-BE49-F238E27FC236}">
                <a16:creationId xmlns:a16="http://schemas.microsoft.com/office/drawing/2014/main" id="{A2518593-ED21-4031-AA46-2CC36F04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4" name="header_text_2">
            <a:extLst xmlns:a="http://schemas.openxmlformats.org/drawingml/2006/main">
              <a:ext uri="{FF2B5EF4-FFF2-40B4-BE49-F238E27FC236}">
                <a16:creationId xmlns:a16="http://schemas.microsoft.com/office/drawing/2014/main" id="{5C90978C-4AE6-4269-B04C-C905963F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480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Barcarolle 仍要回答</a:t>
            </a:r>
          </a:p>
        </p:txBody>
      </p:sp>
      <p:sp>
        <p:nvSpPr>
          <p:cNvPr id="15" name="row_0_0">
            <a:extLst xmlns:a="http://schemas.openxmlformats.org/drawingml/2006/main">
              <a:ext uri="{FF2B5EF4-FFF2-40B4-BE49-F238E27FC236}">
                <a16:creationId xmlns:a16="http://schemas.microsoft.com/office/drawing/2014/main" id="{E80808C1-1FC3-41CA-B83E-D667B343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08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row_text_0_0">
            <a:extLst xmlns:a="http://schemas.openxmlformats.org/drawingml/2006/main">
              <a:ext uri="{FF2B5EF4-FFF2-40B4-BE49-F238E27FC236}">
                <a16:creationId xmlns:a16="http://schemas.microsoft.com/office/drawing/2014/main" id="{07A86706-CF81-4847-93BF-0D4AE5BE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432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真实任务 / 质量</a:t>
            </a:r>
          </a:p>
        </p:txBody>
      </p:sp>
      <p:sp>
        <p:nvSpPr>
          <p:cNvPr id="17" name="row_0_1">
            <a:extLst xmlns:a="http://schemas.openxmlformats.org/drawingml/2006/main">
              <a:ext uri="{FF2B5EF4-FFF2-40B4-BE49-F238E27FC236}">
                <a16:creationId xmlns:a16="http://schemas.microsoft.com/office/drawing/2014/main" id="{B66FEF3F-4CFE-4CC9-AC90-C46F874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908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row_text_0_1">
            <a:extLst xmlns:a="http://schemas.openxmlformats.org/drawingml/2006/main">
              <a:ext uri="{FF2B5EF4-FFF2-40B4-BE49-F238E27FC236}">
                <a16:creationId xmlns:a16="http://schemas.microsoft.com/office/drawing/2014/main" id="{3C8AF6D6-8F93-48F4-B3DA-47D03EDA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43250"/>
            <a:ext cx="24860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 Verified</a:t>
            </a:r>
          </a:p>
        </p:txBody>
      </p:sp>
      <p:sp>
        <p:nvSpPr>
          <p:cNvPr id="19" name="row_0_2">
            <a:extLst xmlns:a="http://schemas.openxmlformats.org/drawingml/2006/main">
              <a:ext uri="{FF2B5EF4-FFF2-40B4-BE49-F238E27FC236}">
                <a16:creationId xmlns:a16="http://schemas.microsoft.com/office/drawing/2014/main" id="{11CDB463-163C-4FD0-B0E4-F91CE50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row_text_0_2">
            <a:extLst xmlns:a="http://schemas.openxmlformats.org/drawingml/2006/main">
              <a:ext uri="{FF2B5EF4-FFF2-40B4-BE49-F238E27FC236}">
                <a16:creationId xmlns:a16="http://schemas.microsoft.com/office/drawing/2014/main" id="{263112F2-CB97-4724-B465-B0D7CF6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哪些目标仓库任务进入冻结 release，质量门槛怎样进入任务选择规则。</a:t>
            </a:r>
          </a:p>
        </p:txBody>
      </p:sp>
      <p:sp>
        <p:nvSpPr>
          <p:cNvPr id="21" name="row_1_0">
            <a:extLst xmlns:a="http://schemas.openxmlformats.org/drawingml/2006/main">
              <a:ext uri="{FF2B5EF4-FFF2-40B4-BE49-F238E27FC236}">
                <a16:creationId xmlns:a16="http://schemas.microsoft.com/office/drawing/2014/main" id="{C3A016BB-B6F2-43C2-8FC7-0F6B2BD9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57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2" name="row_text_1_0">
            <a:extLst xmlns:a="http://schemas.openxmlformats.org/drawingml/2006/main">
              <a:ext uri="{FF2B5EF4-FFF2-40B4-BE49-F238E27FC236}">
                <a16:creationId xmlns:a16="http://schemas.microsoft.com/office/drawing/2014/main" id="{91F61C3C-9009-47C5-AF13-B3BC7F0A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100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鲜度 / 规模</a:t>
            </a:r>
          </a:p>
        </p:txBody>
      </p:sp>
      <p:sp>
        <p:nvSpPr>
          <p:cNvPr id="23" name="row_1_1">
            <a:extLst xmlns:a="http://schemas.openxmlformats.org/drawingml/2006/main">
              <a:ext uri="{FF2B5EF4-FFF2-40B4-BE49-F238E27FC236}">
                <a16:creationId xmlns:a16="http://schemas.microsoft.com/office/drawing/2014/main" id="{DC601FC4-47A3-44E3-9371-74C80AB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576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4" name="row_text_1_1">
            <a:extLst xmlns:a="http://schemas.openxmlformats.org/drawingml/2006/main">
              <a:ext uri="{FF2B5EF4-FFF2-40B4-BE49-F238E27FC236}">
                <a16:creationId xmlns:a16="http://schemas.microsoft.com/office/drawing/2014/main" id="{6B5976B1-EC1D-4B91-A1F4-6B765433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10050"/>
            <a:ext cx="24860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SWE-bench-Live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SWE-Bench++</a:t>
            </a:r>
          </a:p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SWE-smith</a:t>
            </a:r>
          </a:p>
        </p:txBody>
      </p:sp>
      <p:sp>
        <p:nvSpPr>
          <p:cNvPr id="25" name="row_1_2">
            <a:extLst xmlns:a="http://schemas.openxmlformats.org/drawingml/2006/main">
              <a:ext uri="{FF2B5EF4-FFF2-40B4-BE49-F238E27FC236}">
                <a16:creationId xmlns:a16="http://schemas.microsoft.com/office/drawing/2014/main" id="{4A58DCAE-E5A5-4D13-8567-77710836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6" name="row_text_1_2">
            <a:extLst xmlns:a="http://schemas.openxmlformats.org/drawingml/2006/main">
              <a:ext uri="{FF2B5EF4-FFF2-40B4-BE49-F238E27FC236}">
                <a16:creationId xmlns:a16="http://schemas.microsoft.com/office/drawing/2014/main" id="{1EF2C385-09C3-41A5-9B32-0E2A6C4A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fresh 或 generated supply 怎样认证、设来源上限，并在未看未来结果时冻结。</a:t>
            </a:r>
          </a:p>
        </p:txBody>
      </p:sp>
      <p:sp>
        <p:nvSpPr>
          <p:cNvPr id="27" name="row_2_0">
            <a:extLst xmlns:a="http://schemas.openxmlformats.org/drawingml/2006/main">
              <a:ext uri="{FF2B5EF4-FFF2-40B4-BE49-F238E27FC236}">
                <a16:creationId xmlns:a16="http://schemas.microsoft.com/office/drawing/2014/main" id="{5C330C19-64CD-4893-8543-8D343780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" name="row_text_2_0">
            <a:extLst xmlns:a="http://schemas.openxmlformats.org/drawingml/2006/main">
              <a:ext uri="{FF2B5EF4-FFF2-40B4-BE49-F238E27FC236}">
                <a16:creationId xmlns:a16="http://schemas.microsoft.com/office/drawing/2014/main" id="{6B7D4A4B-E8BF-4EB3-9433-4940E299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68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环境 / 验证器</a:t>
            </a:r>
          </a:p>
        </p:txBody>
      </p:sp>
      <p:sp>
        <p:nvSpPr>
          <p:cNvPr id="29" name="row_2_1">
            <a:extLst xmlns:a="http://schemas.openxmlformats.org/drawingml/2006/main">
              <a:ext uri="{FF2B5EF4-FFF2-40B4-BE49-F238E27FC236}">
                <a16:creationId xmlns:a16="http://schemas.microsoft.com/office/drawing/2014/main" id="{9726632B-8F2C-4C22-8111-9E0E11DD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244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0" name="row_text_2_1">
            <a:extLst xmlns:a="http://schemas.openxmlformats.org/drawingml/2006/main">
              <a:ext uri="{FF2B5EF4-FFF2-40B4-BE49-F238E27FC236}">
                <a16:creationId xmlns:a16="http://schemas.microsoft.com/office/drawing/2014/main" id="{D48A0590-5A70-457E-9658-782BE7CB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276850"/>
            <a:ext cx="24860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R2E-Gym</a:t>
            </a:r>
          </a:p>
        </p:txBody>
      </p:sp>
      <p:sp>
        <p:nvSpPr>
          <p:cNvPr id="31" name="row_2_2">
            <a:extLst xmlns:a="http://schemas.openxmlformats.org/drawingml/2006/main">
              <a:ext uri="{FF2B5EF4-FFF2-40B4-BE49-F238E27FC236}">
                <a16:creationId xmlns:a16="http://schemas.microsoft.com/office/drawing/2014/main" id="{7F539D3D-0C3B-4FAA-A90E-FEBA1CE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244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row_text_2_2">
            <a:extLst xmlns:a="http://schemas.openxmlformats.org/drawingml/2006/main">
              <a:ext uri="{FF2B5EF4-FFF2-40B4-BE49-F238E27FC236}">
                <a16:creationId xmlns:a16="http://schemas.microsoft.com/office/drawing/2014/main" id="{8EE3BE26-FE1F-49E5-AFF6-B094A559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executable environment 怎样服务 release evidence，并保持 ACUT boundary 与验证材料隔离。</a:t>
            </a:r>
          </a:p>
        </p:txBody>
      </p:sp>
      <p:sp>
        <p:nvSpPr>
          <p:cNvPr id="33" name="synthesis_rule">
            <a:extLst xmlns:a="http://schemas.openxmlformats.org/drawingml/2006/main">
              <a:ext uri="{FF2B5EF4-FFF2-40B4-BE49-F238E27FC236}">
                <a16:creationId xmlns:a16="http://schemas.microsoft.com/office/drawing/2014/main" id="{09734945-B938-446C-96F7-61D82B16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8170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4" name="related_synthesis">
            <a:extLst xmlns:a="http://schemas.openxmlformats.org/drawingml/2006/main">
              <a:ext uri="{FF2B5EF4-FFF2-40B4-BE49-F238E27FC236}">
                <a16:creationId xmlns:a16="http://schemas.microsoft.com/office/drawing/2014/main" id="{D0BED840-2BF6-489F-B384-9FD7C132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34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candidate supply 越强，任务选择、样本支撑、兜底来源和未来验证的 compiler rules 越需要单独研究。</a:t>
            </a:r>
          </a:p>
        </p:txBody>
      </p:sp>
    </p:spTree>
    <p:extLst>
      <p:ext uri="{BB962C8B-B14F-4D97-AF65-F5344CB8AC3E}">
        <p14:creationId xmlns:p14="http://schemas.microsoft.com/office/powerpoint/2010/main" val="6323408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6A16D27-F81B-46DB-AF80-9E6CD19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6AA94BC2-FA00-4ABC-B2FD-EA366557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0DED1825-510B-46E8-8110-8EFBEACD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098D160E-1353-465D-B02C-DDE76D9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48111519-DF08-4D84-B830-878A8893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北极星是未看未来结果时的预测效度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BE6945C-233F-4D55-9117-31FCF027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评测分数要比简单替代方案更贴近未来真实表现。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51989244-50EF-4A5D-BBBF-C38653FD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formula_panel">
            <a:extLst xmlns:a="http://schemas.openxmlformats.org/drawingml/2006/main">
              <a:ext uri="{FF2B5EF4-FFF2-40B4-BE49-F238E27FC236}">
                <a16:creationId xmlns:a16="http://schemas.microsoft.com/office/drawing/2014/main" id="{8A5994AB-4ED2-4EE8-9EDE-99C1B310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636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formula_text">
            <a:extLst xmlns:a="http://schemas.openxmlformats.org/drawingml/2006/main">
              <a:ext uri="{FF2B5EF4-FFF2-40B4-BE49-F238E27FC236}">
                <a16:creationId xmlns:a16="http://schemas.microsoft.com/office/drawing/2014/main" id="{071320F6-2F01-4D59-8CD5-58654E9A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62200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0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Wᵣ(a) = E[success(a, future work in repo r)]</a:t>
            </a:r>
          </a:p>
        </p:txBody>
      </p:sp>
      <p:sp>
        <p:nvSpPr>
          <p:cNvPr id="10" name="formula_caption">
            <a:extLst xmlns:a="http://schemas.openxmlformats.org/drawingml/2006/main">
              <a:ext uri="{FF2B5EF4-FFF2-40B4-BE49-F238E27FC236}">
                <a16:creationId xmlns:a16="http://schemas.microsoft.com/office/drawing/2014/main" id="{C50FB8EB-2ADC-4CF0-95C3-57135CBA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目标仓库未来 ACUT 成功率</a:t>
            </a:r>
          </a:p>
        </p:txBody>
      </p:sp>
      <p:sp>
        <p:nvSpPr>
          <p:cNvPr id="11" name="mae_panel_fill">
            <a:extLst xmlns:a="http://schemas.openxmlformats.org/drawingml/2006/main">
              <a:ext uri="{FF2B5EF4-FFF2-40B4-BE49-F238E27FC236}">
                <a16:creationId xmlns:a16="http://schemas.microsoft.com/office/drawing/2014/main" id="{8079BB16-2CAF-4D67-A061-4C683612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2" name="mae_panel_accent">
            <a:extLst xmlns:a="http://schemas.openxmlformats.org/drawingml/2006/main">
              <a:ext uri="{FF2B5EF4-FFF2-40B4-BE49-F238E27FC236}">
                <a16:creationId xmlns:a16="http://schemas.microsoft.com/office/drawing/2014/main" id="{5A67B285-CD12-4170-8466-BC3D996D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3" name="mae_panel_title">
            <a:extLst xmlns:a="http://schemas.openxmlformats.org/drawingml/2006/main">
              <a:ext uri="{FF2B5EF4-FFF2-40B4-BE49-F238E27FC236}">
                <a16:creationId xmlns:a16="http://schemas.microsoft.com/office/drawing/2014/main" id="{77691847-2745-4968-A5E7-780C26EA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MAE 平均绝对误差</a:t>
            </a:r>
          </a:p>
        </p:txBody>
      </p:sp>
      <p:sp>
        <p:nvSpPr>
          <p:cNvPr id="14" name="mae_panel_body">
            <a:extLst xmlns:a="http://schemas.openxmlformats.org/drawingml/2006/main">
              <a:ext uri="{FF2B5EF4-FFF2-40B4-BE49-F238E27FC236}">
                <a16:creationId xmlns:a16="http://schemas.microsoft.com/office/drawing/2014/main" id="{C128A0EE-F196-4776-B221-05A75B43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45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benchmark 预测值和未来真实表现之间平均差多少；越低，预测越贴近未来结果。</a:t>
            </a:r>
          </a:p>
        </p:txBody>
      </p:sp>
      <p:sp>
        <p:nvSpPr>
          <p:cNvPr id="15" name="estimand_copy">
            <a:extLst xmlns:a="http://schemas.openxmlformats.org/drawingml/2006/main">
              <a:ext uri="{FF2B5EF4-FFF2-40B4-BE49-F238E27FC236}">
                <a16:creationId xmlns:a16="http://schemas.microsoft.com/office/drawing/2014/main" id="{885149A3-0E35-40D7-B068-D4D1AC9D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W_r(a) 表示 agent 配置 a 在目标仓库 r 未来工作中的成功率。评测 release 的 score 是这个未来成功率的候选预测值。</a:t>
            </a:r>
          </a:p>
        </p:txBody>
      </p:sp>
      <p:sp>
        <p:nvSpPr>
          <p:cNvPr id="16" name="distance_box_0">
            <a:extLst xmlns:a="http://schemas.openxmlformats.org/drawingml/2006/main">
              <a:ext uri="{FF2B5EF4-FFF2-40B4-BE49-F238E27FC236}">
                <a16:creationId xmlns:a16="http://schemas.microsoft.com/office/drawing/2014/main" id="{F4EC22AB-988F-4E5E-B4D5-8410514D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29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7" name="distance_rule_0">
            <a:extLst xmlns:a="http://schemas.openxmlformats.org/drawingml/2006/main">
              <a:ext uri="{FF2B5EF4-FFF2-40B4-BE49-F238E27FC236}">
                <a16:creationId xmlns:a16="http://schemas.microsoft.com/office/drawing/2014/main" id="{F98C44A2-FA9A-4E25-A88D-6CFE8D4A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864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8" name="distance_label_0">
            <a:extLst xmlns:a="http://schemas.openxmlformats.org/drawingml/2006/main">
              <a:ext uri="{FF2B5EF4-FFF2-40B4-BE49-F238E27FC236}">
                <a16:creationId xmlns:a16="http://schemas.microsoft.com/office/drawing/2014/main" id="{59413038-EBD5-4089-B74F-062806D5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benchmark 预测值</a:t>
            </a:r>
          </a:p>
        </p:txBody>
      </p:sp>
      <p:sp>
        <p:nvSpPr>
          <p:cNvPr id="19" name="distance_box_1">
            <a:extLst xmlns:a="http://schemas.openxmlformats.org/drawingml/2006/main">
              <a:ext uri="{FF2B5EF4-FFF2-40B4-BE49-F238E27FC236}">
                <a16:creationId xmlns:a16="http://schemas.microsoft.com/office/drawing/2014/main" id="{D84171E1-F272-4D6D-B33B-D1258CFE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0" name="distance_rule_1">
            <a:extLst xmlns:a="http://schemas.openxmlformats.org/drawingml/2006/main">
              <a:ext uri="{FF2B5EF4-FFF2-40B4-BE49-F238E27FC236}">
                <a16:creationId xmlns:a16="http://schemas.microsoft.com/office/drawing/2014/main" id="{570C959F-938E-4F1D-A3E3-CD830838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864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1" name="distance_label_1">
            <a:extLst xmlns:a="http://schemas.openxmlformats.org/drawingml/2006/main">
              <a:ext uri="{FF2B5EF4-FFF2-40B4-BE49-F238E27FC236}">
                <a16:creationId xmlns:a16="http://schemas.microsoft.com/office/drawing/2014/main" id="{BAC5695F-3276-4D0B-9ED5-5DC1AE51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未来真实表现</a:t>
            </a:r>
          </a:p>
        </p:txBody>
      </p:sp>
      <p:sp>
        <p:nvSpPr>
          <p:cNvPr id="22" name="mae_distance_line">
            <a:extLst xmlns:a="http://schemas.openxmlformats.org/drawingml/2006/main">
              <a:ext uri="{FF2B5EF4-FFF2-40B4-BE49-F238E27FC236}">
                <a16:creationId xmlns:a16="http://schemas.microsoft.com/office/drawing/2014/main" id="{2DBEE7BB-49AA-4170-AE43-954AA51E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387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3" name="mae_distance_label">
            <a:extLst xmlns:a="http://schemas.openxmlformats.org/drawingml/2006/main">
              <a:ext uri="{FF2B5EF4-FFF2-40B4-BE49-F238E27FC236}">
                <a16:creationId xmlns:a16="http://schemas.microsoft.com/office/drawing/2014/main" id="{10B3C5AE-DCEC-4D2F-8B17-E046A73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76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MAE 距离</a:t>
            </a:r>
          </a:p>
        </p:txBody>
      </p:sp>
      <p:sp>
        <p:nvSpPr>
          <p:cNvPr id="24" name="claim_boundary_fill">
            <a:extLst xmlns:a="http://schemas.openxmlformats.org/drawingml/2006/main">
              <a:ext uri="{FF2B5EF4-FFF2-40B4-BE49-F238E27FC236}">
                <a16:creationId xmlns:a16="http://schemas.microsoft.com/office/drawing/2014/main" id="{55D7386C-F82C-459F-9BCF-C4CA0FBF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5" name="claim_boundary_accent">
            <a:extLst xmlns:a="http://schemas.openxmlformats.org/drawingml/2006/main">
              <a:ext uri="{FF2B5EF4-FFF2-40B4-BE49-F238E27FC236}">
                <a16:creationId xmlns:a16="http://schemas.microsoft.com/office/drawing/2014/main" id="{3FB5DF2B-DAEC-4D09-A4E3-EDEC4DFB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6" name="claim_boundary_title">
            <a:extLst xmlns:a="http://schemas.openxmlformats.org/drawingml/2006/main">
              <a:ext uri="{FF2B5EF4-FFF2-40B4-BE49-F238E27FC236}">
                <a16:creationId xmlns:a16="http://schemas.microsoft.com/office/drawing/2014/main" id="{8A752DFB-F612-497D-8D9F-9707CAD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声明边界</a:t>
            </a:r>
          </a:p>
        </p:txBody>
      </p:sp>
      <p:sp>
        <p:nvSpPr>
          <p:cNvPr id="27" name="claim_boundary_body">
            <a:extLst xmlns:a="http://schemas.openxmlformats.org/drawingml/2006/main">
              <a:ext uri="{FF2B5EF4-FFF2-40B4-BE49-F238E27FC236}">
                <a16:creationId xmlns:a16="http://schemas.microsoft.com/office/drawing/2014/main" id="{8A2C49C1-B316-41AA-A072-B37841BF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当前证据提供 traction 和验证路线；预测效度尚未建立。</a:t>
            </a:r>
          </a:p>
        </p:txBody>
      </p:sp>
      <p:sp>
        <p:nvSpPr>
          <p:cNvPr id="28" name="claim_note">
            <a:extLst xmlns:a="http://schemas.openxmlformats.org/drawingml/2006/main">
              <a:ext uri="{FF2B5EF4-FFF2-40B4-BE49-F238E27FC236}">
                <a16:creationId xmlns:a16="http://schemas.microsoft.com/office/drawing/2014/main" id="{A5E122F1-2A54-4997-ADF8-5291EDD8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38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正式声明需要 frozen release、fixed ACUT、baseline suite、invalid-cell policy 和 outcome-unseen score join。</a:t>
            </a:r>
          </a:p>
        </p:txBody>
      </p:sp>
    </p:spTree>
    <p:extLst>
      <p:ext uri="{BB962C8B-B14F-4D97-AF65-F5344CB8AC3E}">
        <p14:creationId xmlns:p14="http://schemas.microsoft.com/office/powerpoint/2010/main" val="20167026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BA591E8-342F-4F1D-B839-F6521F5F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092D9BD9-9F07-4D5A-8BFD-6C8D1E5D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76DAB216-469F-4B24-9868-8452AB47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37B3047B-0C62-4E6F-A701-3F81C164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0DDBCD7E-12EB-43D2-8E71-69744D31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把候选任务编译成可审计 release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B472897-E267-4714-B774-52223E24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从候选供应到冻结 release，每一层都会影响未来估计。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317C5445-5C46-48B9-8F9C-8E3F493C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method_copy">
            <a:extLst xmlns:a="http://schemas.openxmlformats.org/drawingml/2006/main">
              <a:ext uri="{FF2B5EF4-FFF2-40B4-BE49-F238E27FC236}">
                <a16:creationId xmlns:a16="http://schemas.microsoft.com/office/drawing/2014/main" id="{2DF67243-408C-41A0-AAD7-3D15C793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573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候选任务先经过认证，再按目标工作画像、样本支撑、任务选择规则、split 和兜底标签组装成可冻结 release。</a:t>
            </a:r>
          </a:p>
        </p:txBody>
      </p:sp>
      <p:sp>
        <p:nvSpPr>
          <p:cNvPr id="9" name="stage_0_fill">
            <a:extLst xmlns:a="http://schemas.openxmlformats.org/drawingml/2006/main">
              <a:ext uri="{FF2B5EF4-FFF2-40B4-BE49-F238E27FC236}">
                <a16:creationId xmlns:a16="http://schemas.microsoft.com/office/drawing/2014/main" id="{487E3E4E-AB43-4B71-9C98-6E08F0B2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stage_0_rule">
            <a:extLst xmlns:a="http://schemas.openxmlformats.org/drawingml/2006/main">
              <a:ext uri="{FF2B5EF4-FFF2-40B4-BE49-F238E27FC236}">
                <a16:creationId xmlns:a16="http://schemas.microsoft.com/office/drawing/2014/main" id="{8ADE4104-E26D-459F-B14A-695AECF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stage_0_label">
            <a:extLst xmlns:a="http://schemas.openxmlformats.org/drawingml/2006/main">
              <a:ext uri="{FF2B5EF4-FFF2-40B4-BE49-F238E27FC236}">
                <a16:creationId xmlns:a16="http://schemas.microsoft.com/office/drawing/2014/main" id="{78E59B81-2F86-4BD7-A9A2-F88811DB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1  候选供应</a:t>
            </a:r>
          </a:p>
        </p:txBody>
      </p:sp>
      <p:sp>
        <p:nvSpPr>
          <p:cNvPr id="12" name="stage_0_body">
            <a:extLst xmlns:a="http://schemas.openxmlformats.org/drawingml/2006/main">
              <a:ext uri="{FF2B5EF4-FFF2-40B4-BE49-F238E27FC236}">
                <a16:creationId xmlns:a16="http://schemas.microsoft.com/office/drawing/2014/main" id="{97884CC7-3C2A-4FC4-AC57-D48AD45E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repo history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public context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generated tasks</a:t>
            </a:r>
          </a:p>
        </p:txBody>
      </p:sp>
      <p:sp>
        <p:nvSpPr>
          <p:cNvPr id="13" name="stage_0_connector">
            <a:extLst xmlns:a="http://schemas.openxmlformats.org/drawingml/2006/main">
              <a:ext uri="{FF2B5EF4-FFF2-40B4-BE49-F238E27FC236}">
                <a16:creationId xmlns:a16="http://schemas.microsoft.com/office/drawing/2014/main" id="{E851D481-F1C4-44E4-B898-190BD9F5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stage_1_fill">
            <a:extLst xmlns:a="http://schemas.openxmlformats.org/drawingml/2006/main">
              <a:ext uri="{FF2B5EF4-FFF2-40B4-BE49-F238E27FC236}">
                <a16:creationId xmlns:a16="http://schemas.microsoft.com/office/drawing/2014/main" id="{B1E9721B-A520-47B7-8108-583D4CEE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5" name="stage_1_rule">
            <a:extLst xmlns:a="http://schemas.openxmlformats.org/drawingml/2006/main">
              <a:ext uri="{FF2B5EF4-FFF2-40B4-BE49-F238E27FC236}">
                <a16:creationId xmlns:a16="http://schemas.microsoft.com/office/drawing/2014/main" id="{4E272AA4-7E64-400C-A1A3-A80495F9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6" name="stage_1_label">
            <a:extLst xmlns:a="http://schemas.openxmlformats.org/drawingml/2006/main">
              <a:ext uri="{FF2B5EF4-FFF2-40B4-BE49-F238E27FC236}">
                <a16:creationId xmlns:a16="http://schemas.microsoft.com/office/drawing/2014/main" id="{105F0F97-030E-41C5-9B63-376E18A8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2  任务认证</a:t>
            </a:r>
          </a:p>
        </p:txBody>
      </p:sp>
      <p:sp>
        <p:nvSpPr>
          <p:cNvPr id="17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6F067582-C966-4F3E-8433-1829677F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可复现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oracle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泄漏检查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质量</a:t>
            </a:r>
          </a:p>
        </p:txBody>
      </p:sp>
      <p:sp>
        <p:nvSpPr>
          <p:cNvPr id="18" name="stage_1_connector">
            <a:extLst xmlns:a="http://schemas.openxmlformats.org/drawingml/2006/main">
              <a:ext uri="{FF2B5EF4-FFF2-40B4-BE49-F238E27FC236}">
                <a16:creationId xmlns:a16="http://schemas.microsoft.com/office/drawing/2014/main" id="{2F810B67-5378-4C51-8B63-B2142390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9" name="stage_2_fill">
            <a:extLst xmlns:a="http://schemas.openxmlformats.org/drawingml/2006/main">
              <a:ext uri="{FF2B5EF4-FFF2-40B4-BE49-F238E27FC236}">
                <a16:creationId xmlns:a16="http://schemas.microsoft.com/office/drawing/2014/main" id="{4911DDCE-95B2-4BFB-A5DE-6AA78B04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0" name="stage_2_rule">
            <a:extLst xmlns:a="http://schemas.openxmlformats.org/drawingml/2006/main">
              <a:ext uri="{FF2B5EF4-FFF2-40B4-BE49-F238E27FC236}">
                <a16:creationId xmlns:a16="http://schemas.microsoft.com/office/drawing/2014/main" id="{9ECC5CD1-EAEB-4F72-A436-019E5BFE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1" name="stage_2_label">
            <a:extLst xmlns:a="http://schemas.openxmlformats.org/drawingml/2006/main">
              <a:ext uri="{FF2B5EF4-FFF2-40B4-BE49-F238E27FC236}">
                <a16:creationId xmlns:a16="http://schemas.microsoft.com/office/drawing/2014/main" id="{5648654E-5CEF-45C5-BE6D-FFC944A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3  目标画像</a:t>
            </a:r>
          </a:p>
        </p:txBody>
      </p:sp>
      <p:sp>
        <p:nvSpPr>
          <p:cNvPr id="22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9796CBF8-99BA-4664-AD4F-EB4C15FC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任务分层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样本支撑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不确定性</a:t>
            </a:r>
          </a:p>
        </p:txBody>
      </p:sp>
      <p:sp>
        <p:nvSpPr>
          <p:cNvPr id="23" name="stage_2_connector">
            <a:extLst xmlns:a="http://schemas.openxmlformats.org/drawingml/2006/main">
              <a:ext uri="{FF2B5EF4-FFF2-40B4-BE49-F238E27FC236}">
                <a16:creationId xmlns:a16="http://schemas.microsoft.com/office/drawing/2014/main" id="{ECFFF839-CF92-46AE-BAF4-9D9C688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4" name="stage_3_fill">
            <a:extLst xmlns:a="http://schemas.openxmlformats.org/drawingml/2006/main">
              <a:ext uri="{FF2B5EF4-FFF2-40B4-BE49-F238E27FC236}">
                <a16:creationId xmlns:a16="http://schemas.microsoft.com/office/drawing/2014/main" id="{45F445F0-4B7F-49E1-B286-A323BAC4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5" name="stage_3_rule">
            <a:extLst xmlns:a="http://schemas.openxmlformats.org/drawingml/2006/main">
              <a:ext uri="{FF2B5EF4-FFF2-40B4-BE49-F238E27FC236}">
                <a16:creationId xmlns:a16="http://schemas.microsoft.com/office/drawing/2014/main" id="{A2112AE6-11EE-4395-8CBE-69750861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6" name="stage_3_label">
            <a:extLst xmlns:a="http://schemas.openxmlformats.org/drawingml/2006/main">
              <a:ext uri="{FF2B5EF4-FFF2-40B4-BE49-F238E27FC236}">
                <a16:creationId xmlns:a16="http://schemas.microsoft.com/office/drawing/2014/main" id="{63D8BFCD-9A9E-4758-88A1-1486896F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4  组装规则</a:t>
            </a:r>
          </a:p>
        </p:txBody>
      </p:sp>
      <p:sp>
        <p:nvSpPr>
          <p:cNvPr id="2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35B8DFCD-E191-4193-AF06-477CB471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任务选择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split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兜底标签</a:t>
            </a:r>
          </a:p>
        </p:txBody>
      </p:sp>
      <p:sp>
        <p:nvSpPr>
          <p:cNvPr id="28" name="stage_3_connector">
            <a:extLst xmlns:a="http://schemas.openxmlformats.org/drawingml/2006/main">
              <a:ext uri="{FF2B5EF4-FFF2-40B4-BE49-F238E27FC236}">
                <a16:creationId xmlns:a16="http://schemas.microsoft.com/office/drawing/2014/main" id="{2C1ADEC4-D171-4109-A5D0-5C91AD52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9" name="stage_4_fill">
            <a:extLst xmlns:a="http://schemas.openxmlformats.org/drawingml/2006/main">
              <a:ext uri="{FF2B5EF4-FFF2-40B4-BE49-F238E27FC236}">
                <a16:creationId xmlns:a16="http://schemas.microsoft.com/office/drawing/2014/main" id="{5546C4BC-F5DC-478D-9E51-8DE48F16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30" name="stage_4_rule">
            <a:extLst xmlns:a="http://schemas.openxmlformats.org/drawingml/2006/main">
              <a:ext uri="{FF2B5EF4-FFF2-40B4-BE49-F238E27FC236}">
                <a16:creationId xmlns:a16="http://schemas.microsoft.com/office/drawing/2014/main" id="{7A4764F2-4647-4CF4-92FF-F9A1FC81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31" name="stage_4_label">
            <a:extLst xmlns:a="http://schemas.openxmlformats.org/drawingml/2006/main">
              <a:ext uri="{FF2B5EF4-FFF2-40B4-BE49-F238E27FC236}">
                <a16:creationId xmlns:a16="http://schemas.microsoft.com/office/drawing/2014/main" id="{6866DD8A-E5D5-4727-9E09-30138533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5  冻结 release</a:t>
            </a:r>
          </a:p>
        </p:txBody>
      </p:sp>
      <p:sp>
        <p:nvSpPr>
          <p:cNvPr id="32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4BC0DAD3-FF7B-4C86-BDE6-BCF1BB59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manifest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task set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ACUT boundary</a:t>
            </a:r>
          </a:p>
        </p:txBody>
      </p:sp>
      <p:sp>
        <p:nvSpPr>
          <p:cNvPr id="33" name="stage_4_connector">
            <a:extLst xmlns:a="http://schemas.openxmlformats.org/drawingml/2006/main">
              <a:ext uri="{FF2B5EF4-FFF2-40B4-BE49-F238E27FC236}">
                <a16:creationId xmlns:a16="http://schemas.microsoft.com/office/drawing/2014/main" id="{661E70A9-06B7-4A16-9999-4A1F2166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09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4" name="stage_5_fill">
            <a:extLst xmlns:a="http://schemas.openxmlformats.org/drawingml/2006/main">
              <a:ext uri="{FF2B5EF4-FFF2-40B4-BE49-F238E27FC236}">
                <a16:creationId xmlns:a16="http://schemas.microsoft.com/office/drawing/2014/main" id="{6B5D13E8-2F53-4502-8543-B80D093C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35" name="stage_5_rule">
            <a:extLst xmlns:a="http://schemas.openxmlformats.org/drawingml/2006/main">
              <a:ext uri="{FF2B5EF4-FFF2-40B4-BE49-F238E27FC236}">
                <a16:creationId xmlns:a16="http://schemas.microsoft.com/office/drawing/2014/main" id="{E99ECECA-A013-4B70-970D-8038CA44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36" name="stage_5_label">
            <a:extLst xmlns:a="http://schemas.openxmlformats.org/drawingml/2006/main">
              <a:ext uri="{FF2B5EF4-FFF2-40B4-BE49-F238E27FC236}">
                <a16:creationId xmlns:a16="http://schemas.microsoft.com/office/drawing/2014/main" id="{779ADC5B-5A1A-49B4-8AB1-0706BDF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6  结果与刷新</a:t>
            </a:r>
          </a:p>
        </p:txBody>
      </p:sp>
      <p:sp>
        <p:nvSpPr>
          <p:cNvPr id="37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36D61A76-6C7C-47A9-9812-12CD392A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528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MAE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对照基线</a:t>
            </a:r>
          </a:p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未来验证</a:t>
            </a:r>
          </a:p>
        </p:txBody>
      </p:sp>
      <p:sp>
        <p:nvSpPr>
          <p:cNvPr id="38" name="cert_checklist_fill">
            <a:extLst xmlns:a="http://schemas.openxmlformats.org/drawingml/2006/main">
              <a:ext uri="{FF2B5EF4-FFF2-40B4-BE49-F238E27FC236}">
                <a16:creationId xmlns:a16="http://schemas.microsoft.com/office/drawing/2014/main" id="{70B5535E-207C-4F2C-A334-C6F0638B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819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9" name="cert_checklist_rule">
            <a:extLst xmlns:a="http://schemas.openxmlformats.org/drawingml/2006/main">
              <a:ext uri="{FF2B5EF4-FFF2-40B4-BE49-F238E27FC236}">
                <a16:creationId xmlns:a16="http://schemas.microsoft.com/office/drawing/2014/main" id="{D1562BA0-6064-406D-9B5A-6CAAC278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819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40" name="cert_checklist_title">
            <a:extLst xmlns:a="http://schemas.openxmlformats.org/drawingml/2006/main">
              <a:ext uri="{FF2B5EF4-FFF2-40B4-BE49-F238E27FC236}">
                <a16:creationId xmlns:a16="http://schemas.microsoft.com/office/drawing/2014/main" id="{A5B82071-707C-4B74-9F79-3799E3F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认证 checklist</a:t>
            </a:r>
          </a:p>
        </p:txBody>
      </p:sp>
      <p:sp>
        <p:nvSpPr>
          <p:cNvPr id="41" name="cert_checklist_items">
            <a:extLst xmlns:a="http://schemas.openxmlformats.org/drawingml/2006/main">
              <a:ext uri="{FF2B5EF4-FFF2-40B4-BE49-F238E27FC236}">
                <a16:creationId xmlns:a16="http://schemas.microsoft.com/office/drawing/2014/main" id="{C690B862-993C-4C37-A4DE-62238F98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48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E7C59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3E7C59"/>
                </a:solidFill>
                <a:latin typeface="PingFang SC"/>
                <a:ea typeface="PingFang SC"/>
                <a:cs typeface="PingFang SC"/>
              </a:rPr>
              <a:t>可复现 / oracle / 泄漏检查 / source 质量 / 环境 / 歧义</a:t>
            </a:r>
          </a:p>
        </p:txBody>
      </p:sp>
      <p:sp>
        <p:nvSpPr>
          <p:cNvPr id="42" name="method_note">
            <a:extLst xmlns:a="http://schemas.openxmlformats.org/drawingml/2006/main">
              <a:ext uri="{FF2B5EF4-FFF2-40B4-BE49-F238E27FC236}">
                <a16:creationId xmlns:a16="http://schemas.microsoft.com/office/drawing/2014/main" id="{4C4E257E-DB4C-4217-B0AC-DB303E24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认证、目标画像和组装规则共同决定 release 是否可审计、可复现、可用于未来验证。</a:t>
            </a:r>
          </a:p>
        </p:txBody>
      </p:sp>
    </p:spTree>
    <p:extLst>
      <p:ext uri="{BB962C8B-B14F-4D97-AF65-F5344CB8AC3E}">
        <p14:creationId xmlns:p14="http://schemas.microsoft.com/office/powerpoint/2010/main" val="5351479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D2F7E9C-D980-4CFB-807A-5BF934D3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D7088822-A04A-4850-BE26-3E07FFB9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48F2A50F-852A-485C-A2DF-DA93A91E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C6F06929-466D-4221-9A34-8AAD3ABA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执行边界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7E568DEB-15BD-49A7-B01D-C6EB1937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solver 与 verifier 分离，hidden oracle 只在验证侧出现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E0100E6-A77A-4E50-9D7F-5F2BA6E7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Barcarolle 控制 benchmark-side protocol；ACUT 保留自己的 harness。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F3174F1B-B983-467F-8CF0-AD65B727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boundary_copy">
            <a:extLst xmlns:a="http://schemas.openxmlformats.org/drawingml/2006/main">
              <a:ext uri="{FF2B5EF4-FFF2-40B4-BE49-F238E27FC236}">
                <a16:creationId xmlns:a16="http://schemas.microsoft.com/office/drawing/2014/main" id="{F033157C-E426-4BA3-857D-0E853258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建立干净 solver workspace，给出 solver-visible statement 和允许上下文，捕获 ACUT diff；随后在 verifier workspace 注入 hidden oracle，并记录 score、cost、latency、terminal status 和 sanitized artifacts。</a:t>
            </a:r>
          </a:p>
        </p:txBody>
      </p:sp>
      <p:sp>
        <p:nvSpPr>
          <p:cNvPr id="9" name="boundary_0_fill">
            <a:extLst xmlns:a="http://schemas.openxmlformats.org/drawingml/2006/main">
              <a:ext uri="{FF2B5EF4-FFF2-40B4-BE49-F238E27FC236}">
                <a16:creationId xmlns:a16="http://schemas.microsoft.com/office/drawing/2014/main" id="{11D0912A-830C-4D57-922C-BDD2D39F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boundary_0_accent">
            <a:extLst xmlns:a="http://schemas.openxmlformats.org/drawingml/2006/main">
              <a:ext uri="{FF2B5EF4-FFF2-40B4-BE49-F238E27FC236}">
                <a16:creationId xmlns:a16="http://schemas.microsoft.com/office/drawing/2014/main" id="{1FCA363D-A9E6-442C-B049-9B443DA2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boundary_0_title">
            <a:extLst xmlns:a="http://schemas.openxmlformats.org/drawingml/2006/main">
              <a:ext uri="{FF2B5EF4-FFF2-40B4-BE49-F238E27FC236}">
                <a16:creationId xmlns:a16="http://schemas.microsoft.com/office/drawing/2014/main" id="{1C4F50DD-2801-480A-8807-8CADF1EC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solver workspace</a:t>
            </a:r>
          </a:p>
        </p:txBody>
      </p:sp>
      <p:sp>
        <p:nvSpPr>
          <p:cNvPr id="12" name="boundary_0_body">
            <a:extLst xmlns:a="http://schemas.openxmlformats.org/drawingml/2006/main">
              <a:ext uri="{FF2B5EF4-FFF2-40B4-BE49-F238E27FC236}">
                <a16:creationId xmlns:a16="http://schemas.microsoft.com/office/drawing/2014/main" id="{6C124EE0-69B0-4F33-8107-8DC6E584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允许上下文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solver-visible statement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ACUT harness 执行搜索、编辑和工具策略</a:t>
            </a:r>
          </a:p>
        </p:txBody>
      </p:sp>
      <p:sp>
        <p:nvSpPr>
          <p:cNvPr id="13" name="boundary_link_0">
            <a:extLst xmlns:a="http://schemas.openxmlformats.org/drawingml/2006/main">
              <a:ext uri="{FF2B5EF4-FFF2-40B4-BE49-F238E27FC236}">
                <a16:creationId xmlns:a16="http://schemas.microsoft.com/office/drawing/2014/main" id="{BE4A7639-3F6C-476B-8899-38A41A0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boundary_1_fill">
            <a:extLst xmlns:a="http://schemas.openxmlformats.org/drawingml/2006/main">
              <a:ext uri="{FF2B5EF4-FFF2-40B4-BE49-F238E27FC236}">
                <a16:creationId xmlns:a16="http://schemas.microsoft.com/office/drawing/2014/main" id="{302B2D3E-FC85-42C8-87B9-85C90196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5" name="boundary_1_accent">
            <a:extLst xmlns:a="http://schemas.openxmlformats.org/drawingml/2006/main">
              <a:ext uri="{FF2B5EF4-FFF2-40B4-BE49-F238E27FC236}">
                <a16:creationId xmlns:a16="http://schemas.microsoft.com/office/drawing/2014/main" id="{EA6559EF-BBF6-4B4B-A66A-9D850604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6" name="boundary_1_title">
            <a:extLst xmlns:a="http://schemas.openxmlformats.org/drawingml/2006/main">
              <a:ext uri="{FF2B5EF4-FFF2-40B4-BE49-F238E27FC236}">
                <a16:creationId xmlns:a16="http://schemas.microsoft.com/office/drawing/2014/main" id="{3B190A66-B105-47B8-9DDB-70399B1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captured diff</a:t>
            </a:r>
          </a:p>
        </p:txBody>
      </p:sp>
      <p:sp>
        <p:nvSpPr>
          <p:cNvPr id="17" name="boundary_1_body">
            <a:extLst xmlns:a="http://schemas.openxmlformats.org/drawingml/2006/main">
              <a:ext uri="{FF2B5EF4-FFF2-40B4-BE49-F238E27FC236}">
                <a16:creationId xmlns:a16="http://schemas.microsoft.com/office/drawing/2014/main" id="{29B07AE0-9580-41D0-9592-41469FA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最终 workspace change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benchmark 只捕获 diff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solver 侧不出现 hidden oracle</a:t>
            </a:r>
          </a:p>
        </p:txBody>
      </p:sp>
      <p:sp>
        <p:nvSpPr>
          <p:cNvPr id="18" name="boundary_link_1">
            <a:extLst xmlns:a="http://schemas.openxmlformats.org/drawingml/2006/main">
              <a:ext uri="{FF2B5EF4-FFF2-40B4-BE49-F238E27FC236}">
                <a16:creationId xmlns:a16="http://schemas.microsoft.com/office/drawing/2014/main" id="{01971D4D-85EC-47CF-B507-7944336C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0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9" name="boundary_2_fill">
            <a:extLst xmlns:a="http://schemas.openxmlformats.org/drawingml/2006/main">
              <a:ext uri="{FF2B5EF4-FFF2-40B4-BE49-F238E27FC236}">
                <a16:creationId xmlns:a16="http://schemas.microsoft.com/office/drawing/2014/main" id="{E7D50802-E08C-4608-8F0A-9F67AAB3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38450"/>
            <a:ext cx="2667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0" name="boundary_2_accent">
            <a:extLst xmlns:a="http://schemas.openxmlformats.org/drawingml/2006/main">
              <a:ext uri="{FF2B5EF4-FFF2-40B4-BE49-F238E27FC236}">
                <a16:creationId xmlns:a16="http://schemas.microsoft.com/office/drawing/2014/main" id="{A347F867-6439-45F7-9792-97AB8508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384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1" name="boundary_2_title">
            <a:extLst xmlns:a="http://schemas.openxmlformats.org/drawingml/2006/main">
              <a:ext uri="{FF2B5EF4-FFF2-40B4-BE49-F238E27FC236}">
                <a16:creationId xmlns:a16="http://schemas.microsoft.com/office/drawing/2014/main" id="{43D42FB0-348B-4590-BFBC-80D752F5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verifier workspace</a:t>
            </a:r>
          </a:p>
        </p:txBody>
      </p:sp>
      <p:sp>
        <p:nvSpPr>
          <p:cNvPr id="22" name="boundary_2_body">
            <a:extLst xmlns:a="http://schemas.openxmlformats.org/drawingml/2006/main">
              <a:ext uri="{FF2B5EF4-FFF2-40B4-BE49-F238E27FC236}">
                <a16:creationId xmlns:a16="http://schemas.microsoft.com/office/drawing/2014/main" id="{F937EEF6-B7CF-4C4C-B8D7-21B43127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注入 hidden oracle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记录 score / cost / latency / status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保存 sanitized artifacts</a:t>
            </a:r>
          </a:p>
        </p:txBody>
      </p:sp>
      <p:sp>
        <p:nvSpPr>
          <p:cNvPr id="23" name="boundary_note_0_fill">
            <a:extLst xmlns:a="http://schemas.openxmlformats.org/drawingml/2006/main">
              <a:ext uri="{FF2B5EF4-FFF2-40B4-BE49-F238E27FC236}">
                <a16:creationId xmlns:a16="http://schemas.microsoft.com/office/drawing/2014/main" id="{137B1D27-DFDD-48F1-ABB2-000A72FB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3429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4" name="boundary_note_0_accent">
            <a:extLst xmlns:a="http://schemas.openxmlformats.org/drawingml/2006/main">
              <a:ext uri="{FF2B5EF4-FFF2-40B4-BE49-F238E27FC236}">
                <a16:creationId xmlns:a16="http://schemas.microsoft.com/office/drawing/2014/main" id="{E9463054-F92C-4215-91CA-A47375C0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5" name="boundary_note_0_title">
            <a:extLst xmlns:a="http://schemas.openxmlformats.org/drawingml/2006/main">
              <a:ext uri="{FF2B5EF4-FFF2-40B4-BE49-F238E27FC236}">
                <a16:creationId xmlns:a16="http://schemas.microsoft.com/office/drawing/2014/main" id="{42071A7E-E046-412A-94F9-7E4B36E0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1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boundary</a:t>
            </a:r>
          </a:p>
        </p:txBody>
      </p:sp>
      <p:sp>
        <p:nvSpPr>
          <p:cNvPr id="26" name="boundary_note_0_body">
            <a:extLst xmlns:a="http://schemas.openxmlformats.org/drawingml/2006/main">
              <a:ext uri="{FF2B5EF4-FFF2-40B4-BE49-F238E27FC236}">
                <a16:creationId xmlns:a16="http://schemas.microsoft.com/office/drawing/2014/main" id="{E8723201-3050-4621-A188-D426517C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435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报告按 named ACUT configuration 组织，保留 adapter / harness 差异。</a:t>
            </a:r>
          </a:p>
        </p:txBody>
      </p:sp>
      <p:sp>
        <p:nvSpPr>
          <p:cNvPr id="27" name="boundary_note_1_fill">
            <a:extLst xmlns:a="http://schemas.openxmlformats.org/drawingml/2006/main">
              <a:ext uri="{FF2B5EF4-FFF2-40B4-BE49-F238E27FC236}">
                <a16:creationId xmlns:a16="http://schemas.microsoft.com/office/drawing/2014/main" id="{5078C84E-8564-4EA3-A673-3BC7CB84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3429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28" name="boundary_note_1_accent">
            <a:extLst xmlns:a="http://schemas.openxmlformats.org/drawingml/2006/main">
              <a:ext uri="{FF2B5EF4-FFF2-40B4-BE49-F238E27FC236}">
                <a16:creationId xmlns:a16="http://schemas.microsoft.com/office/drawing/2014/main" id="{159730F4-EB0B-44D7-8483-9157EA0E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29" name="boundary_note_1_title">
            <a:extLst xmlns:a="http://schemas.openxmlformats.org/drawingml/2006/main">
              <a:ext uri="{FF2B5EF4-FFF2-40B4-BE49-F238E27FC236}">
                <a16:creationId xmlns:a16="http://schemas.microsoft.com/office/drawing/2014/main" id="{15938FC0-3A4A-4DCA-AB36-5598DFB5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hidden oracle</a:t>
            </a:r>
          </a:p>
        </p:txBody>
      </p:sp>
      <p:sp>
        <p:nvSpPr>
          <p:cNvPr id="30" name="boundary_note_1_body">
            <a:extLst xmlns:a="http://schemas.openxmlformats.org/drawingml/2006/main">
              <a:ext uri="{FF2B5EF4-FFF2-40B4-BE49-F238E27FC236}">
                <a16:creationId xmlns:a16="http://schemas.microsoft.com/office/drawing/2014/main" id="{7724C4CB-8886-46F2-8456-3817D551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435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只作为验证侧材料出现。</a:t>
            </a:r>
          </a:p>
        </p:txBody>
      </p:sp>
      <p:sp>
        <p:nvSpPr>
          <p:cNvPr id="31" name="accounting_note">
            <a:extLst xmlns:a="http://schemas.openxmlformats.org/drawingml/2006/main">
              <a:ext uri="{FF2B5EF4-FFF2-40B4-BE49-F238E27FC236}">
                <a16:creationId xmlns:a16="http://schemas.microsoft.com/office/drawing/2014/main" id="{387A6023-CBD0-4472-BD87-AD720212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score、cost、latency 和 terminal status 与 sanitized artifacts 一起记录。</a:t>
            </a:r>
          </a:p>
        </p:txBody>
      </p:sp>
    </p:spTree>
    <p:extLst>
      <p:ext uri="{BB962C8B-B14F-4D97-AF65-F5344CB8AC3E}">
        <p14:creationId xmlns:p14="http://schemas.microsoft.com/office/powerpoint/2010/main" val="13752469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B5DC595-7349-4E60-9F3C-767F3EA3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715A6C76-32CF-4F58-851B-4F23AAEB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0154383A-3470-4612-99E9-28127BE3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D592D2CA-2EEF-40BC-9001-CAE15E14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算法问题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98EDB4A7-2945-4FB8-8032-354A640E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任务选择器决定有限预算估计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C7459D0-F691-44AA-B64A-94F2FE49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样本支撑、兜底来源和对照基线会改变 estimate 的可信度。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3DC5B29F-DB63-4030-80A9-2078D6C0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algorithm_copy">
            <a:extLst xmlns:a="http://schemas.openxmlformats.org/drawingml/2006/main">
              <a:ext uri="{FF2B5EF4-FFF2-40B4-BE49-F238E27FC236}">
                <a16:creationId xmlns:a16="http://schemas.microsoft.com/office/drawing/2014/main" id="{942DA548-9C66-4EDF-BCE0-F772023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仓库级评测 release 只能观察有限数量的任务；任务选择器决定哪些观察进入估计，因此可能带来偏差、覆盖不足或切片不稳定。</a:t>
            </a:r>
          </a:p>
        </p:txBody>
      </p:sp>
      <p:sp>
        <p:nvSpPr>
          <p:cNvPr id="9" name="selector_flow_0_fill">
            <a:extLst xmlns:a="http://schemas.openxmlformats.org/drawingml/2006/main">
              <a:ext uri="{FF2B5EF4-FFF2-40B4-BE49-F238E27FC236}">
                <a16:creationId xmlns:a16="http://schemas.microsoft.com/office/drawing/2014/main" id="{EEF2A4BA-EDA3-4EF9-9C3E-EA2FCD0B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selector_flow_0_accent">
            <a:extLst xmlns:a="http://schemas.openxmlformats.org/drawingml/2006/main">
              <a:ext uri="{FF2B5EF4-FFF2-40B4-BE49-F238E27FC236}">
                <a16:creationId xmlns:a16="http://schemas.microsoft.com/office/drawing/2014/main" id="{B9CD9A18-BFB2-4CA7-A075-9B1403CC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selector_flow_0_title">
            <a:extLst xmlns:a="http://schemas.openxmlformats.org/drawingml/2006/main">
              <a:ext uri="{FF2B5EF4-FFF2-40B4-BE49-F238E27FC236}">
                <a16:creationId xmlns:a16="http://schemas.microsoft.com/office/drawing/2014/main" id="{88C9C5DB-F502-4253-9D36-B4259589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有限预算</a:t>
            </a:r>
          </a:p>
        </p:txBody>
      </p:sp>
      <p:sp>
        <p:nvSpPr>
          <p:cNvPr id="12" name="selector_flow_0_body">
            <a:extLst xmlns:a="http://schemas.openxmlformats.org/drawingml/2006/main">
              <a:ext uri="{FF2B5EF4-FFF2-40B4-BE49-F238E27FC236}">
                <a16:creationId xmlns:a16="http://schemas.microsoft.com/office/drawing/2014/main" id="{E0AF726D-D5E5-499F-A90F-87B4102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86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只能运行有限任务</a:t>
            </a:r>
          </a:p>
        </p:txBody>
      </p:sp>
      <p:sp>
        <p:nvSpPr>
          <p:cNvPr id="13" name="selector_link_0">
            <a:extLst xmlns:a="http://schemas.openxmlformats.org/drawingml/2006/main">
              <a:ext uri="{FF2B5EF4-FFF2-40B4-BE49-F238E27FC236}">
                <a16:creationId xmlns:a16="http://schemas.microsoft.com/office/drawing/2014/main" id="{9DCB8119-A708-4B7C-8424-90A8643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04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selector_arrow_0">
            <a:extLst xmlns:a="http://schemas.openxmlformats.org/drawingml/2006/main">
              <a:ext uri="{FF2B5EF4-FFF2-40B4-BE49-F238E27FC236}">
                <a16:creationId xmlns:a16="http://schemas.microsoft.com/office/drawing/2014/main" id="{96E5DF7B-203E-4756-80B3-CA94676B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selector_flow_1_fill">
            <a:extLst xmlns:a="http://schemas.openxmlformats.org/drawingml/2006/main">
              <a:ext uri="{FF2B5EF4-FFF2-40B4-BE49-F238E27FC236}">
                <a16:creationId xmlns:a16="http://schemas.microsoft.com/office/drawing/2014/main" id="{0920554B-D923-43FB-AA14-6E69D121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6" name="selector_flow_1_accent">
            <a:extLst xmlns:a="http://schemas.openxmlformats.org/drawingml/2006/main">
              <a:ext uri="{FF2B5EF4-FFF2-40B4-BE49-F238E27FC236}">
                <a16:creationId xmlns:a16="http://schemas.microsoft.com/office/drawing/2014/main" id="{30984D59-8BC2-4F17-A807-08659786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7" name="selector_flow_1_title">
            <a:extLst xmlns:a="http://schemas.openxmlformats.org/drawingml/2006/main">
              <a:ext uri="{FF2B5EF4-FFF2-40B4-BE49-F238E27FC236}">
                <a16:creationId xmlns:a16="http://schemas.microsoft.com/office/drawing/2014/main" id="{C73E1368-309D-4155-9A9F-0550B2BB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任务选择器</a:t>
            </a:r>
          </a:p>
        </p:txBody>
      </p:sp>
      <p:sp>
        <p:nvSpPr>
          <p:cNvPr id="18" name="selector_flow_1_body">
            <a:extLst xmlns:a="http://schemas.openxmlformats.org/drawingml/2006/main">
              <a:ext uri="{FF2B5EF4-FFF2-40B4-BE49-F238E27FC236}">
                <a16:creationId xmlns:a16="http://schemas.microsoft.com/office/drawing/2014/main" id="{93FFA514-9C93-4CCF-BC29-890CA1B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选择哪些观察进入 release</a:t>
            </a:r>
          </a:p>
        </p:txBody>
      </p:sp>
      <p:sp>
        <p:nvSpPr>
          <p:cNvPr id="19" name="selector_link_1">
            <a:extLst xmlns:a="http://schemas.openxmlformats.org/drawingml/2006/main">
              <a:ext uri="{FF2B5EF4-FFF2-40B4-BE49-F238E27FC236}">
                <a16:creationId xmlns:a16="http://schemas.microsoft.com/office/drawing/2014/main" id="{577408EA-C8D1-4441-AAD8-5E6058B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004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0" name="selector_arrow_1">
            <a:extLst xmlns:a="http://schemas.openxmlformats.org/drawingml/2006/main">
              <a:ext uri="{FF2B5EF4-FFF2-40B4-BE49-F238E27FC236}">
                <a16:creationId xmlns:a16="http://schemas.microsoft.com/office/drawing/2014/main" id="{8064E62D-F2FE-4786-A8C7-91B62EE3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selector_flow_2_fill">
            <a:extLst xmlns:a="http://schemas.openxmlformats.org/drawingml/2006/main">
              <a:ext uri="{FF2B5EF4-FFF2-40B4-BE49-F238E27FC236}">
                <a16:creationId xmlns:a16="http://schemas.microsoft.com/office/drawing/2014/main" id="{3DC80E57-650A-4D87-A149-AD48915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FDC"/>
          </a:solidFill>
        </p:spPr>
      </p:sp>
      <p:sp>
        <p:nvSpPr>
          <p:cNvPr id="22" name="selector_flow_2_accent">
            <a:extLst xmlns:a="http://schemas.openxmlformats.org/drawingml/2006/main">
              <a:ext uri="{FF2B5EF4-FFF2-40B4-BE49-F238E27FC236}">
                <a16:creationId xmlns:a16="http://schemas.microsoft.com/office/drawing/2014/main" id="{E064C7D2-72A4-487E-A090-EC6C6E10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</p:spPr>
      </p:sp>
      <p:sp>
        <p:nvSpPr>
          <p:cNvPr id="23" name="selector_flow_2_title">
            <a:extLst xmlns:a="http://schemas.openxmlformats.org/drawingml/2006/main">
              <a:ext uri="{FF2B5EF4-FFF2-40B4-BE49-F238E27FC236}">
                <a16:creationId xmlns:a16="http://schemas.microsoft.com/office/drawing/2014/main" id="{634546E7-4DB8-421C-816F-3D6A7BC8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估计风险</a:t>
            </a:r>
          </a:p>
        </p:txBody>
      </p:sp>
      <p:sp>
        <p:nvSpPr>
          <p:cNvPr id="24" name="selector_flow_2_body">
            <a:extLst xmlns:a="http://schemas.openxmlformats.org/drawingml/2006/main">
              <a:ext uri="{FF2B5EF4-FFF2-40B4-BE49-F238E27FC236}">
                <a16:creationId xmlns:a16="http://schemas.microsoft.com/office/drawing/2014/main" id="{35210D5A-263A-478B-8410-4C35C1D7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86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偏差 / 覆盖不足 / 不稳定</a:t>
            </a:r>
          </a:p>
        </p:txBody>
      </p:sp>
      <p:sp>
        <p:nvSpPr>
          <p:cNvPr id="25" name="selector_link_2">
            <a:extLst xmlns:a="http://schemas.openxmlformats.org/drawingml/2006/main">
              <a:ext uri="{FF2B5EF4-FFF2-40B4-BE49-F238E27FC236}">
                <a16:creationId xmlns:a16="http://schemas.microsoft.com/office/drawing/2014/main" id="{17833266-7431-4C89-8DD6-F0BF2ED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6" name="selector_arrow_2">
            <a:extLst xmlns:a="http://schemas.openxmlformats.org/drawingml/2006/main">
              <a:ext uri="{FF2B5EF4-FFF2-40B4-BE49-F238E27FC236}">
                <a16:creationId xmlns:a16="http://schemas.microsoft.com/office/drawing/2014/main" id="{8128CF91-BD16-4652-8D99-682B70C0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selector_flow_3_fill">
            <a:extLst xmlns:a="http://schemas.openxmlformats.org/drawingml/2006/main">
              <a:ext uri="{FF2B5EF4-FFF2-40B4-BE49-F238E27FC236}">
                <a16:creationId xmlns:a16="http://schemas.microsoft.com/office/drawing/2014/main" id="{BBB81A69-0DD2-4AF8-8B06-7B33B35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8" name="selector_flow_3_accent">
            <a:extLst xmlns:a="http://schemas.openxmlformats.org/drawingml/2006/main">
              <a:ext uri="{FF2B5EF4-FFF2-40B4-BE49-F238E27FC236}">
                <a16:creationId xmlns:a16="http://schemas.microsoft.com/office/drawing/2014/main" id="{13150CB0-B527-4399-A440-6CE585EF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9" name="selector_flow_3_title">
            <a:extLst xmlns:a="http://schemas.openxmlformats.org/drawingml/2006/main">
              <a:ext uri="{FF2B5EF4-FFF2-40B4-BE49-F238E27FC236}">
                <a16:creationId xmlns:a16="http://schemas.microsoft.com/office/drawing/2014/main" id="{B1AB85D6-F513-4E48-9586-C0D7F25B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selector 规则</a:t>
            </a:r>
          </a:p>
        </p:txBody>
      </p:sp>
      <p:sp>
        <p:nvSpPr>
          <p:cNvPr id="30" name="selector_flow_3_body">
            <a:extLst xmlns:a="http://schemas.openxmlformats.org/drawingml/2006/main">
              <a:ext uri="{FF2B5EF4-FFF2-40B4-BE49-F238E27FC236}">
                <a16:creationId xmlns:a16="http://schemas.microsoft.com/office/drawing/2014/main" id="{7F3D6C6C-17CD-4721-A70F-25F0EBCF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把支撑和对照写成规则</a:t>
            </a:r>
          </a:p>
        </p:txBody>
      </p:sp>
      <p:sp>
        <p:nvSpPr>
          <p:cNvPr id="31" name="rule_0_fill">
            <a:extLst xmlns:a="http://schemas.openxmlformats.org/drawingml/2006/main">
              <a:ext uri="{FF2B5EF4-FFF2-40B4-BE49-F238E27FC236}">
                <a16:creationId xmlns:a16="http://schemas.microsoft.com/office/drawing/2014/main" id="{027BEA98-0CA5-499C-AED1-A952A254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rule_0_rule">
            <a:extLst xmlns:a="http://schemas.openxmlformats.org/drawingml/2006/main">
              <a:ext uri="{FF2B5EF4-FFF2-40B4-BE49-F238E27FC236}">
                <a16:creationId xmlns:a16="http://schemas.microsoft.com/office/drawing/2014/main" id="{9D6EED26-BBD7-4968-8786-0C02A91C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33" name="rule_0_title">
            <a:extLst xmlns:a="http://schemas.openxmlformats.org/drawingml/2006/main">
              <a:ext uri="{FF2B5EF4-FFF2-40B4-BE49-F238E27FC236}">
                <a16:creationId xmlns:a16="http://schemas.microsoft.com/office/drawing/2014/main" id="{F54F2B01-410C-4E65-A520-09AB388F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72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样本支撑</a:t>
            </a:r>
          </a:p>
        </p:txBody>
      </p:sp>
      <p:sp>
        <p:nvSpPr>
          <p:cNvPr id="34" name="rule_0_body">
            <a:extLst xmlns:a="http://schemas.openxmlformats.org/drawingml/2006/main">
              <a:ext uri="{FF2B5EF4-FFF2-40B4-BE49-F238E27FC236}">
                <a16:creationId xmlns:a16="http://schemas.microsoft.com/office/drawing/2014/main" id="{E9E2F709-CF3C-465A-B4F3-0FE0EE4C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19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任务池是否足够覆盖目标画像</a:t>
            </a:r>
          </a:p>
        </p:txBody>
      </p:sp>
      <p:sp>
        <p:nvSpPr>
          <p:cNvPr id="35" name="rule_1_fill">
            <a:extLst xmlns:a="http://schemas.openxmlformats.org/drawingml/2006/main">
              <a:ext uri="{FF2B5EF4-FFF2-40B4-BE49-F238E27FC236}">
                <a16:creationId xmlns:a16="http://schemas.microsoft.com/office/drawing/2014/main" id="{E4341AC7-00DE-4482-B18B-B424EF07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6" name="rule_1_rule">
            <a:extLst xmlns:a="http://schemas.openxmlformats.org/drawingml/2006/main">
              <a:ext uri="{FF2B5EF4-FFF2-40B4-BE49-F238E27FC236}">
                <a16:creationId xmlns:a16="http://schemas.microsoft.com/office/drawing/2014/main" id="{587BB687-284F-4719-95B4-4296B8BC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37" name="rule_1_title">
            <a:extLst xmlns:a="http://schemas.openxmlformats.org/drawingml/2006/main">
              <a:ext uri="{FF2B5EF4-FFF2-40B4-BE49-F238E27FC236}">
                <a16:creationId xmlns:a16="http://schemas.microsoft.com/office/drawing/2014/main" id="{94D70133-A5D7-4C0A-B3A4-609A146D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72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兜底来源</a:t>
            </a:r>
          </a:p>
        </p:txBody>
      </p:sp>
      <p:sp>
        <p:nvSpPr>
          <p:cNvPr id="38" name="rule_1_body">
            <a:extLst xmlns:a="http://schemas.openxmlformats.org/drawingml/2006/main">
              <a:ext uri="{FF2B5EF4-FFF2-40B4-BE49-F238E27FC236}">
                <a16:creationId xmlns:a16="http://schemas.microsoft.com/office/drawing/2014/main" id="{BD837716-47C1-45D5-931A-6A467E38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19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支撑不足时的 fallback 要可见</a:t>
            </a:r>
          </a:p>
        </p:txBody>
      </p:sp>
      <p:sp>
        <p:nvSpPr>
          <p:cNvPr id="39" name="rule_2_fill">
            <a:extLst xmlns:a="http://schemas.openxmlformats.org/drawingml/2006/main">
              <a:ext uri="{FF2B5EF4-FFF2-40B4-BE49-F238E27FC236}">
                <a16:creationId xmlns:a16="http://schemas.microsoft.com/office/drawing/2014/main" id="{42C53FD3-12D5-4E46-959D-A5839F54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0" name="rule_2_rule">
            <a:extLst xmlns:a="http://schemas.openxmlformats.org/drawingml/2006/main">
              <a:ext uri="{FF2B5EF4-FFF2-40B4-BE49-F238E27FC236}">
                <a16:creationId xmlns:a16="http://schemas.microsoft.com/office/drawing/2014/main" id="{C09E84F6-EB8A-44AA-90A9-C64C44B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41" name="rule_2_title">
            <a:extLst xmlns:a="http://schemas.openxmlformats.org/drawingml/2006/main">
              <a:ext uri="{FF2B5EF4-FFF2-40B4-BE49-F238E27FC236}">
                <a16:creationId xmlns:a16="http://schemas.microsoft.com/office/drawing/2014/main" id="{98139475-6E01-4711-8681-FFD71A83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72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来源上限</a:t>
            </a:r>
          </a:p>
        </p:txBody>
      </p:sp>
      <p:sp>
        <p:nvSpPr>
          <p:cNvPr id="42" name="rule_2_body">
            <a:extLst xmlns:a="http://schemas.openxmlformats.org/drawingml/2006/main">
              <a:ext uri="{FF2B5EF4-FFF2-40B4-BE49-F238E27FC236}">
                <a16:creationId xmlns:a16="http://schemas.microsoft.com/office/drawing/2014/main" id="{794CFDA1-7988-4B91-9F93-E2B47E1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19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防止单一来源支配 release</a:t>
            </a:r>
          </a:p>
        </p:txBody>
      </p:sp>
      <p:sp>
        <p:nvSpPr>
          <p:cNvPr id="43" name="rule_3_fill">
            <a:extLst xmlns:a="http://schemas.openxmlformats.org/drawingml/2006/main">
              <a:ext uri="{FF2B5EF4-FFF2-40B4-BE49-F238E27FC236}">
                <a16:creationId xmlns:a16="http://schemas.microsoft.com/office/drawing/2014/main" id="{8890620D-FC72-4683-9060-98B646C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44" name="rule_3_rule">
            <a:extLst xmlns:a="http://schemas.openxmlformats.org/drawingml/2006/main">
              <a:ext uri="{FF2B5EF4-FFF2-40B4-BE49-F238E27FC236}">
                <a16:creationId xmlns:a16="http://schemas.microsoft.com/office/drawing/2014/main" id="{89D2E8FC-0B77-40A8-A9E6-AE025F4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45" name="rule_3_title">
            <a:extLst xmlns:a="http://schemas.openxmlformats.org/drawingml/2006/main">
              <a:ext uri="{FF2B5EF4-FFF2-40B4-BE49-F238E27FC236}">
                <a16:creationId xmlns:a16="http://schemas.microsoft.com/office/drawing/2014/main" id="{8C0F0124-3D4D-4030-89FF-31E78EA8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72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切片稳定性</a:t>
            </a:r>
          </a:p>
        </p:txBody>
      </p:sp>
      <p:sp>
        <p:nvSpPr>
          <p:cNvPr id="46" name="rule_3_body">
            <a:extLst xmlns:a="http://schemas.openxmlformats.org/drawingml/2006/main">
              <a:ext uri="{FF2B5EF4-FFF2-40B4-BE49-F238E27FC236}">
                <a16:creationId xmlns:a16="http://schemas.microsoft.com/office/drawing/2014/main" id="{7F867789-E949-43E9-A67D-635E919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adapter / repo / window 都要检查</a:t>
            </a:r>
          </a:p>
        </p:txBody>
      </p:sp>
      <p:sp>
        <p:nvSpPr>
          <p:cNvPr id="47" name="rule_4_fill">
            <a:extLst xmlns:a="http://schemas.openxmlformats.org/drawingml/2006/main">
              <a:ext uri="{FF2B5EF4-FFF2-40B4-BE49-F238E27FC236}">
                <a16:creationId xmlns:a16="http://schemas.microsoft.com/office/drawing/2014/main" id="{19AA0E87-EF89-45DC-B3AD-38C2B393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8" name="rule_4_rule">
            <a:extLst xmlns:a="http://schemas.openxmlformats.org/drawingml/2006/main">
              <a:ext uri="{FF2B5EF4-FFF2-40B4-BE49-F238E27FC236}">
                <a16:creationId xmlns:a16="http://schemas.microsoft.com/office/drawing/2014/main" id="{528D0077-E15F-4D11-889C-5C71996D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49" name="rule_4_title">
            <a:extLst xmlns:a="http://schemas.openxmlformats.org/drawingml/2006/main">
              <a:ext uri="{FF2B5EF4-FFF2-40B4-BE49-F238E27FC236}">
                <a16:creationId xmlns:a16="http://schemas.microsoft.com/office/drawing/2014/main" id="{5CEC5DBE-2471-4BA8-B89C-613CF906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对照基线</a:t>
            </a:r>
          </a:p>
        </p:txBody>
      </p:sp>
      <p:sp>
        <p:nvSpPr>
          <p:cNvPr id="50" name="rule_4_body">
            <a:extLst xmlns:a="http://schemas.openxmlformats.org/drawingml/2006/main">
              <a:ext uri="{FF2B5EF4-FFF2-40B4-BE49-F238E27FC236}">
                <a16:creationId xmlns:a16="http://schemas.microsoft.com/office/drawing/2014/main" id="{8C54584C-062C-4984-BBF5-BCED33EB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19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4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temporal、repo-local、random 都要比</a:t>
            </a:r>
          </a:p>
        </p:txBody>
      </p:sp>
      <p:sp>
        <p:nvSpPr>
          <p:cNvPr id="51" name="history_note_fill">
            <a:extLst xmlns:a="http://schemas.openxmlformats.org/drawingml/2006/main">
              <a:ext uri="{FF2B5EF4-FFF2-40B4-BE49-F238E27FC236}">
                <a16:creationId xmlns:a16="http://schemas.microsoft.com/office/drawing/2014/main" id="{7967F8CF-4181-4E1D-98CC-AA164AD5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19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52" name="history_note_rule">
            <a:extLst xmlns:a="http://schemas.openxmlformats.org/drawingml/2006/main">
              <a:ext uri="{FF2B5EF4-FFF2-40B4-BE49-F238E27FC236}">
                <a16:creationId xmlns:a16="http://schemas.microsoft.com/office/drawing/2014/main" id="{2FA4F2C4-3F8E-4770-9F2E-72E66A5F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53" name="history_note_title">
            <a:extLst xmlns:a="http://schemas.openxmlformats.org/drawingml/2006/main">
              <a:ext uri="{FF2B5EF4-FFF2-40B4-BE49-F238E27FC236}">
                <a16:creationId xmlns:a16="http://schemas.microsoft.com/office/drawing/2014/main" id="{0D3BDC22-24D6-4F03-82FF-7A1FFCA0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959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历史诊断</a:t>
            </a:r>
          </a:p>
        </p:txBody>
      </p:sp>
      <p:sp>
        <p:nvSpPr>
          <p:cNvPr id="54" name="history_note_body">
            <a:extLst xmlns:a="http://schemas.openxmlformats.org/drawingml/2006/main">
              <a:ext uri="{FF2B5EF4-FFF2-40B4-BE49-F238E27FC236}">
                <a16:creationId xmlns:a16="http://schemas.microsoft.com/office/drawing/2014/main" id="{2D57107F-D5B7-4DB7-8194-2C6C77A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95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旧 weighted 方案在稀疏样本支撑下脆弱；它提示 selector 规则需要显式支撑检查。</a:t>
            </a:r>
          </a:p>
        </p:txBody>
      </p:sp>
      <p:sp>
        <p:nvSpPr>
          <p:cNvPr id="55" name="algorithm_note">
            <a:extLst xmlns:a="http://schemas.openxmlformats.org/drawingml/2006/main">
              <a:ext uri="{FF2B5EF4-FFF2-40B4-BE49-F238E27FC236}">
                <a16:creationId xmlns:a16="http://schemas.microsoft.com/office/drawing/2014/main" id="{AD9508CC-58E1-4DD1-9E04-F6EE396E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1912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算法问题的核心是用有限任务得到更可信的未来估计。</a:t>
            </a:r>
          </a:p>
        </p:txBody>
      </p:sp>
    </p:spTree>
    <p:extLst>
      <p:ext uri="{BB962C8B-B14F-4D97-AF65-F5344CB8AC3E}">
        <p14:creationId xmlns:p14="http://schemas.microsoft.com/office/powerpoint/2010/main" val="8733905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CE03088-34CF-4223-BCE4-0BFCFFE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C60EE6B7-BFAA-4B13-A4D4-32F523D0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E8962666-8281-492F-A94B-1B0444D2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CC1DEAA1-EAFE-4D16-83BE-5E6E05E0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当前证据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7F8EF187-A336-4EDA-9794-A14CF374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已有证据支持继续优化 selector，结论仍保持有限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1118EA7-310F-4B24-BB0D-ADDB5EFA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协议可运行，source 可修复，MAE signal 仍然很小。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D248847F-DCFB-4890-A09A-A50BFA06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ev_header_0">
            <a:extLst xmlns:a="http://schemas.openxmlformats.org/drawingml/2006/main">
              <a:ext uri="{FF2B5EF4-FFF2-40B4-BE49-F238E27FC236}">
                <a16:creationId xmlns:a16="http://schemas.microsoft.com/office/drawing/2014/main" id="{7728DCA6-10AC-413F-B94C-F8619839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9" name="ev_header_text_0">
            <a:extLst xmlns:a="http://schemas.openxmlformats.org/drawingml/2006/main">
              <a:ext uri="{FF2B5EF4-FFF2-40B4-BE49-F238E27FC236}">
                <a16:creationId xmlns:a16="http://schemas.microsoft.com/office/drawing/2014/main" id="{BD60E388-059B-46F1-951E-B302F6BF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955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读者问题</a:t>
            </a:r>
          </a:p>
        </p:txBody>
      </p:sp>
      <p:sp>
        <p:nvSpPr>
          <p:cNvPr id="10" name="ev_header_1">
            <a:extLst xmlns:a="http://schemas.openxmlformats.org/drawingml/2006/main">
              <a:ext uri="{FF2B5EF4-FFF2-40B4-BE49-F238E27FC236}">
                <a16:creationId xmlns:a16="http://schemas.microsoft.com/office/drawing/2014/main" id="{5841F00A-60CD-43B9-8DB6-E4276BB4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002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1" name="ev_header_text_1">
            <a:extLst xmlns:a="http://schemas.openxmlformats.org/drawingml/2006/main">
              <a:ext uri="{FF2B5EF4-FFF2-40B4-BE49-F238E27FC236}">
                <a16:creationId xmlns:a16="http://schemas.microsoft.com/office/drawing/2014/main" id="{D48C79C5-6311-4547-9975-4562503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2" name="ev_header_2">
            <a:extLst xmlns:a="http://schemas.openxmlformats.org/drawingml/2006/main">
              <a:ext uri="{FF2B5EF4-FFF2-40B4-BE49-F238E27FC236}">
                <a16:creationId xmlns:a16="http://schemas.microsoft.com/office/drawing/2014/main" id="{CBF7D419-8FA5-4296-AC58-54765A6D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002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13" name="ev_header_text_2">
            <a:extLst xmlns:a="http://schemas.openxmlformats.org/drawingml/2006/main">
              <a:ext uri="{FF2B5EF4-FFF2-40B4-BE49-F238E27FC236}">
                <a16:creationId xmlns:a16="http://schemas.microsoft.com/office/drawing/2014/main" id="{60EF046A-7D7A-4A3C-8B25-729832C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95500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当前读法</a:t>
            </a:r>
          </a:p>
        </p:txBody>
      </p:sp>
      <p:sp>
        <p:nvSpPr>
          <p:cNvPr id="14" name="ev_row_0_0">
            <a:extLst xmlns:a="http://schemas.openxmlformats.org/drawingml/2006/main">
              <a:ext uri="{FF2B5EF4-FFF2-40B4-BE49-F238E27FC236}">
                <a16:creationId xmlns:a16="http://schemas.microsoft.com/office/drawing/2014/main" id="{B8FDFAC5-08B3-4459-8983-F30499F0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574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5" name="ev_text_0_0">
            <a:extLst xmlns:a="http://schemas.openxmlformats.org/drawingml/2006/main">
              <a:ext uri="{FF2B5EF4-FFF2-40B4-BE49-F238E27FC236}">
                <a16:creationId xmlns:a16="http://schemas.microsoft.com/office/drawing/2014/main" id="{F8024D92-7A23-47EC-A39B-3B2EBC8A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527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4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协议能跑通吗？</a:t>
            </a:r>
          </a:p>
        </p:txBody>
      </p:sp>
      <p:sp>
        <p:nvSpPr>
          <p:cNvPr id="16" name="ev_row_0_1">
            <a:extLst xmlns:a="http://schemas.openxmlformats.org/drawingml/2006/main">
              <a:ext uri="{FF2B5EF4-FFF2-40B4-BE49-F238E27FC236}">
                <a16:creationId xmlns:a16="http://schemas.microsoft.com/office/drawing/2014/main" id="{CED88756-2E4D-4248-8D54-25624156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574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ev_text_0_1">
            <a:extLst xmlns:a="http://schemas.openxmlformats.org/drawingml/2006/main">
              <a:ext uri="{FF2B5EF4-FFF2-40B4-BE49-F238E27FC236}">
                <a16:creationId xmlns:a16="http://schemas.microsoft.com/office/drawing/2014/main" id="{54441114-98B2-4BE1-A931-909B71F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52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120/120 planned cells</a:t>
            </a:r>
          </a:p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scoreability 1.0</a:t>
            </a:r>
          </a:p>
        </p:txBody>
      </p:sp>
      <p:sp>
        <p:nvSpPr>
          <p:cNvPr id="18" name="ev_row_0_2">
            <a:extLst xmlns:a="http://schemas.openxmlformats.org/drawingml/2006/main">
              <a:ext uri="{FF2B5EF4-FFF2-40B4-BE49-F238E27FC236}">
                <a16:creationId xmlns:a16="http://schemas.microsoft.com/office/drawing/2014/main" id="{65B73D94-0889-441B-B052-2E80F4AA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574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9" name="ev_text_0_2">
            <a:extLst xmlns:a="http://schemas.openxmlformats.org/drawingml/2006/main">
              <a:ext uri="{FF2B5EF4-FFF2-40B4-BE49-F238E27FC236}">
                <a16:creationId xmlns:a16="http://schemas.microsoft.com/office/drawing/2014/main" id="{C37394BB-3127-4519-8EA8-1E8299B6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52700"/>
            <a:ext cx="3867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4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4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workspace、diff、verifier replay 可以审计运行。</a:t>
            </a:r>
          </a:p>
        </p:txBody>
      </p:sp>
      <p:sp>
        <p:nvSpPr>
          <p:cNvPr id="20" name="ev_row_1_0">
            <a:extLst xmlns:a="http://schemas.openxmlformats.org/drawingml/2006/main">
              <a:ext uri="{FF2B5EF4-FFF2-40B4-BE49-F238E27FC236}">
                <a16:creationId xmlns:a16="http://schemas.microsoft.com/office/drawing/2014/main" id="{9C9A3A6B-32D0-45E8-8AA7-88C4E20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956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1" name="ev_text_1_0">
            <a:extLst xmlns:a="http://schemas.openxmlformats.org/drawingml/2006/main">
              <a:ext uri="{FF2B5EF4-FFF2-40B4-BE49-F238E27FC236}">
                <a16:creationId xmlns:a16="http://schemas.microsoft.com/office/drawing/2014/main" id="{55B8D577-AF11-4724-992B-3A0B33ED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909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4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质量能修复吗？</a:t>
            </a:r>
          </a:p>
        </p:txBody>
      </p:sp>
      <p:sp>
        <p:nvSpPr>
          <p:cNvPr id="22" name="ev_row_1_1">
            <a:extLst xmlns:a="http://schemas.openxmlformats.org/drawingml/2006/main">
              <a:ext uri="{FF2B5EF4-FFF2-40B4-BE49-F238E27FC236}">
                <a16:creationId xmlns:a16="http://schemas.microsoft.com/office/drawing/2014/main" id="{EBF25052-0D1B-4666-A545-1156C8A9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956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3" name="ev_text_1_1">
            <a:extLst xmlns:a="http://schemas.openxmlformats.org/drawingml/2006/main">
              <a:ext uri="{FF2B5EF4-FFF2-40B4-BE49-F238E27FC236}">
                <a16:creationId xmlns:a16="http://schemas.microsoft.com/office/drawing/2014/main" id="{DA4F256C-6029-46F0-A187-97C4E55B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909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click 30/30 tasks repaired</a:t>
            </a:r>
          </a:p>
        </p:txBody>
      </p:sp>
      <p:sp>
        <p:nvSpPr>
          <p:cNvPr id="24" name="ev_row_1_2">
            <a:extLst xmlns:a="http://schemas.openxmlformats.org/drawingml/2006/main">
              <a:ext uri="{FF2B5EF4-FFF2-40B4-BE49-F238E27FC236}">
                <a16:creationId xmlns:a16="http://schemas.microsoft.com/office/drawing/2014/main" id="{53F54A10-D2B1-4ED3-BDFE-A3F67D2D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956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25" name="ev_text_1_2">
            <a:extLst xmlns:a="http://schemas.openxmlformats.org/drawingml/2006/main">
              <a:ext uri="{FF2B5EF4-FFF2-40B4-BE49-F238E27FC236}">
                <a16:creationId xmlns:a16="http://schemas.microsoft.com/office/drawing/2014/main" id="{2E8B4B71-1C3C-49CB-A4E4-A400883F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390900"/>
            <a:ext cx="3867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4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4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source repair 可执行；历史 paid outcomes 没有被重写。</a:t>
            </a:r>
          </a:p>
        </p:txBody>
      </p:sp>
      <p:sp>
        <p:nvSpPr>
          <p:cNvPr id="26" name="ev_row_2_0">
            <a:extLst xmlns:a="http://schemas.openxmlformats.org/drawingml/2006/main">
              <a:ext uri="{FF2B5EF4-FFF2-40B4-BE49-F238E27FC236}">
                <a16:creationId xmlns:a16="http://schemas.microsoft.com/office/drawing/2014/main" id="{CFD8E1D4-A6E0-4D45-B9A8-A1105E4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338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ev_text_2_0">
            <a:extLst xmlns:a="http://schemas.openxmlformats.org/drawingml/2006/main">
              <a:ext uri="{FF2B5EF4-FFF2-40B4-BE49-F238E27FC236}">
                <a16:creationId xmlns:a16="http://schemas.microsoft.com/office/drawing/2014/main" id="{E7C19FB7-4A34-4C8D-A586-5E5C933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291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4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选择器是否有初步信号？</a:t>
            </a:r>
          </a:p>
        </p:txBody>
      </p:sp>
      <p:sp>
        <p:nvSpPr>
          <p:cNvPr id="28" name="ev_row_2_1">
            <a:extLst xmlns:a="http://schemas.openxmlformats.org/drawingml/2006/main">
              <a:ext uri="{FF2B5EF4-FFF2-40B4-BE49-F238E27FC236}">
                <a16:creationId xmlns:a16="http://schemas.microsoft.com/office/drawing/2014/main" id="{1AB4B0EE-AD66-490A-95BE-6B86C922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338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9" name="ev_text_2_1">
            <a:extLst xmlns:a="http://schemas.openxmlformats.org/drawingml/2006/main">
              <a:ext uri="{FF2B5EF4-FFF2-40B4-BE49-F238E27FC236}">
                <a16:creationId xmlns:a16="http://schemas.microsoft.com/office/drawing/2014/main" id="{4D978D70-B6EC-4924-AB24-83E24C1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291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MAE 0.209 vs 0.2149</a:t>
            </a:r>
          </a:p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edge 0.0059</a:t>
            </a:r>
          </a:p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random 93.4%</a:t>
            </a:r>
          </a:p>
        </p:txBody>
      </p:sp>
      <p:sp>
        <p:nvSpPr>
          <p:cNvPr id="30" name="ev_row_2_2">
            <a:extLst xmlns:a="http://schemas.openxmlformats.org/drawingml/2006/main">
              <a:ext uri="{FF2B5EF4-FFF2-40B4-BE49-F238E27FC236}">
                <a16:creationId xmlns:a16="http://schemas.microsoft.com/office/drawing/2014/main" id="{4F4AFB31-DACC-441D-8D49-D4528FD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338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1" name="ev_text_2_2">
            <a:extLst xmlns:a="http://schemas.openxmlformats.org/drawingml/2006/main">
              <a:ext uri="{FF2B5EF4-FFF2-40B4-BE49-F238E27FC236}">
                <a16:creationId xmlns:a16="http://schemas.microsoft.com/office/drawing/2014/main" id="{F3419F33-82B8-4718-8D2A-C14C19FA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29100"/>
            <a:ext cx="3867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4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4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有 traction；随机对照低于未来 95.0% gate。</a:t>
            </a:r>
          </a:p>
        </p:txBody>
      </p:sp>
      <p:sp>
        <p:nvSpPr>
          <p:cNvPr id="32" name="ev_row_3_0">
            <a:extLst xmlns:a="http://schemas.openxmlformats.org/drawingml/2006/main">
              <a:ext uri="{FF2B5EF4-FFF2-40B4-BE49-F238E27FC236}">
                <a16:creationId xmlns:a16="http://schemas.microsoft.com/office/drawing/2014/main" id="{58D68942-143A-4F5B-AF0F-A7D0FDF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720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3" name="ev_text_3_0">
            <a:extLst xmlns:a="http://schemas.openxmlformats.org/drawingml/2006/main">
              <a:ext uri="{FF2B5EF4-FFF2-40B4-BE49-F238E27FC236}">
                <a16:creationId xmlns:a16="http://schemas.microsoft.com/office/drawing/2014/main" id="{518696F8-289D-42EB-8014-D2928873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673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4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现在还不能证明什么？</a:t>
            </a:r>
          </a:p>
        </p:txBody>
      </p:sp>
      <p:sp>
        <p:nvSpPr>
          <p:cNvPr id="34" name="ev_row_3_1">
            <a:extLst xmlns:a="http://schemas.openxmlformats.org/drawingml/2006/main">
              <a:ext uri="{FF2B5EF4-FFF2-40B4-BE49-F238E27FC236}">
                <a16:creationId xmlns:a16="http://schemas.microsoft.com/office/drawing/2014/main" id="{A35B1552-8A83-449B-9CEA-14B4A6E2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9720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5" name="ev_text_3_1">
            <a:extLst xmlns:a="http://schemas.openxmlformats.org/drawingml/2006/main">
              <a:ext uri="{FF2B5EF4-FFF2-40B4-BE49-F238E27FC236}">
                <a16:creationId xmlns:a16="http://schemas.microsoft.com/office/drawing/2014/main" id="{865A43F6-06BE-4822-9404-D9AE6EF3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0673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adapter、repo/window、兜底</a:t>
            </a:r>
          </a:p>
          <a:p xmlns:a="http://schemas.openxmlformats.org/drawingml/2006/main">
            <a:pPr algn="l">
              <a:def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6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和 MAE margin 仍脆弱</a:t>
            </a:r>
          </a:p>
        </p:txBody>
      </p:sp>
      <p:sp>
        <p:nvSpPr>
          <p:cNvPr id="36" name="ev_row_3_2">
            <a:extLst xmlns:a="http://schemas.openxmlformats.org/drawingml/2006/main">
              <a:ext uri="{FF2B5EF4-FFF2-40B4-BE49-F238E27FC236}">
                <a16:creationId xmlns:a16="http://schemas.microsoft.com/office/drawing/2014/main" id="{BC0CC53F-D505-4118-BDAC-39051BE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9720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</p:spPr>
      </p:sp>
      <p:sp>
        <p:nvSpPr>
          <p:cNvPr id="37" name="ev_text_3_2">
            <a:extLst xmlns:a="http://schemas.openxmlformats.org/drawingml/2006/main">
              <a:ext uri="{FF2B5EF4-FFF2-40B4-BE49-F238E27FC236}">
                <a16:creationId xmlns:a16="http://schemas.microsoft.com/office/drawing/2014/main" id="{2109518E-06B4-4778-B3A1-7116CA91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067300"/>
            <a:ext cx="38671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4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94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预测效度未建立；调优效果未完成实证。</a:t>
            </a:r>
          </a:p>
        </p:txBody>
      </p:sp>
      <p:sp>
        <p:nvSpPr>
          <p:cNvPr id="38" name="evidence_boundary">
            <a:extLst xmlns:a="http://schemas.openxmlformats.org/drawingml/2006/main">
              <a:ext uri="{FF2B5EF4-FFF2-40B4-BE49-F238E27FC236}">
                <a16:creationId xmlns:a16="http://schemas.microsoft.com/office/drawing/2014/main" id="{BEB96363-316C-4F73-B621-5E5A1B80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57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这些结果支持继续优化 selector；还不能证明预测效度。</a:t>
            </a:r>
          </a:p>
        </p:txBody>
      </p:sp>
    </p:spTree>
    <p:extLst>
      <p:ext uri="{BB962C8B-B14F-4D97-AF65-F5344CB8AC3E}">
        <p14:creationId xmlns:p14="http://schemas.microsoft.com/office/powerpoint/2010/main" val="16278924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1CBD3A5-0869-4751-8470-A4009A9B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CCA9FA0B-00E7-4F59-A43C-FBF9811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1AF919E-D82E-4101-A782-DFD5E9B7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8A7360CE-C632-46A5-8951-9AC9BD23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研究路线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A4895D11-89F5-4FEF-AB47-8521880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下一步是改进任务选择器并冻结验证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53E2AE1-8C1E-4F56-BF11-5E5F5B44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future holdout 或 rolling-origin validation 用来检验冻结后的规则。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0DA3DBF4-85C6-4A54-80B8-7C6C551B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route_copy">
            <a:extLst xmlns:a="http://schemas.openxmlformats.org/drawingml/2006/main">
              <a:ext uri="{FF2B5EF4-FFF2-40B4-BE49-F238E27FC236}">
                <a16:creationId xmlns:a16="http://schemas.microsoft.com/office/drawing/2014/main" id="{B345536B-D07B-4850-BADF-5C83F7D3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研究路线从任务选择器开始：扩展候选供应，修复样本支撑，设置来源上限与兜底上限，比较随机和简单对照基线，检查切片稳定性和 practical MAE margin。</a:t>
            </a:r>
          </a:p>
        </p:txBody>
      </p:sp>
      <p:sp>
        <p:nvSpPr>
          <p:cNvPr id="9" name="loop_0_fill">
            <a:extLst xmlns:a="http://schemas.openxmlformats.org/drawingml/2006/main">
              <a:ext uri="{FF2B5EF4-FFF2-40B4-BE49-F238E27FC236}">
                <a16:creationId xmlns:a16="http://schemas.microsoft.com/office/drawing/2014/main" id="{4EA2C9C8-77D5-460D-BF19-8C696EE0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loop_0_accent">
            <a:extLst xmlns:a="http://schemas.openxmlformats.org/drawingml/2006/main">
              <a:ext uri="{FF2B5EF4-FFF2-40B4-BE49-F238E27FC236}">
                <a16:creationId xmlns:a16="http://schemas.microsoft.com/office/drawing/2014/main" id="{135DE658-0A18-416A-9109-70268C45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loop_0_title">
            <a:extLst xmlns:a="http://schemas.openxmlformats.org/drawingml/2006/main">
              <a:ext uri="{FF2B5EF4-FFF2-40B4-BE49-F238E27FC236}">
                <a16:creationId xmlns:a16="http://schemas.microsoft.com/office/drawing/2014/main" id="{686D8B7B-6E64-42EC-80DC-CA3CFF82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76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候选供应</a:t>
            </a:r>
          </a:p>
        </p:txBody>
      </p:sp>
      <p:sp>
        <p:nvSpPr>
          <p:cNvPr id="12" name="loop_0_body">
            <a:extLst xmlns:a="http://schemas.openxmlformats.org/drawingml/2006/main">
              <a:ext uri="{FF2B5EF4-FFF2-40B4-BE49-F238E27FC236}">
                <a16:creationId xmlns:a16="http://schemas.microsoft.com/office/drawing/2014/main" id="{2A87937F-5B17-4456-A291-7E3960C7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004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support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new reservoirs</a:t>
            </a:r>
          </a:p>
        </p:txBody>
      </p:sp>
      <p:sp>
        <p:nvSpPr>
          <p:cNvPr id="13" name="loop_1_fill">
            <a:extLst xmlns:a="http://schemas.openxmlformats.org/drawingml/2006/main">
              <a:ext uri="{FF2B5EF4-FFF2-40B4-BE49-F238E27FC236}">
                <a16:creationId xmlns:a16="http://schemas.microsoft.com/office/drawing/2014/main" id="{946538D1-0CAB-4B0E-A833-B34DB54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4" name="loop_1_accent">
            <a:extLst xmlns:a="http://schemas.openxmlformats.org/drawingml/2006/main">
              <a:ext uri="{FF2B5EF4-FFF2-40B4-BE49-F238E27FC236}">
                <a16:creationId xmlns:a16="http://schemas.microsoft.com/office/drawing/2014/main" id="{09453AB5-7ED5-48CC-878C-DEF384E9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5" name="loop_1_title">
            <a:extLst xmlns:a="http://schemas.openxmlformats.org/drawingml/2006/main">
              <a:ext uri="{FF2B5EF4-FFF2-40B4-BE49-F238E27FC236}">
                <a16:creationId xmlns:a16="http://schemas.microsoft.com/office/drawing/2014/main" id="{2AA16068-6A9C-4AA9-BF84-F08D94F8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76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选择器候选</a:t>
            </a:r>
          </a:p>
        </p:txBody>
      </p:sp>
      <p:sp>
        <p:nvSpPr>
          <p:cNvPr id="16" name="loop_1_body">
            <a:extLst xmlns:a="http://schemas.openxmlformats.org/drawingml/2006/main">
              <a:ext uri="{FF2B5EF4-FFF2-40B4-BE49-F238E27FC236}">
                <a16:creationId xmlns:a16="http://schemas.microsoft.com/office/drawing/2014/main" id="{481DA647-60D1-4ECD-A4FA-03B7185B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coverage / temporal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blocked / shrinkage</a:t>
            </a:r>
          </a:p>
        </p:txBody>
      </p:sp>
      <p:sp>
        <p:nvSpPr>
          <p:cNvPr id="17" name="loop_2_fill">
            <a:extLst xmlns:a="http://schemas.openxmlformats.org/drawingml/2006/main">
              <a:ext uri="{FF2B5EF4-FFF2-40B4-BE49-F238E27FC236}">
                <a16:creationId xmlns:a16="http://schemas.microsoft.com/office/drawing/2014/main" id="{DB694BC3-F356-43D5-A047-58B8256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8" name="loop_2_accent">
            <a:extLst xmlns:a="http://schemas.openxmlformats.org/drawingml/2006/main">
              <a:ext uri="{FF2B5EF4-FFF2-40B4-BE49-F238E27FC236}">
                <a16:creationId xmlns:a16="http://schemas.microsoft.com/office/drawing/2014/main" id="{59D841EC-0E58-4C7E-908F-7857524D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9" name="loop_2_title">
            <a:extLst xmlns:a="http://schemas.openxmlformats.org/drawingml/2006/main">
              <a:ext uri="{FF2B5EF4-FFF2-40B4-BE49-F238E27FC236}">
                <a16:creationId xmlns:a16="http://schemas.microsoft.com/office/drawing/2014/main" id="{91496F68-E6FC-4D4B-941F-EA6BEECA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67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规则检查</a:t>
            </a:r>
          </a:p>
        </p:txBody>
      </p:sp>
      <p:sp>
        <p:nvSpPr>
          <p:cNvPr id="20" name="loop_2_body">
            <a:extLst xmlns:a="http://schemas.openxmlformats.org/drawingml/2006/main">
              <a:ext uri="{FF2B5EF4-FFF2-40B4-BE49-F238E27FC236}">
                <a16:creationId xmlns:a16="http://schemas.microsoft.com/office/drawing/2014/main" id="{D3C7E720-D74E-431C-A817-2B9E351D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911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样本支撑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兜底上限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来源上限</a:t>
            </a:r>
          </a:p>
        </p:txBody>
      </p:sp>
      <p:sp>
        <p:nvSpPr>
          <p:cNvPr id="21" name="loop_3_fill">
            <a:extLst xmlns:a="http://schemas.openxmlformats.org/drawingml/2006/main">
              <a:ext uri="{FF2B5EF4-FFF2-40B4-BE49-F238E27FC236}">
                <a16:creationId xmlns:a16="http://schemas.microsoft.com/office/drawing/2014/main" id="{99F9B220-B98E-443F-9FE4-C9BB8E7B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2" name="loop_3_accent">
            <a:extLst xmlns:a="http://schemas.openxmlformats.org/drawingml/2006/main">
              <a:ext uri="{FF2B5EF4-FFF2-40B4-BE49-F238E27FC236}">
                <a16:creationId xmlns:a16="http://schemas.microsoft.com/office/drawing/2014/main" id="{8C1BB4EB-ED44-4115-BECE-52FCCAF0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3" name="loop_3_title">
            <a:extLst xmlns:a="http://schemas.openxmlformats.org/drawingml/2006/main">
              <a:ext uri="{FF2B5EF4-FFF2-40B4-BE49-F238E27FC236}">
                <a16:creationId xmlns:a16="http://schemas.microsoft.com/office/drawing/2014/main" id="{AA63EB7E-03A3-4823-B7F9-A4ECF1F7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67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对照基线包</a:t>
            </a:r>
          </a:p>
        </p:txBody>
      </p:sp>
      <p:sp>
        <p:nvSpPr>
          <p:cNvPr id="24" name="loop_3_body">
            <a:extLst xmlns:a="http://schemas.openxmlformats.org/drawingml/2006/main">
              <a:ext uri="{FF2B5EF4-FFF2-40B4-BE49-F238E27FC236}">
                <a16:creationId xmlns:a16="http://schemas.microsoft.com/office/drawing/2014/main" id="{107D84C3-05AA-4F09-B878-A915F6C3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911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temporal / repo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random seeds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切片稳定性</a:t>
            </a:r>
          </a:p>
        </p:txBody>
      </p:sp>
      <p:sp>
        <p:nvSpPr>
          <p:cNvPr id="25" name="loop_link_0">
            <a:extLst xmlns:a="http://schemas.openxmlformats.org/drawingml/2006/main">
              <a:ext uri="{FF2B5EF4-FFF2-40B4-BE49-F238E27FC236}">
                <a16:creationId xmlns:a16="http://schemas.microsoft.com/office/drawing/2014/main" id="{8888C374-3123-47F0-8275-F3051208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6" name="loop_link_1">
            <a:extLst xmlns:a="http://schemas.openxmlformats.org/drawingml/2006/main">
              <a:ext uri="{FF2B5EF4-FFF2-40B4-BE49-F238E27FC236}">
                <a16:creationId xmlns:a16="http://schemas.microsoft.com/office/drawing/2014/main" id="{93D09E6F-27A7-41A9-B0AE-3492BEA6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7" name="loop_link_2">
            <a:extLst xmlns:a="http://schemas.openxmlformats.org/drawingml/2006/main">
              <a:ext uri="{FF2B5EF4-FFF2-40B4-BE49-F238E27FC236}">
                <a16:creationId xmlns:a16="http://schemas.microsoft.com/office/drawing/2014/main" id="{FC209F94-8856-4222-A059-9FB06B7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054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8" name="loop_link_3">
            <a:extLst xmlns:a="http://schemas.openxmlformats.org/drawingml/2006/main">
              <a:ext uri="{FF2B5EF4-FFF2-40B4-BE49-F238E27FC236}">
                <a16:creationId xmlns:a16="http://schemas.microsoft.com/office/drawing/2014/main" id="{B9B18A21-EB5A-4D91-8FB1-2F44C33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052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9" name="loop_label">
            <a:extLst xmlns:a="http://schemas.openxmlformats.org/drawingml/2006/main">
              <a:ext uri="{FF2B5EF4-FFF2-40B4-BE49-F238E27FC236}">
                <a16:creationId xmlns:a16="http://schemas.microsoft.com/office/drawing/2014/main" id="{DA99AD1B-4D65-43D9-8D62-5792B2DC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81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71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716B"/>
                </a:solidFill>
                <a:latin typeface="PingFang SC"/>
                <a:ea typeface="PingFang SC"/>
                <a:cs typeface="PingFang SC"/>
              </a:rPr>
              <a:t>任务选择器演进</a:t>
            </a:r>
          </a:p>
        </p:txBody>
      </p:sp>
      <p:sp>
        <p:nvSpPr>
          <p:cNvPr id="30" name="gate_0_fill">
            <a:extLst xmlns:a="http://schemas.openxmlformats.org/drawingml/2006/main">
              <a:ext uri="{FF2B5EF4-FFF2-40B4-BE49-F238E27FC236}">
                <a16:creationId xmlns:a16="http://schemas.microsoft.com/office/drawing/2014/main" id="{7942989A-AA8A-420B-A734-6B24F305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31" name="gate_0_rule">
            <a:extLst xmlns:a="http://schemas.openxmlformats.org/drawingml/2006/main">
              <a:ext uri="{FF2B5EF4-FFF2-40B4-BE49-F238E27FC236}">
                <a16:creationId xmlns:a16="http://schemas.microsoft.com/office/drawing/2014/main" id="{D7973958-AE1B-462D-8E24-D3A2E2BD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32" name="gate_0_title">
            <a:extLst xmlns:a="http://schemas.openxmlformats.org/drawingml/2006/main">
              <a:ext uri="{FF2B5EF4-FFF2-40B4-BE49-F238E27FC236}">
                <a16:creationId xmlns:a16="http://schemas.microsoft.com/office/drawing/2014/main" id="{A3D6B8C7-5FF2-47FB-8B6A-DC5C0836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冻结 release</a:t>
            </a:r>
          </a:p>
        </p:txBody>
      </p:sp>
      <p:sp>
        <p:nvSpPr>
          <p:cNvPr id="33" name="gate_0_body">
            <a:extLst xmlns:a="http://schemas.openxmlformats.org/drawingml/2006/main">
              <a:ext uri="{FF2B5EF4-FFF2-40B4-BE49-F238E27FC236}">
                <a16:creationId xmlns:a16="http://schemas.microsoft.com/office/drawing/2014/main" id="{B5190E6C-766D-4959-A3AC-AFC35960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task IDs / split / fallback</a:t>
            </a:r>
          </a:p>
        </p:txBody>
      </p:sp>
      <p:sp>
        <p:nvSpPr>
          <p:cNvPr id="34" name="gate_link_0">
            <a:extLst xmlns:a="http://schemas.openxmlformats.org/drawingml/2006/main">
              <a:ext uri="{FF2B5EF4-FFF2-40B4-BE49-F238E27FC236}">
                <a16:creationId xmlns:a16="http://schemas.microsoft.com/office/drawing/2014/main" id="{923B335E-4EF0-41B5-BE51-8C9867AB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5" name="gate_1_fill">
            <a:extLst xmlns:a="http://schemas.openxmlformats.org/drawingml/2006/main">
              <a:ext uri="{FF2B5EF4-FFF2-40B4-BE49-F238E27FC236}">
                <a16:creationId xmlns:a16="http://schemas.microsoft.com/office/drawing/2014/main" id="{77B88589-B546-46BF-AB4F-3E53B072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36" name="gate_1_rule">
            <a:extLst xmlns:a="http://schemas.openxmlformats.org/drawingml/2006/main">
              <a:ext uri="{FF2B5EF4-FFF2-40B4-BE49-F238E27FC236}">
                <a16:creationId xmlns:a16="http://schemas.microsoft.com/office/drawing/2014/main" id="{FA20F56E-F8BA-45CA-8CF0-A61FEA64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37" name="gate_1_title">
            <a:extLst xmlns:a="http://schemas.openxmlformats.org/drawingml/2006/main">
              <a:ext uri="{FF2B5EF4-FFF2-40B4-BE49-F238E27FC236}">
                <a16:creationId xmlns:a16="http://schemas.microsoft.com/office/drawing/2014/main" id="{64027901-9F21-445B-8C08-CF39A744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固定 ACUT 配置</a:t>
            </a:r>
          </a:p>
        </p:txBody>
      </p:sp>
      <p:sp>
        <p:nvSpPr>
          <p:cNvPr id="38" name="gate_1_body">
            <a:extLst xmlns:a="http://schemas.openxmlformats.org/drawingml/2006/main">
              <a:ext uri="{FF2B5EF4-FFF2-40B4-BE49-F238E27FC236}">
                <a16:creationId xmlns:a16="http://schemas.microsoft.com/office/drawing/2014/main" id="{2FF0F5F6-C7EE-44F8-BF23-E2943E0D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endpoint and adapter checks</a:t>
            </a:r>
          </a:p>
        </p:txBody>
      </p:sp>
      <p:sp>
        <p:nvSpPr>
          <p:cNvPr id="39" name="gate_link_1">
            <a:extLst xmlns:a="http://schemas.openxmlformats.org/drawingml/2006/main">
              <a:ext uri="{FF2B5EF4-FFF2-40B4-BE49-F238E27FC236}">
                <a16:creationId xmlns:a16="http://schemas.microsoft.com/office/drawing/2014/main" id="{0DDD3AAE-CCB5-4784-BA29-CE21849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0" name="gate_2_fill">
            <a:extLst xmlns:a="http://schemas.openxmlformats.org/drawingml/2006/main">
              <a:ext uri="{FF2B5EF4-FFF2-40B4-BE49-F238E27FC236}">
                <a16:creationId xmlns:a16="http://schemas.microsoft.com/office/drawing/2014/main" id="{BC574AD6-839C-4979-9E56-43EEC3EE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41" name="gate_2_rule">
            <a:extLst xmlns:a="http://schemas.openxmlformats.org/drawingml/2006/main">
              <a:ext uri="{FF2B5EF4-FFF2-40B4-BE49-F238E27FC236}">
                <a16:creationId xmlns:a16="http://schemas.microsoft.com/office/drawing/2014/main" id="{3251CC8A-5FFD-4879-8144-281CD34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42" name="gate_2_title">
            <a:extLst xmlns:a="http://schemas.openxmlformats.org/drawingml/2006/main">
              <a:ext uri="{FF2B5EF4-FFF2-40B4-BE49-F238E27FC236}">
                <a16:creationId xmlns:a16="http://schemas.microsoft.com/office/drawing/2014/main" id="{BCA09654-7D82-40EB-AB38-19767F25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冻结对照基线</a:t>
            </a:r>
          </a:p>
        </p:txBody>
      </p:sp>
      <p:sp>
        <p:nvSpPr>
          <p:cNvPr id="43" name="gate_2_body">
            <a:extLst xmlns:a="http://schemas.openxmlformats.org/drawingml/2006/main">
              <a:ext uri="{FF2B5EF4-FFF2-40B4-BE49-F238E27FC236}">
                <a16:creationId xmlns:a16="http://schemas.microsoft.com/office/drawing/2014/main" id="{72801543-E3AF-4744-8427-0F83B14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seeds / invalid handling</a:t>
            </a:r>
          </a:p>
        </p:txBody>
      </p:sp>
      <p:sp>
        <p:nvSpPr>
          <p:cNvPr id="44" name="gate_link_2">
            <a:extLst xmlns:a="http://schemas.openxmlformats.org/drawingml/2006/main">
              <a:ext uri="{FF2B5EF4-FFF2-40B4-BE49-F238E27FC236}">
                <a16:creationId xmlns:a16="http://schemas.microsoft.com/office/drawing/2014/main" id="{435E43FA-13CD-486C-A42B-36CAB7A9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45" name="gate_3_fill">
            <a:extLst xmlns:a="http://schemas.openxmlformats.org/drawingml/2006/main">
              <a:ext uri="{FF2B5EF4-FFF2-40B4-BE49-F238E27FC236}">
                <a16:creationId xmlns:a16="http://schemas.microsoft.com/office/drawing/2014/main" id="{B28C1651-80FF-4303-8FF2-04CD4908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46" name="gate_3_rule">
            <a:extLst xmlns:a="http://schemas.openxmlformats.org/drawingml/2006/main">
              <a:ext uri="{FF2B5EF4-FFF2-40B4-BE49-F238E27FC236}">
                <a16:creationId xmlns:a16="http://schemas.microsoft.com/office/drawing/2014/main" id="{B9EC7C5C-E955-45F6-848B-CC71D235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47" name="gate_3_title">
            <a:extLst xmlns:a="http://schemas.openxmlformats.org/drawingml/2006/main">
              <a:ext uri="{FF2B5EF4-FFF2-40B4-BE49-F238E27FC236}">
                <a16:creationId xmlns:a16="http://schemas.microsoft.com/office/drawing/2014/main" id="{A3AC0A0B-6610-485D-863E-24F28F8B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连接未来结果</a:t>
            </a:r>
          </a:p>
        </p:txBody>
      </p:sp>
      <p:sp>
        <p:nvSpPr>
          <p:cNvPr id="48" name="gate_3_body">
            <a:extLst xmlns:a="http://schemas.openxmlformats.org/drawingml/2006/main">
              <a:ext uri="{FF2B5EF4-FFF2-40B4-BE49-F238E27FC236}">
                <a16:creationId xmlns:a16="http://schemas.microsoft.com/office/drawing/2014/main" id="{57AE4632-6DD2-496D-AAFD-D1CF5156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434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outcome-unseen score join</a:t>
            </a:r>
          </a:p>
        </p:txBody>
      </p:sp>
      <p:sp>
        <p:nvSpPr>
          <p:cNvPr id="49" name="gate_link_3">
            <a:extLst xmlns:a="http://schemas.openxmlformats.org/drawingml/2006/main">
              <a:ext uri="{FF2B5EF4-FFF2-40B4-BE49-F238E27FC236}">
                <a16:creationId xmlns:a16="http://schemas.microsoft.com/office/drawing/2014/main" id="{0CE7803A-0BE3-4452-A77C-71645F92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50" name="gate_4_fill">
            <a:extLst xmlns:a="http://schemas.openxmlformats.org/drawingml/2006/main">
              <a:ext uri="{FF2B5EF4-FFF2-40B4-BE49-F238E27FC236}">
                <a16:creationId xmlns:a16="http://schemas.microsoft.com/office/drawing/2014/main" id="{D15AD880-1C53-4A4D-B23E-4624E58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51" name="gate_4_rule">
            <a:extLst xmlns:a="http://schemas.openxmlformats.org/drawingml/2006/main">
              <a:ext uri="{FF2B5EF4-FFF2-40B4-BE49-F238E27FC236}">
                <a16:creationId xmlns:a16="http://schemas.microsoft.com/office/drawing/2014/main" id="{F124E885-DEE5-4BC7-BE2F-EC657606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52" name="gate_4_title">
            <a:extLst xmlns:a="http://schemas.openxmlformats.org/drawingml/2006/main">
              <a:ext uri="{FF2B5EF4-FFF2-40B4-BE49-F238E27FC236}">
                <a16:creationId xmlns:a16="http://schemas.microsoft.com/office/drawing/2014/main" id="{16EEFECC-72FB-416E-AEB3-CD34FEDF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写明范围结论</a:t>
            </a:r>
          </a:p>
        </p:txBody>
      </p:sp>
      <p:sp>
        <p:nvSpPr>
          <p:cNvPr id="53" name="gate_4_body">
            <a:extLst xmlns:a="http://schemas.openxmlformats.org/drawingml/2006/main">
              <a:ext uri="{FF2B5EF4-FFF2-40B4-BE49-F238E27FC236}">
                <a16:creationId xmlns:a16="http://schemas.microsoft.com/office/drawing/2014/main" id="{223029C0-4203-4580-8576-07ECE0B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67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86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margin / support / invalid cells</a:t>
            </a:r>
          </a:p>
        </p:txBody>
      </p:sp>
      <p:sp>
        <p:nvSpPr>
          <p:cNvPr id="54" name="route_note">
            <a:extLst xmlns:a="http://schemas.openxmlformats.org/drawingml/2006/main">
              <a:ext uri="{FF2B5EF4-FFF2-40B4-BE49-F238E27FC236}">
                <a16:creationId xmlns:a16="http://schemas.microsoft.com/office/drawing/2014/main" id="{A4743038-177D-40F6-834D-41F1CA44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81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true future holdout 是最强路线；preregistered rolling origin 需要 cutoffs、seeds、selection rule、baselines、invalid handling 和 success criteria 在 outcome 前固定。</a:t>
            </a:r>
          </a:p>
        </p:txBody>
      </p:sp>
    </p:spTree>
    <p:extLst>
      <p:ext uri="{BB962C8B-B14F-4D97-AF65-F5344CB8AC3E}">
        <p14:creationId xmlns:p14="http://schemas.microsoft.com/office/powerpoint/2010/main" val="11289410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3E3E7AB-C8C1-4886-97B0-8430459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890FBC87-1532-446C-9788-D777D61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E5D8E3EA-B1C0-40B9-A67F-964C6433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D12C4196-A50D-4C7F-8D44-7EF9CBCD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</a:t>
            </a:r>
          </a:p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治理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A05E69BE-A9EE-4912-88AE-3F63ED9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Agent License 可以使用仓库级证据状态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D2D9BC1-7031-4637-AF9D-E8307DB2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部署治理需要 evidence scope、risk status 和 uncertainty。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E6401970-0377-4761-A743-19DCBDF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license_copy">
            <a:extLst xmlns:a="http://schemas.openxmlformats.org/drawingml/2006/main">
              <a:ext uri="{FF2B5EF4-FFF2-40B4-BE49-F238E27FC236}">
                <a16:creationId xmlns:a16="http://schemas.microsoft.com/office/drawing/2014/main" id="{6B036821-3D9B-40A7-BBE6-DAA70147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evidence layer 连接目标仓库、任务类别、风险等级、ACUT 配置、source 质量、成本、延迟和使用范围决定，帮助团队判断某个使用范围的证据是否足够。</a:t>
            </a:r>
          </a:p>
        </p:txBody>
      </p:sp>
      <p:sp>
        <p:nvSpPr>
          <p:cNvPr id="9" name="license_step_0_fill">
            <a:extLst xmlns:a="http://schemas.openxmlformats.org/drawingml/2006/main">
              <a:ext uri="{FF2B5EF4-FFF2-40B4-BE49-F238E27FC236}">
                <a16:creationId xmlns:a16="http://schemas.microsoft.com/office/drawing/2014/main" id="{78463C1A-47C9-4287-8C0E-446C5B9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1657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0" name="license_step_0_accent">
            <a:extLst xmlns:a="http://schemas.openxmlformats.org/drawingml/2006/main">
              <a:ext uri="{FF2B5EF4-FFF2-40B4-BE49-F238E27FC236}">
                <a16:creationId xmlns:a16="http://schemas.microsoft.com/office/drawing/2014/main" id="{5017DF32-6F3C-4A76-9FF9-8703E2D8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1" name="license_step_0_title">
            <a:extLst xmlns:a="http://schemas.openxmlformats.org/drawingml/2006/main">
              <a:ext uri="{FF2B5EF4-FFF2-40B4-BE49-F238E27FC236}">
                <a16:creationId xmlns:a16="http://schemas.microsoft.com/office/drawing/2014/main" id="{6A960289-0DA6-4BF6-AD2B-B44556F1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任务类别</a:t>
            </a:r>
          </a:p>
        </p:txBody>
      </p:sp>
      <p:sp>
        <p:nvSpPr>
          <p:cNvPr id="12" name="license_step_0_body">
            <a:extLst xmlns:a="http://schemas.openxmlformats.org/drawingml/2006/main">
              <a:ext uri="{FF2B5EF4-FFF2-40B4-BE49-F238E27FC236}">
                <a16:creationId xmlns:a16="http://schemas.microsoft.com/office/drawing/2014/main" id="{F041F817-2C98-4733-87CE-A3D1B00F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source 质量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样本支撑</a:t>
            </a:r>
          </a:p>
        </p:txBody>
      </p:sp>
      <p:sp>
        <p:nvSpPr>
          <p:cNvPr id="13" name="license_link_0">
            <a:extLst xmlns:a="http://schemas.openxmlformats.org/drawingml/2006/main">
              <a:ext uri="{FF2B5EF4-FFF2-40B4-BE49-F238E27FC236}">
                <a16:creationId xmlns:a16="http://schemas.microsoft.com/office/drawing/2014/main" id="{5D6B2BCD-7BAF-4825-9320-FC327D43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license_step_1_fill">
            <a:extLst xmlns:a="http://schemas.openxmlformats.org/drawingml/2006/main">
              <a:ext uri="{FF2B5EF4-FFF2-40B4-BE49-F238E27FC236}">
                <a16:creationId xmlns:a16="http://schemas.microsoft.com/office/drawing/2014/main" id="{AD19D380-336C-4EE9-A6CC-E9107FB1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1657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15" name="license_step_1_accent">
            <a:extLst xmlns:a="http://schemas.openxmlformats.org/drawingml/2006/main">
              <a:ext uri="{FF2B5EF4-FFF2-40B4-BE49-F238E27FC236}">
                <a16:creationId xmlns:a16="http://schemas.microsoft.com/office/drawing/2014/main" id="{3256B5D7-DC67-43D0-91E0-78E23791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16" name="license_step_1_title">
            <a:extLst xmlns:a="http://schemas.openxmlformats.org/drawingml/2006/main">
              <a:ext uri="{FF2B5EF4-FFF2-40B4-BE49-F238E27FC236}">
                <a16:creationId xmlns:a16="http://schemas.microsoft.com/office/drawing/2014/main" id="{CB8B63A0-A804-40FA-BE97-B1EC43BC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risk tier</a:t>
            </a:r>
          </a:p>
        </p:txBody>
      </p:sp>
      <p:sp>
        <p:nvSpPr>
          <p:cNvPr id="17" name="license_step_1_body">
            <a:extLst xmlns:a="http://schemas.openxmlformats.org/drawingml/2006/main">
              <a:ext uri="{FF2B5EF4-FFF2-40B4-BE49-F238E27FC236}">
                <a16:creationId xmlns:a16="http://schemas.microsoft.com/office/drawing/2014/main" id="{36CBD54A-E8CD-497F-B41C-5ED5C6F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5755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不确定性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failure taxonomy</a:t>
            </a:r>
          </a:p>
        </p:txBody>
      </p:sp>
      <p:sp>
        <p:nvSpPr>
          <p:cNvPr id="18" name="license_link_1">
            <a:extLst xmlns:a="http://schemas.openxmlformats.org/drawingml/2006/main">
              <a:ext uri="{FF2B5EF4-FFF2-40B4-BE49-F238E27FC236}">
                <a16:creationId xmlns:a16="http://schemas.microsoft.com/office/drawing/2014/main" id="{6AB92880-9632-495E-8B4F-C53871B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9" name="license_step_2_fill">
            <a:extLst xmlns:a="http://schemas.openxmlformats.org/drawingml/2006/main">
              <a:ext uri="{FF2B5EF4-FFF2-40B4-BE49-F238E27FC236}">
                <a16:creationId xmlns:a16="http://schemas.microsoft.com/office/drawing/2014/main" id="{38A1A8DD-903A-44CB-A277-98785DEA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1657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20" name="license_step_2_accent">
            <a:extLst xmlns:a="http://schemas.openxmlformats.org/drawingml/2006/main">
              <a:ext uri="{FF2B5EF4-FFF2-40B4-BE49-F238E27FC236}">
                <a16:creationId xmlns:a16="http://schemas.microsoft.com/office/drawing/2014/main" id="{53557895-62D1-4C71-9330-4144DA31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21" name="license_step_2_title">
            <a:extLst xmlns:a="http://schemas.openxmlformats.org/drawingml/2006/main">
              <a:ext uri="{FF2B5EF4-FFF2-40B4-BE49-F238E27FC236}">
                <a16:creationId xmlns:a16="http://schemas.microsoft.com/office/drawing/2014/main" id="{44EEC5FE-844A-4E17-9CE6-5AFB9E98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ACUT 结果卡</a:t>
            </a:r>
          </a:p>
        </p:txBody>
      </p:sp>
      <p:sp>
        <p:nvSpPr>
          <p:cNvPr id="22" name="license_step_2_body">
            <a:extLst xmlns:a="http://schemas.openxmlformats.org/drawingml/2006/main">
              <a:ext uri="{FF2B5EF4-FFF2-40B4-BE49-F238E27FC236}">
                <a16:creationId xmlns:a16="http://schemas.microsoft.com/office/drawing/2014/main" id="{7BD771D8-D4A6-4456-8822-0B64D465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5755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adapter-stratified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cost / latency</a:t>
            </a:r>
          </a:p>
        </p:txBody>
      </p:sp>
      <p:sp>
        <p:nvSpPr>
          <p:cNvPr id="23" name="license_link_2">
            <a:extLst xmlns:a="http://schemas.openxmlformats.org/drawingml/2006/main">
              <a:ext uri="{FF2B5EF4-FFF2-40B4-BE49-F238E27FC236}">
                <a16:creationId xmlns:a16="http://schemas.microsoft.com/office/drawing/2014/main" id="{0265205F-0A9C-4BB2-9A78-CE43A46F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4" name="license_step_3_fill">
            <a:extLst xmlns:a="http://schemas.openxmlformats.org/drawingml/2006/main">
              <a:ext uri="{FF2B5EF4-FFF2-40B4-BE49-F238E27FC236}">
                <a16:creationId xmlns:a16="http://schemas.microsoft.com/office/drawing/2014/main" id="{203EFE09-BF25-42FC-A660-6F120BE4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657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5" name="license_step_3_accent">
            <a:extLst xmlns:a="http://schemas.openxmlformats.org/drawingml/2006/main">
              <a:ext uri="{FF2B5EF4-FFF2-40B4-BE49-F238E27FC236}">
                <a16:creationId xmlns:a16="http://schemas.microsoft.com/office/drawing/2014/main" id="{72C9ACD1-514A-4765-AA85-D35F056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6" name="license_step_3_title">
            <a:extLst xmlns:a="http://schemas.openxmlformats.org/drawingml/2006/main">
              <a:ext uri="{FF2B5EF4-FFF2-40B4-BE49-F238E27FC236}">
                <a16:creationId xmlns:a16="http://schemas.microsoft.com/office/drawing/2014/main" id="{8211A0FC-8E71-4C10-BCBD-69C87F65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evidence status</a:t>
            </a:r>
          </a:p>
        </p:txBody>
      </p:sp>
      <p:sp>
        <p:nvSpPr>
          <p:cNvPr id="27" name="license_step_3_body">
            <a:extLst xmlns:a="http://schemas.openxmlformats.org/drawingml/2006/main">
              <a:ext uri="{FF2B5EF4-FFF2-40B4-BE49-F238E27FC236}">
                <a16:creationId xmlns:a16="http://schemas.microsoft.com/office/drawing/2014/main" id="{A8C736C0-03CF-43DE-961D-85539AF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limits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confidence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uncertainty note</a:t>
            </a:r>
          </a:p>
        </p:txBody>
      </p:sp>
      <p:sp>
        <p:nvSpPr>
          <p:cNvPr id="28" name="license_link_3">
            <a:extLst xmlns:a="http://schemas.openxmlformats.org/drawingml/2006/main">
              <a:ext uri="{FF2B5EF4-FFF2-40B4-BE49-F238E27FC236}">
                <a16:creationId xmlns:a16="http://schemas.microsoft.com/office/drawing/2014/main" id="{AFF51FF0-0F9E-4ED4-A0A0-5A0A5C9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90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9" name="license_step_4_fill">
            <a:extLst xmlns:a="http://schemas.openxmlformats.org/drawingml/2006/main">
              <a:ext uri="{FF2B5EF4-FFF2-40B4-BE49-F238E27FC236}">
                <a16:creationId xmlns:a16="http://schemas.microsoft.com/office/drawing/2014/main" id="{16FC1883-FBE0-481F-ACFD-43432054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657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30" name="license_step_4_accent">
            <a:extLst xmlns:a="http://schemas.openxmlformats.org/drawingml/2006/main">
              <a:ext uri="{FF2B5EF4-FFF2-40B4-BE49-F238E27FC236}">
                <a16:creationId xmlns:a16="http://schemas.microsoft.com/office/drawing/2014/main" id="{31F5E6D9-80BF-42EE-85E5-E23F7FF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31" name="license_step_4_title">
            <a:extLst xmlns:a="http://schemas.openxmlformats.org/drawingml/2006/main">
              <a:ext uri="{FF2B5EF4-FFF2-40B4-BE49-F238E27FC236}">
                <a16:creationId xmlns:a16="http://schemas.microsoft.com/office/drawing/2014/main" id="{E9948A4B-1FB8-4D01-ACDE-2C2A5EA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使用决定</a:t>
            </a:r>
          </a:p>
        </p:txBody>
      </p:sp>
      <p:sp>
        <p:nvSpPr>
          <p:cNvPr id="32" name="license_step_4_body">
            <a:extLst xmlns:a="http://schemas.openxmlformats.org/drawingml/2006/main">
              <a:ext uri="{FF2B5EF4-FFF2-40B4-BE49-F238E27FC236}">
                <a16:creationId xmlns:a16="http://schemas.microsoft.com/office/drawing/2014/main" id="{464B57B6-C93C-498E-AB36-A4759322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approved scope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monitoring note</a:t>
            </a:r>
          </a:p>
        </p:txBody>
      </p:sp>
      <p:sp>
        <p:nvSpPr>
          <p:cNvPr id="33" name="license_support_note">
            <a:extLst xmlns:a="http://schemas.openxmlformats.org/drawingml/2006/main">
              <a:ext uri="{FF2B5EF4-FFF2-40B4-BE49-F238E27FC236}">
                <a16:creationId xmlns:a16="http://schemas.microsoft.com/office/drawing/2014/main" id="{D86A0B4C-C8AA-4F3E-9625-89F43FC4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34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9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9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输出包括证据状态、范围限制、source-quality note、adapter note、cost/latency note 和 uncertainty note。</a:t>
            </a:r>
          </a:p>
        </p:txBody>
      </p:sp>
    </p:spTree>
    <p:extLst>
      <p:ext uri="{BB962C8B-B14F-4D97-AF65-F5344CB8AC3E}">
        <p14:creationId xmlns:p14="http://schemas.microsoft.com/office/powerpoint/2010/main" val="8893368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C92AC5B-9B5C-4416-A003-687700D4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</p:spPr>
      </p:sp>
      <p:sp>
        <p:nvSpPr>
          <p:cNvPr id="2" name="title_rail">
            <a:extLst xmlns:a="http://schemas.openxmlformats.org/drawingml/2006/main">
              <a:ext uri="{FF2B5EF4-FFF2-40B4-BE49-F238E27FC236}">
                <a16:creationId xmlns:a16="http://schemas.microsoft.com/office/drawing/2014/main" id="{3E2502B7-991F-4DFB-BDF0-6B10B920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385DDBC-9523-44B8-A39C-EAA23CD1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8E7E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title_label">
            <a:extLst xmlns:a="http://schemas.openxmlformats.org/drawingml/2006/main">
              <a:ext uri="{FF2B5EF4-FFF2-40B4-BE49-F238E27FC236}">
                <a16:creationId xmlns:a16="http://schemas.microsoft.com/office/drawing/2014/main" id="{33A6E1E6-0F3D-46E9-BAD2-CD8F37FA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0100"/>
            <a:ext cx="57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调优</a:t>
            </a:r>
          </a:p>
          <a:p xmlns:a="http://schemas.openxmlformats.org/drawingml/2006/main">
            <a:pPr algn="ctr">
              <a:def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回路</a:t>
            </a:r>
          </a:p>
        </p:txBody>
      </p:sp>
      <p:sp>
        <p:nvSpPr>
          <p:cNvPr id="5" name="main_title">
            <a:extLst xmlns:a="http://schemas.openxmlformats.org/drawingml/2006/main">
              <a:ext uri="{FF2B5EF4-FFF2-40B4-BE49-F238E27FC236}">
                <a16:creationId xmlns:a16="http://schemas.microsoft.com/office/drawing/2014/main" id="{BCAA8356-F8D9-4F1B-AB36-258D8453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2325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Agent Tuning 需要受保护的 dev / eval / canary 回路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3C68AF8-E57D-4451-ACAE-4E84B20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33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反馈可以帮助比较配置，同时保护正式验证材料。</a:t>
            </a:r>
          </a:p>
        </p:txBody>
      </p:sp>
      <p:sp>
        <p:nvSpPr>
          <p:cNvPr id="7" name="header_rule">
            <a:extLst xmlns:a="http://schemas.openxmlformats.org/drawingml/2006/main">
              <a:ext uri="{FF2B5EF4-FFF2-40B4-BE49-F238E27FC236}">
                <a16:creationId xmlns:a16="http://schemas.microsoft.com/office/drawing/2014/main" id="{AD102F61-0949-47EA-85F6-38647D65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967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8" name="tuning_copy">
            <a:extLst xmlns:a="http://schemas.openxmlformats.org/drawingml/2006/main">
              <a:ext uri="{FF2B5EF4-FFF2-40B4-BE49-F238E27FC236}">
                <a16:creationId xmlns:a16="http://schemas.microsoft.com/office/drawing/2014/main" id="{7DAFB4B3-E0CD-4DC8-AA83-34D3EADF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163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Barcarolle 可提供 dev feedback、eval release、canary release、failure taxonomy、结果卡、回归信号、成本和延迟摘要，帮助比较 prompt、retrieval、skills、tool policy、model 和 runtime budget。</a:t>
            </a:r>
          </a:p>
        </p:txBody>
      </p:sp>
      <p:sp>
        <p:nvSpPr>
          <p:cNvPr id="9" name="tuning_step_0_fill">
            <a:extLst xmlns:a="http://schemas.openxmlformats.org/drawingml/2006/main">
              <a:ext uri="{FF2B5EF4-FFF2-40B4-BE49-F238E27FC236}">
                <a16:creationId xmlns:a16="http://schemas.microsoft.com/office/drawing/2014/main" id="{DAF7130F-0946-4CFC-A2DB-263CDE71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8"/>
          </a:solidFill>
        </p:spPr>
      </p:sp>
      <p:sp>
        <p:nvSpPr>
          <p:cNvPr id="10" name="tuning_step_0_accent">
            <a:extLst xmlns:a="http://schemas.openxmlformats.org/drawingml/2006/main">
              <a:ext uri="{FF2B5EF4-FFF2-40B4-BE49-F238E27FC236}">
                <a16:creationId xmlns:a16="http://schemas.microsoft.com/office/drawing/2014/main" id="{FCEBF38F-098A-4392-99C9-61465FB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</p:spPr>
      </p:sp>
      <p:sp>
        <p:nvSpPr>
          <p:cNvPr id="11" name="tuning_step_0_title">
            <a:extLst xmlns:a="http://schemas.openxmlformats.org/drawingml/2006/main">
              <a:ext uri="{FF2B5EF4-FFF2-40B4-BE49-F238E27FC236}">
                <a16:creationId xmlns:a16="http://schemas.microsoft.com/office/drawing/2014/main" id="{9DC8E794-1DEE-49DE-8ECD-BA3D48E7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71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配置变更</a:t>
            </a:r>
          </a:p>
        </p:txBody>
      </p:sp>
      <p:sp>
        <p:nvSpPr>
          <p:cNvPr id="12" name="tuning_step_0_body">
            <a:extLst xmlns:a="http://schemas.openxmlformats.org/drawingml/2006/main">
              <a:ext uri="{FF2B5EF4-FFF2-40B4-BE49-F238E27FC236}">
                <a16:creationId xmlns:a16="http://schemas.microsoft.com/office/drawing/2014/main" id="{65F60FA6-715D-4253-979F-7332299A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prompt / retrieval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skills / tools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model / budget</a:t>
            </a:r>
          </a:p>
        </p:txBody>
      </p:sp>
      <p:sp>
        <p:nvSpPr>
          <p:cNvPr id="13" name="tuning_link_0">
            <a:extLst xmlns:a="http://schemas.openxmlformats.org/drawingml/2006/main">
              <a:ext uri="{FF2B5EF4-FFF2-40B4-BE49-F238E27FC236}">
                <a16:creationId xmlns:a16="http://schemas.microsoft.com/office/drawing/2014/main" id="{A307E7A5-3F8C-45D5-BD99-B898D349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14" name="tuning_arrow_0">
            <a:extLst xmlns:a="http://schemas.openxmlformats.org/drawingml/2006/main">
              <a:ext uri="{FF2B5EF4-FFF2-40B4-BE49-F238E27FC236}">
                <a16:creationId xmlns:a16="http://schemas.microsoft.com/office/drawing/2014/main" id="{82CD4266-8C43-42F3-BF32-9771014F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909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tuning_step_1_fill">
            <a:extLst xmlns:a="http://schemas.openxmlformats.org/drawingml/2006/main">
              <a:ext uri="{FF2B5EF4-FFF2-40B4-BE49-F238E27FC236}">
                <a16:creationId xmlns:a16="http://schemas.microsoft.com/office/drawing/2014/main" id="{8303AA9D-3ABE-46E9-AEB0-18C38AD4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5"/>
          </a:solidFill>
        </p:spPr>
      </p:sp>
      <p:sp>
        <p:nvSpPr>
          <p:cNvPr id="16" name="tuning_step_1_accent">
            <a:extLst xmlns:a="http://schemas.openxmlformats.org/drawingml/2006/main">
              <a:ext uri="{FF2B5EF4-FFF2-40B4-BE49-F238E27FC236}">
                <a16:creationId xmlns:a16="http://schemas.microsoft.com/office/drawing/2014/main" id="{D017849D-E8DE-4FDB-8AC7-CE1DE21C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</p:spPr>
      </p:sp>
      <p:sp>
        <p:nvSpPr>
          <p:cNvPr id="17" name="tuning_step_1_title">
            <a:extLst xmlns:a="http://schemas.openxmlformats.org/drawingml/2006/main">
              <a:ext uri="{FF2B5EF4-FFF2-40B4-BE49-F238E27FC236}">
                <a16:creationId xmlns:a16="http://schemas.microsoft.com/office/drawing/2014/main" id="{A17577A2-6629-41F1-A0EF-FBABC1EA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dev feedback</a:t>
            </a:r>
          </a:p>
        </p:txBody>
      </p:sp>
      <p:sp>
        <p:nvSpPr>
          <p:cNvPr id="18" name="tuning_step_1_body">
            <a:extLst xmlns:a="http://schemas.openxmlformats.org/drawingml/2006/main">
              <a:ext uri="{FF2B5EF4-FFF2-40B4-BE49-F238E27FC236}">
                <a16:creationId xmlns:a16="http://schemas.microsoft.com/office/drawing/2014/main" id="{6A422A17-F385-4A5E-BCA9-A8CDF546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9565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开发反馈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failure taxonomy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configuration comparison</a:t>
            </a:r>
          </a:p>
        </p:txBody>
      </p:sp>
      <p:sp>
        <p:nvSpPr>
          <p:cNvPr id="19" name="tuning_link_1">
            <a:extLst xmlns:a="http://schemas.openxmlformats.org/drawingml/2006/main">
              <a:ext uri="{FF2B5EF4-FFF2-40B4-BE49-F238E27FC236}">
                <a16:creationId xmlns:a16="http://schemas.microsoft.com/office/drawing/2014/main" id="{9A72FDA0-D1F0-4691-AD1B-14788DEC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623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0" name="tuning_arrow_1">
            <a:extLst xmlns:a="http://schemas.openxmlformats.org/drawingml/2006/main">
              <a:ext uri="{FF2B5EF4-FFF2-40B4-BE49-F238E27FC236}">
                <a16:creationId xmlns:a16="http://schemas.microsoft.com/office/drawing/2014/main" id="{30CF6150-B38A-444C-81CB-1F7A4613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909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tuning_step_2_fill">
            <a:extLst xmlns:a="http://schemas.openxmlformats.org/drawingml/2006/main">
              <a:ext uri="{FF2B5EF4-FFF2-40B4-BE49-F238E27FC236}">
                <a16:creationId xmlns:a16="http://schemas.microsoft.com/office/drawing/2014/main" id="{4C41EB23-F86E-448F-8094-F842F63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4"/>
          </a:solidFill>
        </p:spPr>
      </p:sp>
      <p:sp>
        <p:nvSpPr>
          <p:cNvPr id="22" name="tuning_step_2_accent">
            <a:extLst xmlns:a="http://schemas.openxmlformats.org/drawingml/2006/main">
              <a:ext uri="{FF2B5EF4-FFF2-40B4-BE49-F238E27FC236}">
                <a16:creationId xmlns:a16="http://schemas.microsoft.com/office/drawing/2014/main" id="{B189A1B1-64EF-413B-A5E2-D506AD3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2D"/>
          </a:solidFill>
        </p:spPr>
      </p:sp>
      <p:sp>
        <p:nvSpPr>
          <p:cNvPr id="23" name="tuning_step_2_title">
            <a:extLst xmlns:a="http://schemas.openxmlformats.org/drawingml/2006/main">
              <a:ext uri="{FF2B5EF4-FFF2-40B4-BE49-F238E27FC236}">
                <a16:creationId xmlns:a16="http://schemas.microsoft.com/office/drawing/2014/main" id="{B6E45D23-28D1-4683-80FB-740AC55F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71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eval release</a:t>
            </a:r>
          </a:p>
        </p:txBody>
      </p:sp>
      <p:sp>
        <p:nvSpPr>
          <p:cNvPr id="24" name="tuning_step_2_body">
            <a:extLst xmlns:a="http://schemas.openxmlformats.org/drawingml/2006/main">
              <a:ext uri="{FF2B5EF4-FFF2-40B4-BE49-F238E27FC236}">
                <a16:creationId xmlns:a16="http://schemas.microsoft.com/office/drawing/2014/main" id="{497EDF7E-FBF4-4D9A-8389-34E6598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9565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评测 release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fixed rules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score accounting</a:t>
            </a:r>
          </a:p>
        </p:txBody>
      </p:sp>
      <p:sp>
        <p:nvSpPr>
          <p:cNvPr id="25" name="tuning_link_2">
            <a:extLst xmlns:a="http://schemas.openxmlformats.org/drawingml/2006/main">
              <a:ext uri="{FF2B5EF4-FFF2-40B4-BE49-F238E27FC236}">
                <a16:creationId xmlns:a16="http://schemas.microsoft.com/office/drawing/2014/main" id="{17B5A1BB-2C77-4A51-A61E-112223B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26" name="tuning_arrow_2">
            <a:extLst xmlns:a="http://schemas.openxmlformats.org/drawingml/2006/main">
              <a:ext uri="{FF2B5EF4-FFF2-40B4-BE49-F238E27FC236}">
                <a16:creationId xmlns:a16="http://schemas.microsoft.com/office/drawing/2014/main" id="{F419F3B6-FBDD-43F0-AEC2-16CF1862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909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uning_step_3_fill">
            <a:extLst xmlns:a="http://schemas.openxmlformats.org/drawingml/2006/main">
              <a:ext uri="{FF2B5EF4-FFF2-40B4-BE49-F238E27FC236}">
                <a16:creationId xmlns:a16="http://schemas.microsoft.com/office/drawing/2014/main" id="{262F8B06-877B-4804-8430-825F0191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</p:spPr>
      </p:sp>
      <p:sp>
        <p:nvSpPr>
          <p:cNvPr id="28" name="tuning_step_3_accent">
            <a:extLst xmlns:a="http://schemas.openxmlformats.org/drawingml/2006/main">
              <a:ext uri="{FF2B5EF4-FFF2-40B4-BE49-F238E27FC236}">
                <a16:creationId xmlns:a16="http://schemas.microsoft.com/office/drawing/2014/main" id="{55536994-810E-4A0E-8BBE-2B6A2E5A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EA8"/>
          </a:solidFill>
        </p:spPr>
      </p:sp>
      <p:sp>
        <p:nvSpPr>
          <p:cNvPr id="29" name="tuning_step_3_title">
            <a:extLst xmlns:a="http://schemas.openxmlformats.org/drawingml/2006/main">
              <a:ext uri="{FF2B5EF4-FFF2-40B4-BE49-F238E27FC236}">
                <a16:creationId xmlns:a16="http://schemas.microsoft.com/office/drawing/2014/main" id="{91DF0DF8-7B99-4272-BC2D-DBB506FF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canary release</a:t>
            </a:r>
          </a:p>
        </p:txBody>
      </p:sp>
      <p:sp>
        <p:nvSpPr>
          <p:cNvPr id="30" name="tuning_step_3_body">
            <a:extLst xmlns:a="http://schemas.openxmlformats.org/drawingml/2006/main">
              <a:ext uri="{FF2B5EF4-FFF2-40B4-BE49-F238E27FC236}">
                <a16:creationId xmlns:a16="http://schemas.microsoft.com/office/drawing/2014/main" id="{CA2C4C17-8E34-4614-87F0-4431224A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金丝雀 release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cost / latency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slice stability</a:t>
            </a:r>
          </a:p>
        </p:txBody>
      </p:sp>
      <p:sp>
        <p:nvSpPr>
          <p:cNvPr id="31" name="tuning_link_3">
            <a:extLst xmlns:a="http://schemas.openxmlformats.org/drawingml/2006/main">
              <a:ext uri="{FF2B5EF4-FFF2-40B4-BE49-F238E27FC236}">
                <a16:creationId xmlns:a16="http://schemas.microsoft.com/office/drawing/2014/main" id="{1C721E8E-AFC6-47D4-80D1-0FD51FAB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623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D1"/>
          </a:solidFill>
        </p:spPr>
      </p:sp>
      <p:sp>
        <p:nvSpPr>
          <p:cNvPr id="32" name="tuning_arrow_3">
            <a:extLst xmlns:a="http://schemas.openxmlformats.org/drawingml/2006/main">
              <a:ext uri="{FF2B5EF4-FFF2-40B4-BE49-F238E27FC236}">
                <a16:creationId xmlns:a16="http://schemas.microsoft.com/office/drawing/2014/main" id="{E6FD4943-B044-4857-88E1-32473AB0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3" name="tuning_step_4_fill">
            <a:extLst xmlns:a="http://schemas.openxmlformats.org/drawingml/2006/main">
              <a:ext uri="{FF2B5EF4-FFF2-40B4-BE49-F238E27FC236}">
                <a16:creationId xmlns:a16="http://schemas.microsoft.com/office/drawing/2014/main" id="{2D0D1B75-E1B6-4B8A-A5BF-DB2BB840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</p:spPr>
      </p:sp>
      <p:sp>
        <p:nvSpPr>
          <p:cNvPr id="34" name="tuning_step_4_accent">
            <a:extLst xmlns:a="http://schemas.openxmlformats.org/drawingml/2006/main">
              <a:ext uri="{FF2B5EF4-FFF2-40B4-BE49-F238E27FC236}">
                <a16:creationId xmlns:a16="http://schemas.microsoft.com/office/drawing/2014/main" id="{2C4DD4DB-EB45-4711-A4A1-28B7B20B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16B"/>
          </a:solidFill>
        </p:spPr>
      </p:sp>
      <p:sp>
        <p:nvSpPr>
          <p:cNvPr id="35" name="tuning_step_4_title">
            <a:extLst xmlns:a="http://schemas.openxmlformats.org/drawingml/2006/main">
              <a:ext uri="{FF2B5EF4-FFF2-40B4-BE49-F238E27FC236}">
                <a16:creationId xmlns:a16="http://schemas.microsoft.com/office/drawing/2014/main" id="{CECEC3D8-2524-4049-A546-BEDC8B6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71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回归信号</a:t>
            </a:r>
          </a:p>
        </p:txBody>
      </p:sp>
      <p:sp>
        <p:nvSpPr>
          <p:cNvPr id="36" name="tuning_step_4_body">
            <a:extLst xmlns:a="http://schemas.openxmlformats.org/drawingml/2006/main">
              <a:ext uri="{FF2B5EF4-FFF2-40B4-BE49-F238E27FC236}">
                <a16:creationId xmlns:a16="http://schemas.microsoft.com/office/drawing/2014/main" id="{05F884C6-8DF3-4F5A-8012-DFE22BA0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9565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regression signal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配置比较</a:t>
            </a:r>
          </a:p>
          <a:p xmlns:a="http://schemas.openxmlformats.org/drawingml/2006/main">
            <a:pPr algn="l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监控触发</a:t>
            </a:r>
          </a:p>
        </p:txBody>
      </p:sp>
      <p:sp>
        <p:nvSpPr>
          <p:cNvPr id="37" name="future_validation_layer">
            <a:extLst xmlns:a="http://schemas.openxmlformats.org/drawingml/2006/main">
              <a:ext uri="{FF2B5EF4-FFF2-40B4-BE49-F238E27FC236}">
                <a16:creationId xmlns:a16="http://schemas.microsoft.com/office/drawing/2014/main" id="{6CB43872-2738-44DE-8BBF-185CECC3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33950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3"/>
          </a:solidFill>
        </p:spPr>
      </p:sp>
      <p:sp>
        <p:nvSpPr>
          <p:cNvPr id="38" name="future_validation_rule">
            <a:extLst xmlns:a="http://schemas.openxmlformats.org/drawingml/2006/main">
              <a:ext uri="{FF2B5EF4-FFF2-40B4-BE49-F238E27FC236}">
                <a16:creationId xmlns:a16="http://schemas.microsoft.com/office/drawing/2014/main" id="{40135CF1-285A-4181-B6F7-D17E5F86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339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42"/>
          </a:solidFill>
        </p:spPr>
      </p:sp>
      <p:sp>
        <p:nvSpPr>
          <p:cNvPr id="39" name="future_validation_title">
            <a:extLst xmlns:a="http://schemas.openxmlformats.org/drawingml/2006/main">
              <a:ext uri="{FF2B5EF4-FFF2-40B4-BE49-F238E27FC236}">
                <a16:creationId xmlns:a16="http://schemas.microsoft.com/office/drawing/2014/main" id="{CF5B4B6C-67BF-4B5E-9981-030C9872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1F2A2E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F2A2E"/>
                </a:solidFill>
                <a:latin typeface="PingFang SC"/>
                <a:ea typeface="PingFang SC"/>
                <a:cs typeface="PingFang SC"/>
              </a:rPr>
              <a:t>未来验证材料隔离保留</a:t>
            </a:r>
          </a:p>
        </p:txBody>
      </p:sp>
      <p:sp>
        <p:nvSpPr>
          <p:cNvPr id="40" name="future_validation_text">
            <a:extLst xmlns:a="http://schemas.openxmlformats.org/drawingml/2006/main">
              <a:ext uri="{FF2B5EF4-FFF2-40B4-BE49-F238E27FC236}">
                <a16:creationId xmlns:a16="http://schemas.microsoft.com/office/drawing/2014/main" id="{7A680424-E294-4FB0-87A5-F9D3FD8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938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不进入 dev 迭代；只在冻结验证时使用</a:t>
            </a:r>
          </a:p>
        </p:txBody>
      </p:sp>
      <p:sp>
        <p:nvSpPr>
          <p:cNvPr id="41" name="tuning_boundary">
            <a:extLst xmlns:a="http://schemas.openxmlformats.org/drawingml/2006/main">
              <a:ext uri="{FF2B5EF4-FFF2-40B4-BE49-F238E27FC236}">
                <a16:creationId xmlns:a16="http://schemas.microsoft.com/office/drawing/2014/main" id="{01642F1D-1080-4D0C-AE0E-FA3F97AB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579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defRPr>
            </a:pPr>
            <a:r>
              <a:rPr sz="1013">
                <a:solidFill>
                  <a:srgbClr val="647174"/>
                </a:solidFill>
                <a:latin typeface="PingFang SC"/>
                <a:ea typeface="PingFang SC"/>
                <a:cs typeface="PingFang SC"/>
              </a:rPr>
              <a:t>这里说明 evidence interface；调优效果仍需要后续产品验证。</a:t>
            </a:r>
          </a:p>
        </p:txBody>
      </p:sp>
    </p:spTree>
    <p:extLst>
      <p:ext uri="{BB962C8B-B14F-4D97-AF65-F5344CB8AC3E}">
        <p14:creationId xmlns:p14="http://schemas.microsoft.com/office/powerpoint/2010/main" val="1989495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2026-06-03T02:08:42.9020000Z</dcterms:created>
  <dcterms:modified xsi:type="dcterms:W3CDTF">2026-06-03T02:08:42.9020000Z</dcterms:modified>
</coreProperties>
</file>