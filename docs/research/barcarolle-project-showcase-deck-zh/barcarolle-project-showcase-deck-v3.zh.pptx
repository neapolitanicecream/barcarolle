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685a33e1d9449c" /><Relationship Type="http://schemas.openxmlformats.org/officeDocument/2006/relationships/extended-properties" Target="/docProps/app.xml" Id="R9dfadc42f47a453e" /><Relationship Type="http://schemas.openxmlformats.org/officeDocument/2006/relationships/officeDocument" Target="/ppt/presentation.xml" Id="R14726c7c8f124d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7d4775ac084501"/>
  </p:sldMasterIdLst>
  <p:notesMasterIdLst>
    <p:notesMasterId xmlns:r="http://schemas.openxmlformats.org/officeDocument/2006/relationships" r:id="R9b5c7288868f4921"/>
  </p:notesMasterIdLst>
  <p:sldIdLst>
    <p:sldId xmlns:r="http://schemas.openxmlformats.org/officeDocument/2006/relationships" id="256" r:id="R8802fb7aec3d489b"/>
    <p:sldId xmlns:r="http://schemas.openxmlformats.org/officeDocument/2006/relationships" id="257" r:id="R77f1fd1f2b714da7"/>
    <p:sldId xmlns:r="http://schemas.openxmlformats.org/officeDocument/2006/relationships" id="258" r:id="R0ec21f464c6e4c89"/>
    <p:sldId xmlns:r="http://schemas.openxmlformats.org/officeDocument/2006/relationships" id="259" r:id="Rea3118f5c7544dd6"/>
    <p:sldId xmlns:r="http://schemas.openxmlformats.org/officeDocument/2006/relationships" id="260" r:id="Rf0e92bd63368406c"/>
    <p:sldId xmlns:r="http://schemas.openxmlformats.org/officeDocument/2006/relationships" id="261" r:id="Ra48ef9f757b149d2"/>
    <p:sldId xmlns:r="http://schemas.openxmlformats.org/officeDocument/2006/relationships" id="262" r:id="R2195f80b5c414e25"/>
    <p:sldId xmlns:r="http://schemas.openxmlformats.org/officeDocument/2006/relationships" id="263" r:id="Rd40b196afe31437d"/>
    <p:sldId xmlns:r="http://schemas.openxmlformats.org/officeDocument/2006/relationships" id="264" r:id="R8f0434a5e0974906"/>
    <p:sldId xmlns:r="http://schemas.openxmlformats.org/officeDocument/2006/relationships" id="265" r:id="Rdc1d485a5fba4ac9"/>
    <p:sldId xmlns:r="http://schemas.openxmlformats.org/officeDocument/2006/relationships" id="266" r:id="R5b21a08dafb949f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7e3e0085d64065" /><Relationship Type="http://schemas.openxmlformats.org/officeDocument/2006/relationships/slideMaster" Target="/ppt/slideMasters/slideMaster1.xml" Id="Re87d4775ac084501" /><Relationship Type="http://schemas.openxmlformats.org/officeDocument/2006/relationships/notesMaster" Target="/ppt/notesMasters/notesMaster1.xml" Id="R9b5c7288868f4921" /><Relationship Type="http://schemas.openxmlformats.org/officeDocument/2006/relationships/presProps" Target="/ppt/presProps.xml" Id="R9394b531165244e9" /><Relationship Type="http://schemas.openxmlformats.org/officeDocument/2006/relationships/viewProps" Target="/ppt/viewProps.xml" Id="Rb8d674ffd2704c27" /><Relationship Type="http://schemas.openxmlformats.org/officeDocument/2006/relationships/tableStyles" Target="/ppt/tableStyles.xml" Id="R71fd5d6149d24459" /><Relationship Type="http://schemas.openxmlformats.org/officeDocument/2006/relationships/slide" Target="/ppt/slides/slide1.xml" Id="R8802fb7aec3d489b" /><Relationship Type="http://schemas.openxmlformats.org/officeDocument/2006/relationships/slide" Target="/ppt/slides/slide2.xml" Id="R77f1fd1f2b714da7" /><Relationship Type="http://schemas.openxmlformats.org/officeDocument/2006/relationships/slide" Target="/ppt/slides/slide3.xml" Id="R0ec21f464c6e4c89" /><Relationship Type="http://schemas.openxmlformats.org/officeDocument/2006/relationships/slide" Target="/ppt/slides/slide4.xml" Id="Rea3118f5c7544dd6" /><Relationship Type="http://schemas.openxmlformats.org/officeDocument/2006/relationships/slide" Target="/ppt/slides/slide5.xml" Id="Rf0e92bd63368406c" /><Relationship Type="http://schemas.openxmlformats.org/officeDocument/2006/relationships/slide" Target="/ppt/slides/slide6.xml" Id="Ra48ef9f757b149d2" /><Relationship Type="http://schemas.openxmlformats.org/officeDocument/2006/relationships/slide" Target="/ppt/slides/slide7.xml" Id="R2195f80b5c414e25" /><Relationship Type="http://schemas.openxmlformats.org/officeDocument/2006/relationships/slide" Target="/ppt/slides/slide8.xml" Id="Rd40b196afe31437d" /><Relationship Type="http://schemas.openxmlformats.org/officeDocument/2006/relationships/slide" Target="/ppt/slides/slide9.xml" Id="R8f0434a5e0974906" /><Relationship Type="http://schemas.openxmlformats.org/officeDocument/2006/relationships/slide" Target="/ppt/slides/slide10.xml" Id="Rdc1d485a5fba4ac9" /><Relationship Type="http://schemas.openxmlformats.org/officeDocument/2006/relationships/slide" Target="/ppt/slides/slide11.xml" Id="R5b21a08dafb949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3b1206a39540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b32fb791474c61" /><Relationship Type="http://schemas.openxmlformats.org/officeDocument/2006/relationships/notesMaster" Target="/ppt/notesMasters/notesMaster1.xml" Id="Re2daa3003a8540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c7cef63e60424e" /><Relationship Type="http://schemas.openxmlformats.org/officeDocument/2006/relationships/notesMaster" Target="/ppt/notesMasters/notesMaster1.xml" Id="Re1c6267e654245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4279b632674caa" /><Relationship Type="http://schemas.openxmlformats.org/officeDocument/2006/relationships/notesMaster" Target="/ppt/notesMasters/notesMaster1.xml" Id="R6297a374914845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33eec22d3545a7" /><Relationship Type="http://schemas.openxmlformats.org/officeDocument/2006/relationships/notesMaster" Target="/ppt/notesMasters/notesMaster1.xml" Id="R76802a4619e84d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4763102e734f1d" /><Relationship Type="http://schemas.openxmlformats.org/officeDocument/2006/relationships/notesMaster" Target="/ppt/notesMasters/notesMaster1.xml" Id="R799922e503684b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2a43a3f38349fc" /><Relationship Type="http://schemas.openxmlformats.org/officeDocument/2006/relationships/notesMaster" Target="/ppt/notesMasters/notesMaster1.xml" Id="Rd91f448658104b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7d16f5a9c54f95" /><Relationship Type="http://schemas.openxmlformats.org/officeDocument/2006/relationships/notesMaster" Target="/ppt/notesMasters/notesMaster1.xml" Id="Rf763a84422b644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20e94d09224b92" /><Relationship Type="http://schemas.openxmlformats.org/officeDocument/2006/relationships/notesMaster" Target="/ppt/notesMasters/notesMaster1.xml" Id="Rcda06aa1b3e249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a99ac719c844cd" /><Relationship Type="http://schemas.openxmlformats.org/officeDocument/2006/relationships/notesMaster" Target="/ppt/notesMasters/notesMaster1.xml" Id="Rb9e4829ee84341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8e0af9e0a8d4b39" /><Relationship Type="http://schemas.openxmlformats.org/officeDocument/2006/relationships/notesMaster" Target="/ppt/notesMasters/notesMaster1.xml" Id="Rf1981166208a4e4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aa6f9fc1fd047e3" /><Relationship Type="http://schemas.openxmlformats.org/officeDocument/2006/relationships/notesMaster" Target="/ppt/notesMasters/notesMaster1.xml" Id="R0861cc385d9c49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05f290fffa40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4c04e538574911" /><Relationship Type="http://schemas.openxmlformats.org/officeDocument/2006/relationships/slideLayout" Target="/ppt/slideLayouts/slideLayout1.xml" Id="R05ee178c831846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ee178c831846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13f244471f4a47" /><Relationship Type="http://schemas.openxmlformats.org/officeDocument/2006/relationships/notesSlide" Target="/ppt/notesSlides/notesSlide1.xml" Id="Rfb9a6f41702040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decb24ec624733" /><Relationship Type="http://schemas.openxmlformats.org/officeDocument/2006/relationships/notesSlide" Target="/ppt/notesSlides/notesSlide2.xml" Id="Rd17b953ecb814d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a1b448837f4210" /><Relationship Type="http://schemas.openxmlformats.org/officeDocument/2006/relationships/notesSlide" Target="/ppt/notesSlides/notesSlide3.xml" Id="Rd44b915ebf254e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e4b75fa6041a6" /><Relationship Type="http://schemas.openxmlformats.org/officeDocument/2006/relationships/notesSlide" Target="/ppt/notesSlides/notesSlide4.xml" Id="R12213a8808c84f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0d6806da6474d" /><Relationship Type="http://schemas.openxmlformats.org/officeDocument/2006/relationships/notesSlide" Target="/ppt/notesSlides/notesSlide5.xml" Id="R1609dce4be2e43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d3666c7da946aa" /><Relationship Type="http://schemas.openxmlformats.org/officeDocument/2006/relationships/notesSlide" Target="/ppt/notesSlides/notesSlide6.xml" Id="Rc1b9ab13976845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2e92315304e3c" /><Relationship Type="http://schemas.openxmlformats.org/officeDocument/2006/relationships/notesSlide" Target="/ppt/notesSlides/notesSlide7.xml" Id="R1d15dccec7db44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3458f9ae14916" /><Relationship Type="http://schemas.openxmlformats.org/officeDocument/2006/relationships/notesSlide" Target="/ppt/notesSlides/notesSlide8.xml" Id="R0b1ae4f975f54a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598051005e49e0" /><Relationship Type="http://schemas.openxmlformats.org/officeDocument/2006/relationships/notesSlide" Target="/ppt/notesSlides/notesSlide9.xml" Id="R2c94c7897e104a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746b444fe3488d" /><Relationship Type="http://schemas.openxmlformats.org/officeDocument/2006/relationships/notesSlide" Target="/ppt/notesSlides/notesSlide10.xml" Id="R364db9c8221f47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7c66288d945fc" /><Relationship Type="http://schemas.openxmlformats.org/officeDocument/2006/relationships/notesSlide" Target="/ppt/notesSlides/notesSlide11.xml" Id="R8fbd58d79339437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8B21CE17-CF33-4FB2-89D4-63F003A7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title_rail">
            <a:extLst xmlns:a="http://schemas.openxmlformats.org/drawingml/2006/main">
              <a:ext uri="{FF2B5EF4-FFF2-40B4-BE49-F238E27FC236}">
                <a16:creationId xmlns:a16="http://schemas.microsoft.com/office/drawing/2014/main" id="{13100031-78A4-44DA-BFDF-E2CADB24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2"/>
          </a:solidFill>
        </p:spPr>
      </p:sp>
      <p:sp>
        <p:nvSpPr>
          <p:cNvPr id="3" name="page_number">
            <a:extLst xmlns:a="http://schemas.openxmlformats.org/drawingml/2006/main">
              <a:ext uri="{FF2B5EF4-FFF2-40B4-BE49-F238E27FC236}">
                <a16:creationId xmlns:a16="http://schemas.microsoft.com/office/drawing/2014/main" id="{2CE3F228-FFB2-46F1-8DCE-43AA343E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" name="title_label">
            <a:extLst xmlns:a="http://schemas.openxmlformats.org/drawingml/2006/main">
              <a:ext uri="{FF2B5EF4-FFF2-40B4-BE49-F238E27FC236}">
                <a16:creationId xmlns:a16="http://schemas.microsoft.com/office/drawing/2014/main" id="{E02FDAB9-48A5-4F65-B15B-2FEC7F8B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00100"/>
            <a:ext cx="571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项目定位</a:t>
            </a:r>
          </a:p>
        </p:txBody>
      </p:sp>
      <p:sp>
        <p:nvSpPr>
          <p:cNvPr id="5" name="main_title">
            <a:extLst xmlns:a="http://schemas.openxmlformats.org/drawingml/2006/main">
              <a:ext uri="{FF2B5EF4-FFF2-40B4-BE49-F238E27FC236}">
                <a16:creationId xmlns:a16="http://schemas.microsoft.com/office/drawing/2014/main" id="{9FA8F2CC-9055-4D54-8E1F-AA72E3F2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Barcarolle 编译面向目标仓库的 benchmark release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B272D896-F0F6-4F00-835E-F86F3A5F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9334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ACUT = Agent Configuration Under Test，一次被评估的 agent 配置。</a:t>
            </a:r>
          </a:p>
        </p:txBody>
      </p:sp>
      <p:sp>
        <p:nvSpPr>
          <p:cNvPr id="7" name="header_rule">
            <a:extLst xmlns:a="http://schemas.openxmlformats.org/drawingml/2006/main">
              <a:ext uri="{FF2B5EF4-FFF2-40B4-BE49-F238E27FC236}">
                <a16:creationId xmlns:a16="http://schemas.microsoft.com/office/drawing/2014/main" id="{38FC3FD6-F9E8-4AB5-994A-777B51D9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52550"/>
            <a:ext cx="967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8" name="definition_copy">
            <a:extLst xmlns:a="http://schemas.openxmlformats.org/drawingml/2006/main">
              <a:ext uri="{FF2B5EF4-FFF2-40B4-BE49-F238E27FC236}">
                <a16:creationId xmlns:a16="http://schemas.microsoft.com/office/drawing/2014/main" id="{32A27066-60CB-493B-9E8A-89A115A1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76400"/>
            <a:ext cx="4381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171450" tIns="152400" rIns="171450" bIns="15240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Barcarolle 把目标仓库、候选任务、验证规则和 ACUT 边界组织成可冻结的 repo-specific release，用于估计这个 agent 配置在未来仓库工作中的表现。</a:t>
            </a:r>
          </a:p>
        </p:txBody>
      </p:sp>
      <p:sp>
        <p:nvSpPr>
          <p:cNvPr id="9" name="acut_boundary_fill">
            <a:extLst xmlns:a="http://schemas.openxmlformats.org/drawingml/2006/main">
              <a:ext uri="{FF2B5EF4-FFF2-40B4-BE49-F238E27FC236}">
                <a16:creationId xmlns:a16="http://schemas.microsoft.com/office/drawing/2014/main" id="{D6FE61D1-CF88-4A9E-AE3C-77DB0AAA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48000"/>
            <a:ext cx="4381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B"/>
          </a:solidFill>
        </p:spPr>
      </p:sp>
      <p:sp>
        <p:nvSpPr>
          <p:cNvPr id="10" name="acut_boundary_accent">
            <a:extLst xmlns:a="http://schemas.openxmlformats.org/drawingml/2006/main">
              <a:ext uri="{FF2B5EF4-FFF2-40B4-BE49-F238E27FC236}">
                <a16:creationId xmlns:a16="http://schemas.microsoft.com/office/drawing/2014/main" id="{EA7B35CD-33A4-4198-A37A-6DC02558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480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16B"/>
          </a:solidFill>
        </p:spPr>
      </p:sp>
      <p:sp>
        <p:nvSpPr>
          <p:cNvPr id="11" name="acut_boundary_title">
            <a:extLst xmlns:a="http://schemas.openxmlformats.org/drawingml/2006/main">
              <a:ext uri="{FF2B5EF4-FFF2-40B4-BE49-F238E27FC236}">
                <a16:creationId xmlns:a16="http://schemas.microsoft.com/office/drawing/2014/main" id="{B6FAFD00-744F-4919-9476-C5D234E9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004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ACUT 保留自己的 harness</a:t>
            </a:r>
          </a:p>
        </p:txBody>
      </p:sp>
      <p:sp>
        <p:nvSpPr>
          <p:cNvPr id="12" name="acut_boundary_body">
            <a:extLst xmlns:a="http://schemas.openxmlformats.org/drawingml/2006/main">
              <a:ext uri="{FF2B5EF4-FFF2-40B4-BE49-F238E27FC236}">
                <a16:creationId xmlns:a16="http://schemas.microsoft.com/office/drawing/2014/main" id="{54E02C16-A3A1-45FD-84E2-92ABC8B2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524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prompt、搜索、工具策略、模型选择和 runtime budget 由该配置控制。</a:t>
            </a:r>
          </a:p>
        </p:txBody>
      </p:sp>
      <p:sp>
        <p:nvSpPr>
          <p:cNvPr id="13" name="bench_boundary_fill">
            <a:extLst xmlns:a="http://schemas.openxmlformats.org/drawingml/2006/main">
              <a:ext uri="{FF2B5EF4-FFF2-40B4-BE49-F238E27FC236}">
                <a16:creationId xmlns:a16="http://schemas.microsoft.com/office/drawing/2014/main" id="{AD385E03-3BAB-48B9-95C1-591225DF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43400"/>
            <a:ext cx="4381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14" name="bench_boundary_accent">
            <a:extLst xmlns:a="http://schemas.openxmlformats.org/drawingml/2006/main">
              <a:ext uri="{FF2B5EF4-FFF2-40B4-BE49-F238E27FC236}">
                <a16:creationId xmlns:a16="http://schemas.microsoft.com/office/drawing/2014/main" id="{D9AC3C76-59D7-4583-BFB0-EC2F1246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434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</p:spPr>
      </p:sp>
      <p:sp>
        <p:nvSpPr>
          <p:cNvPr id="15" name="bench_boundary_title">
            <a:extLst xmlns:a="http://schemas.openxmlformats.org/drawingml/2006/main">
              <a:ext uri="{FF2B5EF4-FFF2-40B4-BE49-F238E27FC236}">
                <a16:creationId xmlns:a16="http://schemas.microsoft.com/office/drawing/2014/main" id="{C708723B-A7B2-489A-ACAA-BD6FF198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958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Barcarolle 维护 release 边界</a:t>
            </a:r>
          </a:p>
        </p:txBody>
      </p:sp>
      <p:sp>
        <p:nvSpPr>
          <p:cNvPr id="16" name="bench_boundary_body">
            <a:extLst xmlns:a="http://schemas.openxmlformats.org/drawingml/2006/main">
              <a:ext uri="{FF2B5EF4-FFF2-40B4-BE49-F238E27FC236}">
                <a16:creationId xmlns:a16="http://schemas.microsoft.com/office/drawing/2014/main" id="{EADE9429-EC95-4979-9273-B1E42AC9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196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solver-visible 材料、diff capture、verifier replay、score/cost/latency accounting。</a:t>
            </a:r>
          </a:p>
        </p:txBody>
      </p:sp>
      <p:sp>
        <p:nvSpPr>
          <p:cNvPr id="17" name="目标仓库_box">
            <a:extLst xmlns:a="http://schemas.openxmlformats.org/drawingml/2006/main">
              <a:ext uri="{FF2B5EF4-FFF2-40B4-BE49-F238E27FC236}">
                <a16:creationId xmlns:a16="http://schemas.microsoft.com/office/drawing/2014/main" id="{FDA4C5AA-86BD-470D-BEFA-64F00CA5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2590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5"/>
          </a:solidFill>
        </p:spPr>
      </p:sp>
      <p:sp>
        <p:nvSpPr>
          <p:cNvPr id="18" name="目标仓库_accent">
            <a:extLst xmlns:a="http://schemas.openxmlformats.org/drawingml/2006/main">
              <a:ext uri="{FF2B5EF4-FFF2-40B4-BE49-F238E27FC236}">
                <a16:creationId xmlns:a16="http://schemas.microsoft.com/office/drawing/2014/main" id="{2D1E7ECE-E543-4337-92A4-D8716E8C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2590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</p:spPr>
      </p:sp>
      <p:sp>
        <p:nvSpPr>
          <p:cNvPr id="19" name="目标仓库_title">
            <a:extLst xmlns:a="http://schemas.openxmlformats.org/drawingml/2006/main">
              <a:ext uri="{FF2B5EF4-FFF2-40B4-BE49-F238E27FC236}">
                <a16:creationId xmlns:a16="http://schemas.microsoft.com/office/drawing/2014/main" id="{2B222AA6-B372-4CDE-BEF2-39D8BF7B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43150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目标仓库</a:t>
            </a:r>
          </a:p>
        </p:txBody>
      </p:sp>
      <p:sp>
        <p:nvSpPr>
          <p:cNvPr id="20" name="目标仓库_body">
            <a:extLst xmlns:a="http://schemas.openxmlformats.org/drawingml/2006/main">
              <a:ext uri="{FF2B5EF4-FFF2-40B4-BE49-F238E27FC236}">
                <a16:creationId xmlns:a16="http://schemas.microsoft.com/office/drawing/2014/main" id="{18CA2957-F165-4519-8373-11633BA9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未来 issue / API / 测试习惯 / 依赖约束</a:t>
            </a:r>
          </a:p>
        </p:txBody>
      </p:sp>
      <p:sp>
        <p:nvSpPr>
          <p:cNvPr id="21" name="benchmark release_box">
            <a:extLst xmlns:a="http://schemas.openxmlformats.org/drawingml/2006/main">
              <a:ext uri="{FF2B5EF4-FFF2-40B4-BE49-F238E27FC236}">
                <a16:creationId xmlns:a16="http://schemas.microsoft.com/office/drawing/2014/main" id="{756E30A2-4466-4155-85A8-BA8EBFA2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76625"/>
            <a:ext cx="2590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4"/>
          </a:solidFill>
        </p:spPr>
      </p:sp>
      <p:sp>
        <p:nvSpPr>
          <p:cNvPr id="22" name="benchmark release_accent">
            <a:extLst xmlns:a="http://schemas.openxmlformats.org/drawingml/2006/main">
              <a:ext uri="{FF2B5EF4-FFF2-40B4-BE49-F238E27FC236}">
                <a16:creationId xmlns:a16="http://schemas.microsoft.com/office/drawing/2014/main" id="{BD36E15C-BF2A-40EA-8C46-8231733B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76625"/>
            <a:ext cx="2590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A2D"/>
          </a:solidFill>
        </p:spPr>
      </p:sp>
      <p:sp>
        <p:nvSpPr>
          <p:cNvPr id="23" name="benchmark release_title">
            <a:extLst xmlns:a="http://schemas.openxmlformats.org/drawingml/2006/main">
              <a:ext uri="{FF2B5EF4-FFF2-40B4-BE49-F238E27FC236}">
                <a16:creationId xmlns:a16="http://schemas.microsoft.com/office/drawing/2014/main" id="{E29B7874-BDF5-498C-A88A-CB286D64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29025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benchmark release</a:t>
            </a:r>
          </a:p>
        </p:txBody>
      </p:sp>
      <p:sp>
        <p:nvSpPr>
          <p:cNvPr id="24" name="benchmark release_body">
            <a:extLst xmlns:a="http://schemas.openxmlformats.org/drawingml/2006/main">
              <a:ext uri="{FF2B5EF4-FFF2-40B4-BE49-F238E27FC236}">
                <a16:creationId xmlns:a16="http://schemas.microsoft.com/office/drawing/2014/main" id="{0C5BB7F3-C412-44B5-93E0-8FF1D855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33825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task set / split / metadata / validation rules</a:t>
            </a:r>
          </a:p>
        </p:txBody>
      </p:sp>
      <p:sp>
        <p:nvSpPr>
          <p:cNvPr id="25" name="ACUT_box">
            <a:extLst xmlns:a="http://schemas.openxmlformats.org/drawingml/2006/main">
              <a:ext uri="{FF2B5EF4-FFF2-40B4-BE49-F238E27FC236}">
                <a16:creationId xmlns:a16="http://schemas.microsoft.com/office/drawing/2014/main" id="{6B6392D3-27CE-4AC6-842B-79D7466F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2590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26" name="ACUT_accent">
            <a:extLst xmlns:a="http://schemas.openxmlformats.org/drawingml/2006/main">
              <a:ext uri="{FF2B5EF4-FFF2-40B4-BE49-F238E27FC236}">
                <a16:creationId xmlns:a16="http://schemas.microsoft.com/office/drawing/2014/main" id="{59756012-75F5-415A-BEFA-985DC42E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2590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</p:spPr>
      </p:sp>
      <p:sp>
        <p:nvSpPr>
          <p:cNvPr id="27" name="ACUT_title">
            <a:extLst xmlns:a="http://schemas.openxmlformats.org/drawingml/2006/main">
              <a:ext uri="{FF2B5EF4-FFF2-40B4-BE49-F238E27FC236}">
                <a16:creationId xmlns:a16="http://schemas.microsoft.com/office/drawing/2014/main" id="{204219CB-5575-4212-BA48-101C4A6A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14900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ACUT</a:t>
            </a:r>
          </a:p>
        </p:txBody>
      </p:sp>
      <p:sp>
        <p:nvSpPr>
          <p:cNvPr id="28" name="ACUT_body">
            <a:extLst xmlns:a="http://schemas.openxmlformats.org/drawingml/2006/main">
              <a:ext uri="{FF2B5EF4-FFF2-40B4-BE49-F238E27FC236}">
                <a16:creationId xmlns:a16="http://schemas.microsoft.com/office/drawing/2014/main" id="{E60AF594-4BDD-4EB5-A370-3E3EA962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19700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agent 配置：harness / prompt / tools / runtime budget</a:t>
            </a:r>
          </a:p>
        </p:txBody>
      </p:sp>
      <p:sp>
        <p:nvSpPr>
          <p:cNvPr id="29" name="repo_to_release_link">
            <a:extLst xmlns:a="http://schemas.openxmlformats.org/drawingml/2006/main">
              <a:ext uri="{FF2B5EF4-FFF2-40B4-BE49-F238E27FC236}">
                <a16:creationId xmlns:a16="http://schemas.microsoft.com/office/drawing/2014/main" id="{DBAEAED9-E71F-4F1E-B574-89322D8A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24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30" name="acut_to_release_link">
            <a:extLst xmlns:a="http://schemas.openxmlformats.org/drawingml/2006/main">
              <a:ext uri="{FF2B5EF4-FFF2-40B4-BE49-F238E27FC236}">
                <a16:creationId xmlns:a16="http://schemas.microsoft.com/office/drawing/2014/main" id="{C9F52863-A460-486B-B24F-E66D3377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625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31" name="repo_link_dot">
            <a:extLst xmlns:a="http://schemas.openxmlformats.org/drawingml/2006/main">
              <a:ext uri="{FF2B5EF4-FFF2-40B4-BE49-F238E27FC236}">
                <a16:creationId xmlns:a16="http://schemas.microsoft.com/office/drawing/2014/main" id="{E1FAB702-11FC-4DF0-AEFC-C329C1AE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48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</p:spPr>
      </p:sp>
      <p:sp>
        <p:nvSpPr>
          <p:cNvPr id="32" name="acut_link_dot">
            <a:extLst xmlns:a="http://schemas.openxmlformats.org/drawingml/2006/main">
              <a:ext uri="{FF2B5EF4-FFF2-40B4-BE49-F238E27FC236}">
                <a16:creationId xmlns:a16="http://schemas.microsoft.com/office/drawing/2014/main" id="{3E536DC7-3B04-4FEA-B1F1-24269701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86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</p:spPr>
      </p:sp>
      <p:sp>
        <p:nvSpPr>
          <p:cNvPr id="33" name="release_formula">
            <a:extLst xmlns:a="http://schemas.openxmlformats.org/drawingml/2006/main">
              <a:ext uri="{FF2B5EF4-FFF2-40B4-BE49-F238E27FC236}">
                <a16:creationId xmlns:a16="http://schemas.microsoft.com/office/drawing/2014/main" id="{7F8041A1-F2B9-40DA-8A27-70808730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9245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release = task set + split + source/oracle metadata + ACUT boundary + validation rules</a:t>
            </a:r>
          </a:p>
        </p:txBody>
      </p:sp>
    </p:spTree>
    <p:extLst>
      <p:ext uri="{BB962C8B-B14F-4D97-AF65-F5344CB8AC3E}">
        <p14:creationId xmlns:p14="http://schemas.microsoft.com/office/powerpoint/2010/main" val="172152129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1DBBA105-9FCE-476D-B14F-9F0F0898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title_rail">
            <a:extLst xmlns:a="http://schemas.openxmlformats.org/drawingml/2006/main">
              <a:ext uri="{FF2B5EF4-FFF2-40B4-BE49-F238E27FC236}">
                <a16:creationId xmlns:a16="http://schemas.microsoft.com/office/drawing/2014/main" id="{F868BED7-4EF2-4B79-8961-AA95AB6F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2"/>
          </a:solidFill>
        </p:spPr>
      </p:sp>
      <p:sp>
        <p:nvSpPr>
          <p:cNvPr id="3" name="page_number">
            <a:extLst xmlns:a="http://schemas.openxmlformats.org/drawingml/2006/main">
              <a:ext uri="{FF2B5EF4-FFF2-40B4-BE49-F238E27FC236}">
                <a16:creationId xmlns:a16="http://schemas.microsoft.com/office/drawing/2014/main" id="{1420A8F5-94D4-4865-883B-900B4027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title_label">
            <a:extLst xmlns:a="http://schemas.openxmlformats.org/drawingml/2006/main">
              <a:ext uri="{FF2B5EF4-FFF2-40B4-BE49-F238E27FC236}">
                <a16:creationId xmlns:a16="http://schemas.microsoft.com/office/drawing/2014/main" id="{DDE3D28D-537D-4165-A82A-E746ACB0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00100"/>
            <a:ext cx="571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问题与代价</a:t>
            </a:r>
          </a:p>
        </p:txBody>
      </p:sp>
      <p:sp>
        <p:nvSpPr>
          <p:cNvPr id="5" name="main_title">
            <a:extLst xmlns:a="http://schemas.openxmlformats.org/drawingml/2006/main">
              <a:ext uri="{FF2B5EF4-FFF2-40B4-BE49-F238E27FC236}">
                <a16:creationId xmlns:a16="http://schemas.microsoft.com/office/drawing/2014/main" id="{F5983923-3E26-40E4-BE25-FC616C0C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通用分数还不能直接估计本仓库未来工作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29276D07-AA42-46D0-8F4A-C81C0A52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9334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部署、调优和治理都需要 target-repo future-work evidence。</a:t>
            </a:r>
          </a:p>
        </p:txBody>
      </p:sp>
      <p:sp>
        <p:nvSpPr>
          <p:cNvPr id="7" name="header_rule">
            <a:extLst xmlns:a="http://schemas.openxmlformats.org/drawingml/2006/main">
              <a:ext uri="{FF2B5EF4-FFF2-40B4-BE49-F238E27FC236}">
                <a16:creationId xmlns:a16="http://schemas.microsoft.com/office/drawing/2014/main" id="{B8A1C2AA-1F30-49D3-AF07-97402779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52550"/>
            <a:ext cx="967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8" name="problem_copy">
            <a:extLst xmlns:a="http://schemas.openxmlformats.org/drawingml/2006/main">
              <a:ext uri="{FF2B5EF4-FFF2-40B4-BE49-F238E27FC236}">
                <a16:creationId xmlns:a16="http://schemas.microsoft.com/office/drawing/2014/main" id="{29F3971A-2730-4BEA-8193-B7F60111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3830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通用 benchmark 提供广泛能力信号；项目团队还要知道同一个 agent 配置在本仓库未来 issue、API、测试习惯、依赖约束和 review norms 下会怎样。</a:t>
            </a:r>
          </a:p>
        </p:txBody>
      </p:sp>
      <p:sp>
        <p:nvSpPr>
          <p:cNvPr id="9" name="general_bench_fill">
            <a:extLst xmlns:a="http://schemas.openxmlformats.org/drawingml/2006/main">
              <a:ext uri="{FF2B5EF4-FFF2-40B4-BE49-F238E27FC236}">
                <a16:creationId xmlns:a16="http://schemas.microsoft.com/office/drawing/2014/main" id="{631CA532-42C0-4EF2-979D-D7B6B068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7175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10" name="general_bench_accent">
            <a:extLst xmlns:a="http://schemas.openxmlformats.org/drawingml/2006/main">
              <a:ext uri="{FF2B5EF4-FFF2-40B4-BE49-F238E27FC236}">
                <a16:creationId xmlns:a16="http://schemas.microsoft.com/office/drawing/2014/main" id="{E0EA80DB-3710-4F31-AF46-19E6B4B4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71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</p:spPr>
      </p:sp>
      <p:sp>
        <p:nvSpPr>
          <p:cNvPr id="11" name="general_bench_title">
            <a:extLst xmlns:a="http://schemas.openxmlformats.org/drawingml/2006/main">
              <a:ext uri="{FF2B5EF4-FFF2-40B4-BE49-F238E27FC236}">
                <a16:creationId xmlns:a16="http://schemas.microsoft.com/office/drawing/2014/main" id="{5AEB8A78-F684-41D5-BCEB-600AD659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7241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通用 benchmark score</a:t>
            </a:r>
          </a:p>
        </p:txBody>
      </p:sp>
      <p:sp>
        <p:nvSpPr>
          <p:cNvPr id="12" name="general_bench_body">
            <a:extLst xmlns:a="http://schemas.openxmlformats.org/drawingml/2006/main">
              <a:ext uri="{FF2B5EF4-FFF2-40B4-BE49-F238E27FC236}">
                <a16:creationId xmlns:a16="http://schemas.microsoft.com/office/drawing/2014/main" id="{9238ED48-986A-49F8-94CD-B61D35C9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048000"/>
            <a:ext cx="255270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广泛能力、可执行评分、公开对照、跨系统可比较性。</a:t>
            </a:r>
          </a:p>
        </p:txBody>
      </p:sp>
      <p:sp>
        <p:nvSpPr>
          <p:cNvPr id="13" name="future_work_fill">
            <a:extLst xmlns:a="http://schemas.openxmlformats.org/drawingml/2006/main">
              <a:ext uri="{FF2B5EF4-FFF2-40B4-BE49-F238E27FC236}">
                <a16:creationId xmlns:a16="http://schemas.microsoft.com/office/drawing/2014/main" id="{88D765A0-9D7C-40D3-8450-4302700C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71750"/>
            <a:ext cx="304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5"/>
          </a:solidFill>
        </p:spPr>
      </p:sp>
      <p:sp>
        <p:nvSpPr>
          <p:cNvPr id="14" name="future_work_accent">
            <a:extLst xmlns:a="http://schemas.openxmlformats.org/drawingml/2006/main">
              <a:ext uri="{FF2B5EF4-FFF2-40B4-BE49-F238E27FC236}">
                <a16:creationId xmlns:a16="http://schemas.microsoft.com/office/drawing/2014/main" id="{706F5F34-BEE3-478E-8603-D450A15C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71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</p:spPr>
      </p:sp>
      <p:sp>
        <p:nvSpPr>
          <p:cNvPr id="15" name="future_work_title">
            <a:extLst xmlns:a="http://schemas.openxmlformats.org/drawingml/2006/main">
              <a:ext uri="{FF2B5EF4-FFF2-40B4-BE49-F238E27FC236}">
                <a16:creationId xmlns:a16="http://schemas.microsoft.com/office/drawing/2014/main" id="{17C92679-63C8-4A0B-9374-7F98CD60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241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target-repo future work</a:t>
            </a:r>
          </a:p>
        </p:txBody>
      </p:sp>
      <p:sp>
        <p:nvSpPr>
          <p:cNvPr id="16" name="future_work_body">
            <a:extLst xmlns:a="http://schemas.openxmlformats.org/drawingml/2006/main">
              <a:ext uri="{FF2B5EF4-FFF2-40B4-BE49-F238E27FC236}">
                <a16:creationId xmlns:a16="http://schemas.microsoft.com/office/drawing/2014/main" id="{A0AB2F75-A8F1-43D6-88BE-EE4E44D9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48000"/>
            <a:ext cx="274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未来 issue、API、测试、依赖、评审规范和 failure modes。</a:t>
            </a:r>
          </a:p>
        </p:txBody>
      </p:sp>
      <p:sp>
        <p:nvSpPr>
          <p:cNvPr id="17" name="gap_line">
            <a:extLst xmlns:a="http://schemas.openxmlformats.org/drawingml/2006/main">
              <a:ext uri="{FF2B5EF4-FFF2-40B4-BE49-F238E27FC236}">
                <a16:creationId xmlns:a16="http://schemas.microsoft.com/office/drawing/2014/main" id="{E22F80F0-A6C0-4A7A-A4FC-1E783CE7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95650"/>
            <a:ext cx="3314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18" name="gap_dot">
            <a:extLst xmlns:a="http://schemas.openxmlformats.org/drawingml/2006/main">
              <a:ext uri="{FF2B5EF4-FFF2-40B4-BE49-F238E27FC236}">
                <a16:creationId xmlns:a16="http://schemas.microsoft.com/office/drawing/2014/main" id="{DC9C6EC4-1C24-47DA-B860-E5EDAC26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289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8A2D"/>
          </a:solidFill>
        </p:spPr>
      </p:sp>
      <p:sp>
        <p:nvSpPr>
          <p:cNvPr id="19" name="gap_label">
            <a:extLst xmlns:a="http://schemas.openxmlformats.org/drawingml/2006/main">
              <a:ext uri="{FF2B5EF4-FFF2-40B4-BE49-F238E27FC236}">
                <a16:creationId xmlns:a16="http://schemas.microsoft.com/office/drawing/2014/main" id="{12B77022-09D5-4BB1-85A9-4CBA6026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1527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prediction</a:t>
            </a:r>
          </a:p>
          <a:p xmlns:a="http://schemas.openxmlformats.org/drawingml/2006/main">
            <a:pPr algn="ctr">
              <a:defRPr sz="9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gap</a:t>
            </a:r>
          </a:p>
        </p:txBody>
      </p:sp>
      <p:sp>
        <p:nvSpPr>
          <p:cNvPr id="20" name="consequence_0_fill">
            <a:extLst xmlns:a="http://schemas.openxmlformats.org/drawingml/2006/main">
              <a:ext uri="{FF2B5EF4-FFF2-40B4-BE49-F238E27FC236}">
                <a16:creationId xmlns:a16="http://schemas.microsoft.com/office/drawing/2014/main" id="{A1B7D305-7477-4D45-A91C-71F23B9C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48200"/>
            <a:ext cx="2705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21" name="consequence_0_accent">
            <a:extLst xmlns:a="http://schemas.openxmlformats.org/drawingml/2006/main">
              <a:ext uri="{FF2B5EF4-FFF2-40B4-BE49-F238E27FC236}">
                <a16:creationId xmlns:a16="http://schemas.microsoft.com/office/drawing/2014/main" id="{D2369466-1DCE-43CE-BA78-5FECF1B8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482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</p:spPr>
      </p:sp>
      <p:sp>
        <p:nvSpPr>
          <p:cNvPr id="22" name="consequence_0_title">
            <a:extLst xmlns:a="http://schemas.openxmlformats.org/drawingml/2006/main">
              <a:ext uri="{FF2B5EF4-FFF2-40B4-BE49-F238E27FC236}">
                <a16:creationId xmlns:a16="http://schemas.microsoft.com/office/drawing/2014/main" id="{DDA03A9B-E102-4A0E-B95A-DD48E42E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80060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deployment choice</a:t>
            </a:r>
          </a:p>
        </p:txBody>
      </p:sp>
      <p:sp>
        <p:nvSpPr>
          <p:cNvPr id="23" name="consequence_0_body">
            <a:extLst xmlns:a="http://schemas.openxmlformats.org/drawingml/2006/main">
              <a:ext uri="{FF2B5EF4-FFF2-40B4-BE49-F238E27FC236}">
                <a16:creationId xmlns:a16="http://schemas.microsoft.com/office/drawing/2014/main" id="{4FC85990-C636-4215-A9C4-7E1EB2F8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2445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配置选择可能偏离本仓库真实约束。</a:t>
            </a:r>
          </a:p>
        </p:txBody>
      </p:sp>
      <p:sp>
        <p:nvSpPr>
          <p:cNvPr id="24" name="consequence_1_fill">
            <a:extLst xmlns:a="http://schemas.openxmlformats.org/drawingml/2006/main">
              <a:ext uri="{FF2B5EF4-FFF2-40B4-BE49-F238E27FC236}">
                <a16:creationId xmlns:a16="http://schemas.microsoft.com/office/drawing/2014/main" id="{C637547F-1711-4CF6-BD50-96E51524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48200"/>
            <a:ext cx="2705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4"/>
          </a:solidFill>
        </p:spPr>
      </p:sp>
      <p:sp>
        <p:nvSpPr>
          <p:cNvPr id="25" name="consequence_1_accent">
            <a:extLst xmlns:a="http://schemas.openxmlformats.org/drawingml/2006/main">
              <a:ext uri="{FF2B5EF4-FFF2-40B4-BE49-F238E27FC236}">
                <a16:creationId xmlns:a16="http://schemas.microsoft.com/office/drawing/2014/main" id="{B4876D5B-36B8-49D3-AA1B-338C89D6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482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A2D"/>
          </a:solidFill>
        </p:spPr>
      </p:sp>
      <p:sp>
        <p:nvSpPr>
          <p:cNvPr id="26" name="consequence_1_title">
            <a:extLst xmlns:a="http://schemas.openxmlformats.org/drawingml/2006/main">
              <a:ext uri="{FF2B5EF4-FFF2-40B4-BE49-F238E27FC236}">
                <a16:creationId xmlns:a16="http://schemas.microsoft.com/office/drawing/2014/main" id="{59DB801B-AF04-4B6C-9C10-75538285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0060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configuration tuning</a:t>
            </a:r>
          </a:p>
        </p:txBody>
      </p:sp>
      <p:sp>
        <p:nvSpPr>
          <p:cNvPr id="27" name="consequence_1_body">
            <a:extLst xmlns:a="http://schemas.openxmlformats.org/drawingml/2006/main">
              <a:ext uri="{FF2B5EF4-FFF2-40B4-BE49-F238E27FC236}">
                <a16:creationId xmlns:a16="http://schemas.microsoft.com/office/drawing/2014/main" id="{5559E4E2-FB0B-49AC-AB24-540A1AC4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2445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dev set 收益可能被误读成未来改善。</a:t>
            </a:r>
          </a:p>
        </p:txBody>
      </p:sp>
      <p:sp>
        <p:nvSpPr>
          <p:cNvPr id="28" name="consequence_2_fill">
            <a:extLst xmlns:a="http://schemas.openxmlformats.org/drawingml/2006/main">
              <a:ext uri="{FF2B5EF4-FFF2-40B4-BE49-F238E27FC236}">
                <a16:creationId xmlns:a16="http://schemas.microsoft.com/office/drawing/2014/main" id="{DB2A8A1D-3FBE-405D-AA78-4DEC8C1C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48200"/>
            <a:ext cx="2705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5"/>
          </a:solidFill>
        </p:spPr>
      </p:sp>
      <p:sp>
        <p:nvSpPr>
          <p:cNvPr id="29" name="consequence_2_accent">
            <a:extLst xmlns:a="http://schemas.openxmlformats.org/drawingml/2006/main">
              <a:ext uri="{FF2B5EF4-FFF2-40B4-BE49-F238E27FC236}">
                <a16:creationId xmlns:a16="http://schemas.microsoft.com/office/drawing/2014/main" id="{38F30A31-9642-457B-8266-E3967976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482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</p:spPr>
      </p:sp>
      <p:sp>
        <p:nvSpPr>
          <p:cNvPr id="30" name="consequence_2_title">
            <a:extLst xmlns:a="http://schemas.openxmlformats.org/drawingml/2006/main">
              <a:ext uri="{FF2B5EF4-FFF2-40B4-BE49-F238E27FC236}">
                <a16:creationId xmlns:a16="http://schemas.microsoft.com/office/drawing/2014/main" id="{7F52678C-09F2-41AC-83A1-9BD47EEF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80060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governance decision</a:t>
            </a:r>
          </a:p>
        </p:txBody>
      </p:sp>
      <p:sp>
        <p:nvSpPr>
          <p:cNvPr id="31" name="consequence_2_body">
            <a:extLst xmlns:a="http://schemas.openxmlformats.org/drawingml/2006/main">
              <a:ext uri="{FF2B5EF4-FFF2-40B4-BE49-F238E27FC236}">
                <a16:creationId xmlns:a16="http://schemas.microsoft.com/office/drawing/2014/main" id="{2DCBE5E1-79F9-4304-9001-11E3DA0D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12445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缺少 source、adapter、成本和不确定性说明。</a:t>
            </a:r>
          </a:p>
        </p:txBody>
      </p:sp>
      <p:sp>
        <p:nvSpPr>
          <p:cNvPr id="32" name="target_question">
            <a:extLst xmlns:a="http://schemas.openxmlformats.org/drawingml/2006/main">
              <a:ext uri="{FF2B5EF4-FFF2-40B4-BE49-F238E27FC236}">
                <a16:creationId xmlns:a16="http://schemas.microsoft.com/office/drawing/2014/main" id="{30AD7564-8E89-4CF2-A884-5DC7F565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924550"/>
            <a:ext cx="790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42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核心问题：给定一个 ACUT，它在某个目标仓库未来真实工作中的表现会怎样？</a:t>
            </a:r>
          </a:p>
        </p:txBody>
      </p:sp>
    </p:spTree>
    <p:extLst>
      <p:ext uri="{BB962C8B-B14F-4D97-AF65-F5344CB8AC3E}">
        <p14:creationId xmlns:p14="http://schemas.microsoft.com/office/powerpoint/2010/main" val="13038156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4CF4ED15-8B73-4F9E-931D-C73FCF01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title_rail">
            <a:extLst xmlns:a="http://schemas.openxmlformats.org/drawingml/2006/main">
              <a:ext uri="{FF2B5EF4-FFF2-40B4-BE49-F238E27FC236}">
                <a16:creationId xmlns:a16="http://schemas.microsoft.com/office/drawing/2014/main" id="{CCDA5C67-955B-4CCF-BB5C-306289AF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2"/>
          </a:solidFill>
        </p:spPr>
      </p:sp>
      <p:sp>
        <p:nvSpPr>
          <p:cNvPr id="3" name="page_number">
            <a:extLst xmlns:a="http://schemas.openxmlformats.org/drawingml/2006/main">
              <a:ext uri="{FF2B5EF4-FFF2-40B4-BE49-F238E27FC236}">
                <a16:creationId xmlns:a16="http://schemas.microsoft.com/office/drawing/2014/main" id="{8D5CC156-38FC-45E7-BBA6-EB513ABE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title_label">
            <a:extLst xmlns:a="http://schemas.openxmlformats.org/drawingml/2006/main">
              <a:ext uri="{FF2B5EF4-FFF2-40B4-BE49-F238E27FC236}">
                <a16:creationId xmlns:a16="http://schemas.microsoft.com/office/drawing/2014/main" id="{C9D5CDCB-E5B4-41CA-BF30-04133A7F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00100"/>
            <a:ext cx="571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相关工作与缺口</a:t>
            </a:r>
          </a:p>
        </p:txBody>
      </p:sp>
      <p:sp>
        <p:nvSpPr>
          <p:cNvPr id="5" name="main_title">
            <a:extLst xmlns:a="http://schemas.openxmlformats.org/drawingml/2006/main">
              <a:ext uri="{FF2B5EF4-FFF2-40B4-BE49-F238E27FC236}">
                <a16:creationId xmlns:a16="http://schemas.microsoft.com/office/drawing/2014/main" id="{E6B77233-0A9D-4E2A-A422-AAF16938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相邻工作提供任务、质量、鲜度、规模和环境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70B75CAC-2205-4553-8BF1-CEAD0F0C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9334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Barcarolle 研究这些输入怎样变成目标仓库 release 证据。</a:t>
            </a:r>
          </a:p>
        </p:txBody>
      </p:sp>
      <p:sp>
        <p:nvSpPr>
          <p:cNvPr id="7" name="header_rule">
            <a:extLst xmlns:a="http://schemas.openxmlformats.org/drawingml/2006/main">
              <a:ext uri="{FF2B5EF4-FFF2-40B4-BE49-F238E27FC236}">
                <a16:creationId xmlns:a16="http://schemas.microsoft.com/office/drawing/2014/main" id="{1BE27BF1-CDBC-4656-8C2D-DD01C85B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52550"/>
            <a:ext cx="967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8" name="related_copy">
            <a:extLst xmlns:a="http://schemas.openxmlformats.org/drawingml/2006/main">
              <a:ext uri="{FF2B5EF4-FFF2-40B4-BE49-F238E27FC236}">
                <a16:creationId xmlns:a16="http://schemas.microsoft.com/office/drawing/2014/main" id="{3F315F2D-35BC-498E-BC4C-BF0BF4AF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383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SWE-bench、SWE-bench Verified、SWE-bench-Live、SWE-Bench++、SWE-smith 和 R2E-Gym 都扩大了 coding-agent evaluation 的可用输入；Barcarolle 的问题是 outcome-unseen release selection 与验证。</a:t>
            </a:r>
          </a:p>
        </p:txBody>
      </p:sp>
      <p:sp>
        <p:nvSpPr>
          <p:cNvPr id="9" name="header_0">
            <a:extLst xmlns:a="http://schemas.openxmlformats.org/drawingml/2006/main">
              <a:ext uri="{FF2B5EF4-FFF2-40B4-BE49-F238E27FC236}">
                <a16:creationId xmlns:a16="http://schemas.microsoft.com/office/drawing/2014/main" id="{55305E0E-555D-4BE1-8348-FA3B5CF2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955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2"/>
          </a:solidFill>
        </p:spPr>
      </p:sp>
      <p:sp>
        <p:nvSpPr>
          <p:cNvPr id="10" name="header_text_0">
            <a:extLst xmlns:a="http://schemas.openxmlformats.org/drawingml/2006/main">
              <a:ext uri="{FF2B5EF4-FFF2-40B4-BE49-F238E27FC236}">
                <a16:creationId xmlns:a16="http://schemas.microsoft.com/office/drawing/2014/main" id="{6AAF65C0-B176-4F28-A439-F262D893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600325"/>
            <a:ext cx="18478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层</a:t>
            </a:r>
          </a:p>
        </p:txBody>
      </p:sp>
      <p:sp>
        <p:nvSpPr>
          <p:cNvPr id="11" name="header_1">
            <a:extLst xmlns:a="http://schemas.openxmlformats.org/drawingml/2006/main">
              <a:ext uri="{FF2B5EF4-FFF2-40B4-BE49-F238E27FC236}">
                <a16:creationId xmlns:a16="http://schemas.microsoft.com/office/drawing/2014/main" id="{1D0B887A-246D-4D7C-B9FD-F7786B0C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495550"/>
            <a:ext cx="2714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16B"/>
          </a:solidFill>
        </p:spPr>
      </p:sp>
      <p:sp>
        <p:nvSpPr>
          <p:cNvPr id="12" name="header_text_1">
            <a:extLst xmlns:a="http://schemas.openxmlformats.org/drawingml/2006/main">
              <a:ext uri="{FF2B5EF4-FFF2-40B4-BE49-F238E27FC236}">
                <a16:creationId xmlns:a16="http://schemas.microsoft.com/office/drawing/2014/main" id="{7A9FA86C-5DF0-44F8-A2E7-4FF3ECC2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600325"/>
            <a:ext cx="2562225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3" name="header_2">
            <a:extLst xmlns:a="http://schemas.openxmlformats.org/drawingml/2006/main">
              <a:ext uri="{FF2B5EF4-FFF2-40B4-BE49-F238E27FC236}">
                <a16:creationId xmlns:a16="http://schemas.microsoft.com/office/drawing/2014/main" id="{8E68BFD2-633E-4132-A5B3-D336F442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9555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16B"/>
          </a:solidFill>
        </p:spPr>
      </p:sp>
      <p:sp>
        <p:nvSpPr>
          <p:cNvPr id="14" name="header_text_2">
            <a:extLst xmlns:a="http://schemas.openxmlformats.org/drawingml/2006/main">
              <a:ext uri="{FF2B5EF4-FFF2-40B4-BE49-F238E27FC236}">
                <a16:creationId xmlns:a16="http://schemas.microsoft.com/office/drawing/2014/main" id="{6455D341-AE1E-4108-9922-29650060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00325"/>
            <a:ext cx="480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Barcarolle 仍要回答</a:t>
            </a:r>
          </a:p>
        </p:txBody>
      </p:sp>
      <p:sp>
        <p:nvSpPr>
          <p:cNvPr id="15" name="row_0_0">
            <a:extLst xmlns:a="http://schemas.openxmlformats.org/drawingml/2006/main">
              <a:ext uri="{FF2B5EF4-FFF2-40B4-BE49-F238E27FC236}">
                <a16:creationId xmlns:a16="http://schemas.microsoft.com/office/drawing/2014/main" id="{432EC9F4-3455-4BE5-B1AC-DC5BB5CB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908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6" name="row_text_0_0">
            <a:extLst xmlns:a="http://schemas.openxmlformats.org/drawingml/2006/main">
              <a:ext uri="{FF2B5EF4-FFF2-40B4-BE49-F238E27FC236}">
                <a16:creationId xmlns:a16="http://schemas.microsoft.com/office/drawing/2014/main" id="{BCA4E405-9FBA-41F8-998D-DB94AB55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143250"/>
            <a:ext cx="177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Real tasks / quality</a:t>
            </a:r>
          </a:p>
        </p:txBody>
      </p:sp>
      <p:sp>
        <p:nvSpPr>
          <p:cNvPr id="17" name="row_0_1">
            <a:extLst xmlns:a="http://schemas.openxmlformats.org/drawingml/2006/main">
              <a:ext uri="{FF2B5EF4-FFF2-40B4-BE49-F238E27FC236}">
                <a16:creationId xmlns:a16="http://schemas.microsoft.com/office/drawing/2014/main" id="{02795C9B-507D-4E07-8EBE-3C769813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990850"/>
            <a:ext cx="2714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8" name="row_text_0_1">
            <a:extLst xmlns:a="http://schemas.openxmlformats.org/drawingml/2006/main">
              <a:ext uri="{FF2B5EF4-FFF2-40B4-BE49-F238E27FC236}">
                <a16:creationId xmlns:a16="http://schemas.microsoft.com/office/drawing/2014/main" id="{DC96184E-DD36-4BD4-A5D3-1AF7D0D3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143250"/>
            <a:ext cx="2486025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SWE-bench</a:t>
            </a:r>
          </a:p>
          <a:p xmlns:a="http://schemas.openxmlformats.org/drawingml/2006/main">
            <a:pPr algn="l">
              <a:def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SWE-bench Verified</a:t>
            </a:r>
          </a:p>
        </p:txBody>
      </p:sp>
      <p:sp>
        <p:nvSpPr>
          <p:cNvPr id="19" name="row_0_2">
            <a:extLst xmlns:a="http://schemas.openxmlformats.org/drawingml/2006/main">
              <a:ext uri="{FF2B5EF4-FFF2-40B4-BE49-F238E27FC236}">
                <a16:creationId xmlns:a16="http://schemas.microsoft.com/office/drawing/2014/main" id="{EA01017C-7032-4218-A714-29EF33D3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9085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0" name="row_text_0_2">
            <a:extLst xmlns:a="http://schemas.openxmlformats.org/drawingml/2006/main">
              <a:ext uri="{FF2B5EF4-FFF2-40B4-BE49-F238E27FC236}">
                <a16:creationId xmlns:a16="http://schemas.microsoft.com/office/drawing/2014/main" id="{8FEBF1FE-631C-4693-AE07-9961A66E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4325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哪些目标仓库任务进入冻结 release，quality gate 怎样进入 selection 规则。</a:t>
            </a:r>
          </a:p>
        </p:txBody>
      </p:sp>
      <p:sp>
        <p:nvSpPr>
          <p:cNvPr id="21" name="row_1_0">
            <a:extLst xmlns:a="http://schemas.openxmlformats.org/drawingml/2006/main">
              <a:ext uri="{FF2B5EF4-FFF2-40B4-BE49-F238E27FC236}">
                <a16:creationId xmlns:a16="http://schemas.microsoft.com/office/drawing/2014/main" id="{48153A9B-2C84-4F47-AEAA-D2E33729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576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2"/>
          </a:solidFill>
        </p:spPr>
      </p:sp>
      <p:sp>
        <p:nvSpPr>
          <p:cNvPr id="22" name="row_text_1_0">
            <a:extLst xmlns:a="http://schemas.openxmlformats.org/drawingml/2006/main">
              <a:ext uri="{FF2B5EF4-FFF2-40B4-BE49-F238E27FC236}">
                <a16:creationId xmlns:a16="http://schemas.microsoft.com/office/drawing/2014/main" id="{7EF6657A-60D0-40F5-AFB0-484BF2F7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210050"/>
            <a:ext cx="177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Freshness / scale</a:t>
            </a:r>
          </a:p>
        </p:txBody>
      </p:sp>
      <p:sp>
        <p:nvSpPr>
          <p:cNvPr id="23" name="row_1_1">
            <a:extLst xmlns:a="http://schemas.openxmlformats.org/drawingml/2006/main">
              <a:ext uri="{FF2B5EF4-FFF2-40B4-BE49-F238E27FC236}">
                <a16:creationId xmlns:a16="http://schemas.microsoft.com/office/drawing/2014/main" id="{957B1B2A-9D79-4AA5-BB14-09A79CC4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057650"/>
            <a:ext cx="2714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2"/>
          </a:solidFill>
        </p:spPr>
      </p:sp>
      <p:sp>
        <p:nvSpPr>
          <p:cNvPr id="24" name="row_text_1_1">
            <a:extLst xmlns:a="http://schemas.openxmlformats.org/drawingml/2006/main">
              <a:ext uri="{FF2B5EF4-FFF2-40B4-BE49-F238E27FC236}">
                <a16:creationId xmlns:a16="http://schemas.microsoft.com/office/drawing/2014/main" id="{2846651C-BF09-4FCF-817D-021A8FF8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210050"/>
            <a:ext cx="2486025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SWE-bench-Live</a:t>
            </a:r>
          </a:p>
          <a:p xmlns:a="http://schemas.openxmlformats.org/drawingml/2006/main">
            <a:pPr algn="l">
              <a:def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SWE-Bench++</a:t>
            </a:r>
          </a:p>
          <a:p xmlns:a="http://schemas.openxmlformats.org/drawingml/2006/main">
            <a:pPr algn="l">
              <a:def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SWE-smith</a:t>
            </a:r>
          </a:p>
        </p:txBody>
      </p:sp>
      <p:sp>
        <p:nvSpPr>
          <p:cNvPr id="25" name="row_1_2">
            <a:extLst xmlns:a="http://schemas.openxmlformats.org/drawingml/2006/main">
              <a:ext uri="{FF2B5EF4-FFF2-40B4-BE49-F238E27FC236}">
                <a16:creationId xmlns:a16="http://schemas.microsoft.com/office/drawing/2014/main" id="{7577D4D6-5A80-45DE-BBEF-E5AF2468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5765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2"/>
          </a:solidFill>
        </p:spPr>
      </p:sp>
      <p:sp>
        <p:nvSpPr>
          <p:cNvPr id="26" name="row_text_1_2">
            <a:extLst xmlns:a="http://schemas.openxmlformats.org/drawingml/2006/main">
              <a:ext uri="{FF2B5EF4-FFF2-40B4-BE49-F238E27FC236}">
                <a16:creationId xmlns:a16="http://schemas.microsoft.com/office/drawing/2014/main" id="{84DBABE4-53F3-4F3E-B812-4F7BFE8D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1005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fresh 或 generated supply 怎样认证、设 source caps，并在 outcome-unseen 条件下冻结。</a:t>
            </a:r>
          </a:p>
        </p:txBody>
      </p:sp>
      <p:sp>
        <p:nvSpPr>
          <p:cNvPr id="27" name="row_2_0">
            <a:extLst xmlns:a="http://schemas.openxmlformats.org/drawingml/2006/main">
              <a:ext uri="{FF2B5EF4-FFF2-40B4-BE49-F238E27FC236}">
                <a16:creationId xmlns:a16="http://schemas.microsoft.com/office/drawing/2014/main" id="{ED3A943A-D604-4BFB-A546-FEE72864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244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8" name="row_text_2_0">
            <a:extLst xmlns:a="http://schemas.openxmlformats.org/drawingml/2006/main">
              <a:ext uri="{FF2B5EF4-FFF2-40B4-BE49-F238E27FC236}">
                <a16:creationId xmlns:a16="http://schemas.microsoft.com/office/drawing/2014/main" id="{BBA80002-3B33-41CC-8C79-0A337C63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276850"/>
            <a:ext cx="177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Environments / verifiers</a:t>
            </a:r>
          </a:p>
        </p:txBody>
      </p:sp>
      <p:sp>
        <p:nvSpPr>
          <p:cNvPr id="29" name="row_2_1">
            <a:extLst xmlns:a="http://schemas.openxmlformats.org/drawingml/2006/main">
              <a:ext uri="{FF2B5EF4-FFF2-40B4-BE49-F238E27FC236}">
                <a16:creationId xmlns:a16="http://schemas.microsoft.com/office/drawing/2014/main" id="{15A46996-27B7-475F-AB90-2B17A431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5124450"/>
            <a:ext cx="2714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30" name="row_text_2_1">
            <a:extLst xmlns:a="http://schemas.openxmlformats.org/drawingml/2006/main">
              <a:ext uri="{FF2B5EF4-FFF2-40B4-BE49-F238E27FC236}">
                <a16:creationId xmlns:a16="http://schemas.microsoft.com/office/drawing/2014/main" id="{552E7381-93A0-4003-AAFA-E721E443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5276850"/>
            <a:ext cx="2486025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R2E-Gym</a:t>
            </a:r>
          </a:p>
        </p:txBody>
      </p:sp>
      <p:sp>
        <p:nvSpPr>
          <p:cNvPr id="31" name="row_2_2">
            <a:extLst xmlns:a="http://schemas.openxmlformats.org/drawingml/2006/main">
              <a:ext uri="{FF2B5EF4-FFF2-40B4-BE49-F238E27FC236}">
                <a16:creationId xmlns:a16="http://schemas.microsoft.com/office/drawing/2014/main" id="{587B1E26-B267-4707-800E-3AD04D2B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12445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32" name="row_text_2_2">
            <a:extLst xmlns:a="http://schemas.openxmlformats.org/drawingml/2006/main">
              <a:ext uri="{FF2B5EF4-FFF2-40B4-BE49-F238E27FC236}">
                <a16:creationId xmlns:a16="http://schemas.microsoft.com/office/drawing/2014/main" id="{42A2D461-A608-488C-B697-800B7AC0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7685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executable environment 怎样服务 release evidence，并保持 ACUT boundary 与 verifier material 隔离。</a:t>
            </a:r>
          </a:p>
        </p:txBody>
      </p:sp>
      <p:sp>
        <p:nvSpPr>
          <p:cNvPr id="33" name="synthesis_rule">
            <a:extLst xmlns:a="http://schemas.openxmlformats.org/drawingml/2006/main">
              <a:ext uri="{FF2B5EF4-FFF2-40B4-BE49-F238E27FC236}">
                <a16:creationId xmlns:a16="http://schemas.microsoft.com/office/drawing/2014/main" id="{9ECC94C6-E0B4-4D98-BFF5-9611C5C4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981700"/>
            <a:ext cx="781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34" name="related_synthesis">
            <a:extLst xmlns:a="http://schemas.openxmlformats.org/drawingml/2006/main">
              <a:ext uri="{FF2B5EF4-FFF2-40B4-BE49-F238E27FC236}">
                <a16:creationId xmlns:a16="http://schemas.microsoft.com/office/drawing/2014/main" id="{049452F3-A2F0-4CEC-AFB3-D3EE17C9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1341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candidate supply 越强，selection、support、fallback 和 future validation 的 compiler rules 越需要单独研究。</a:t>
            </a:r>
          </a:p>
        </p:txBody>
      </p:sp>
    </p:spTree>
    <p:extLst>
      <p:ext uri="{BB962C8B-B14F-4D97-AF65-F5344CB8AC3E}">
        <p14:creationId xmlns:p14="http://schemas.microsoft.com/office/powerpoint/2010/main" val="4255470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442EFF48-927C-43C8-A9C4-F7C6A953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title_rail">
            <a:extLst xmlns:a="http://schemas.openxmlformats.org/drawingml/2006/main">
              <a:ext uri="{FF2B5EF4-FFF2-40B4-BE49-F238E27FC236}">
                <a16:creationId xmlns:a16="http://schemas.microsoft.com/office/drawing/2014/main" id="{2BC892F8-D076-4052-B70C-64975126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2"/>
          </a:solidFill>
        </p:spPr>
      </p:sp>
      <p:sp>
        <p:nvSpPr>
          <p:cNvPr id="3" name="page_number">
            <a:extLst xmlns:a="http://schemas.openxmlformats.org/drawingml/2006/main">
              <a:ext uri="{FF2B5EF4-FFF2-40B4-BE49-F238E27FC236}">
                <a16:creationId xmlns:a16="http://schemas.microsoft.com/office/drawing/2014/main" id="{9855B77C-1EC5-418C-BCE3-F64BD25D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title_label">
            <a:extLst xmlns:a="http://schemas.openxmlformats.org/drawingml/2006/main">
              <a:ext uri="{FF2B5EF4-FFF2-40B4-BE49-F238E27FC236}">
                <a16:creationId xmlns:a16="http://schemas.microsoft.com/office/drawing/2014/main" id="{237B759B-3C4A-4BEF-ACEF-155B3E62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00100"/>
            <a:ext cx="571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研究目标</a:t>
            </a:r>
          </a:p>
        </p:txBody>
      </p:sp>
      <p:sp>
        <p:nvSpPr>
          <p:cNvPr id="5" name="main_title">
            <a:extLst xmlns:a="http://schemas.openxmlformats.org/drawingml/2006/main">
              <a:ext uri="{FF2B5EF4-FFF2-40B4-BE49-F238E27FC236}">
                <a16:creationId xmlns:a16="http://schemas.microsoft.com/office/drawing/2014/main" id="{645C9434-F921-4FA4-9843-295ECD59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北极星是 outcome-unseen predictive validity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219CC572-E0F2-4B26-936E-42AE5994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9334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benchmark score 要比简单替代方案更贴近未来真实表现。</a:t>
            </a:r>
          </a:p>
        </p:txBody>
      </p:sp>
      <p:sp>
        <p:nvSpPr>
          <p:cNvPr id="7" name="header_rule">
            <a:extLst xmlns:a="http://schemas.openxmlformats.org/drawingml/2006/main">
              <a:ext uri="{FF2B5EF4-FFF2-40B4-BE49-F238E27FC236}">
                <a16:creationId xmlns:a16="http://schemas.microsoft.com/office/drawing/2014/main" id="{34D47F94-6B4A-4274-94DA-6D24A15B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52550"/>
            <a:ext cx="967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8" name="formula_panel">
            <a:extLst xmlns:a="http://schemas.openxmlformats.org/drawingml/2006/main">
              <a:ext uri="{FF2B5EF4-FFF2-40B4-BE49-F238E27FC236}">
                <a16:creationId xmlns:a16="http://schemas.microsoft.com/office/drawing/2014/main" id="{1595D138-3CB7-406B-9AC3-3575A31C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24050"/>
            <a:ext cx="636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9" name="formula_text">
            <a:extLst xmlns:a="http://schemas.openxmlformats.org/drawingml/2006/main">
              <a:ext uri="{FF2B5EF4-FFF2-40B4-BE49-F238E27FC236}">
                <a16:creationId xmlns:a16="http://schemas.microsoft.com/office/drawing/2014/main" id="{5440060C-3B89-482F-9014-B9EA38F7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362200"/>
            <a:ext cx="567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202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Wᵣ(a) = E[success(a, future work in repo r)]</a:t>
            </a:r>
          </a:p>
        </p:txBody>
      </p:sp>
      <p:sp>
        <p:nvSpPr>
          <p:cNvPr id="10" name="formula_caption">
            <a:extLst xmlns:a="http://schemas.openxmlformats.org/drawingml/2006/main">
              <a:ext uri="{FF2B5EF4-FFF2-40B4-BE49-F238E27FC236}">
                <a16:creationId xmlns:a16="http://schemas.microsoft.com/office/drawing/2014/main" id="{4801E588-D28E-4489-86E1-9BF436AD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952750"/>
            <a:ext cx="36576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future target-repo ACUT success rate</a:t>
            </a:r>
          </a:p>
        </p:txBody>
      </p:sp>
      <p:sp>
        <p:nvSpPr>
          <p:cNvPr id="11" name="mae_panel_fill">
            <a:extLst xmlns:a="http://schemas.openxmlformats.org/drawingml/2006/main">
              <a:ext uri="{FF2B5EF4-FFF2-40B4-BE49-F238E27FC236}">
                <a16:creationId xmlns:a16="http://schemas.microsoft.com/office/drawing/2014/main" id="{6FD89AC6-4284-4DF3-8F6C-620F0F4B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24050"/>
            <a:ext cx="276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12" name="mae_panel_accent">
            <a:extLst xmlns:a="http://schemas.openxmlformats.org/drawingml/2006/main">
              <a:ext uri="{FF2B5EF4-FFF2-40B4-BE49-F238E27FC236}">
                <a16:creationId xmlns:a16="http://schemas.microsoft.com/office/drawing/2014/main" id="{58DC911A-CCE6-4125-8921-3DA78FA3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240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</p:spPr>
      </p:sp>
      <p:sp>
        <p:nvSpPr>
          <p:cNvPr id="13" name="mae_panel_title">
            <a:extLst xmlns:a="http://schemas.openxmlformats.org/drawingml/2006/main">
              <a:ext uri="{FF2B5EF4-FFF2-40B4-BE49-F238E27FC236}">
                <a16:creationId xmlns:a16="http://schemas.microsoft.com/office/drawing/2014/main" id="{7A566BDA-546C-4F09-9690-776C9994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76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MAE</a:t>
            </a:r>
          </a:p>
        </p:txBody>
      </p:sp>
      <p:sp>
        <p:nvSpPr>
          <p:cNvPr id="14" name="mae_panel_body">
            <a:extLst xmlns:a="http://schemas.openxmlformats.org/drawingml/2006/main">
              <a:ext uri="{FF2B5EF4-FFF2-40B4-BE49-F238E27FC236}">
                <a16:creationId xmlns:a16="http://schemas.microsoft.com/office/drawing/2014/main" id="{F601B920-B350-4496-AAD2-A9A028FD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00300"/>
            <a:ext cx="245745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benchmark 预测值和未来真实表现之间平均差多少；越低，预测越贴近未来结果。</a:t>
            </a:r>
          </a:p>
        </p:txBody>
      </p:sp>
      <p:sp>
        <p:nvSpPr>
          <p:cNvPr id="15" name="estimand_copy">
            <a:extLst xmlns:a="http://schemas.openxmlformats.org/drawingml/2006/main">
              <a:ext uri="{FF2B5EF4-FFF2-40B4-BE49-F238E27FC236}">
                <a16:creationId xmlns:a16="http://schemas.microsoft.com/office/drawing/2014/main" id="{EA20AC24-06BE-4EB1-93B4-639BBD2D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29050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W_r(a) 表示 agent 配置 a 在目标仓库 r 未来工作中的成功率。benchmark release 的 score 是这个未来成功率的候选预测值。</a:t>
            </a:r>
          </a:p>
        </p:txBody>
      </p:sp>
      <p:sp>
        <p:nvSpPr>
          <p:cNvPr id="16" name="distance_box_0">
            <a:extLst xmlns:a="http://schemas.openxmlformats.org/drawingml/2006/main">
              <a:ext uri="{FF2B5EF4-FFF2-40B4-BE49-F238E27FC236}">
                <a16:creationId xmlns:a16="http://schemas.microsoft.com/office/drawing/2014/main" id="{732F972A-5782-48F8-BB9E-F3048792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0292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17" name="distance_rule_0">
            <a:extLst xmlns:a="http://schemas.openxmlformats.org/drawingml/2006/main">
              <a:ext uri="{FF2B5EF4-FFF2-40B4-BE49-F238E27FC236}">
                <a16:creationId xmlns:a16="http://schemas.microsoft.com/office/drawing/2014/main" id="{2BD66810-5093-47B3-89F0-8C03A24B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4864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</p:spPr>
      </p:sp>
      <p:sp>
        <p:nvSpPr>
          <p:cNvPr id="18" name="distance_label_0">
            <a:extLst xmlns:a="http://schemas.openxmlformats.org/drawingml/2006/main">
              <a:ext uri="{FF2B5EF4-FFF2-40B4-BE49-F238E27FC236}">
                <a16:creationId xmlns:a16="http://schemas.microsoft.com/office/drawing/2014/main" id="{D4A01ED8-89EB-4DE1-BCE6-E8E4F4D6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1625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benchmark estimate</a:t>
            </a:r>
          </a:p>
        </p:txBody>
      </p:sp>
      <p:sp>
        <p:nvSpPr>
          <p:cNvPr id="19" name="distance_box_1">
            <a:extLst xmlns:a="http://schemas.openxmlformats.org/drawingml/2006/main">
              <a:ext uri="{FF2B5EF4-FFF2-40B4-BE49-F238E27FC236}">
                <a16:creationId xmlns:a16="http://schemas.microsoft.com/office/drawing/2014/main" id="{6D1893BB-5CF4-4F52-A7EC-A0B35FEC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0292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5"/>
          </a:solidFill>
        </p:spPr>
      </p:sp>
      <p:sp>
        <p:nvSpPr>
          <p:cNvPr id="20" name="distance_rule_1">
            <a:extLst xmlns:a="http://schemas.openxmlformats.org/drawingml/2006/main">
              <a:ext uri="{FF2B5EF4-FFF2-40B4-BE49-F238E27FC236}">
                <a16:creationId xmlns:a16="http://schemas.microsoft.com/office/drawing/2014/main" id="{96A110F8-5E99-4D8C-9956-AE5B3664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4864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</p:spPr>
      </p:sp>
      <p:sp>
        <p:nvSpPr>
          <p:cNvPr id="21" name="distance_label_1">
            <a:extLst xmlns:a="http://schemas.openxmlformats.org/drawingml/2006/main">
              <a:ext uri="{FF2B5EF4-FFF2-40B4-BE49-F238E27FC236}">
                <a16:creationId xmlns:a16="http://schemas.microsoft.com/office/drawing/2014/main" id="{FAACD293-B772-4B2E-9907-0DF1725E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1625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observed future performance</a:t>
            </a:r>
          </a:p>
        </p:txBody>
      </p:sp>
      <p:sp>
        <p:nvSpPr>
          <p:cNvPr id="22" name="mae_distance_line">
            <a:extLst xmlns:a="http://schemas.openxmlformats.org/drawingml/2006/main">
              <a:ext uri="{FF2B5EF4-FFF2-40B4-BE49-F238E27FC236}">
                <a16:creationId xmlns:a16="http://schemas.microsoft.com/office/drawing/2014/main" id="{4603B69A-31DD-409A-A25C-4D7E9EF3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23875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23" name="mae_distance_label">
            <a:extLst xmlns:a="http://schemas.openxmlformats.org/drawingml/2006/main">
              <a:ext uri="{FF2B5EF4-FFF2-40B4-BE49-F238E27FC236}">
                <a16:creationId xmlns:a16="http://schemas.microsoft.com/office/drawing/2014/main" id="{2B55324A-E739-4FF9-BCFA-17D55222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6769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MAE distance</a:t>
            </a:r>
          </a:p>
        </p:txBody>
      </p:sp>
      <p:sp>
        <p:nvSpPr>
          <p:cNvPr id="24" name="claim_boundary_fill">
            <a:extLst xmlns:a="http://schemas.openxmlformats.org/drawingml/2006/main">
              <a:ext uri="{FF2B5EF4-FFF2-40B4-BE49-F238E27FC236}">
                <a16:creationId xmlns:a16="http://schemas.microsoft.com/office/drawing/2014/main" id="{55C87455-5535-4D35-9D79-A4563839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9575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5"/>
          </a:solidFill>
        </p:spPr>
      </p:sp>
      <p:sp>
        <p:nvSpPr>
          <p:cNvPr id="25" name="claim_boundary_accent">
            <a:extLst xmlns:a="http://schemas.openxmlformats.org/drawingml/2006/main">
              <a:ext uri="{FF2B5EF4-FFF2-40B4-BE49-F238E27FC236}">
                <a16:creationId xmlns:a16="http://schemas.microsoft.com/office/drawing/2014/main" id="{DA26E71D-9C0F-41F5-ACB3-AC3A5038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9575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</p:spPr>
      </p:sp>
      <p:sp>
        <p:nvSpPr>
          <p:cNvPr id="26" name="claim_boundary_title">
            <a:extLst xmlns:a="http://schemas.openxmlformats.org/drawingml/2006/main">
              <a:ext uri="{FF2B5EF4-FFF2-40B4-BE49-F238E27FC236}">
                <a16:creationId xmlns:a16="http://schemas.microsoft.com/office/drawing/2014/main" id="{D8401D2D-96CF-4E40-84B0-F348C183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481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claim boundary</a:t>
            </a:r>
          </a:p>
        </p:txBody>
      </p:sp>
      <p:sp>
        <p:nvSpPr>
          <p:cNvPr id="27" name="claim_boundary_body">
            <a:extLst xmlns:a="http://schemas.openxmlformats.org/drawingml/2006/main">
              <a:ext uri="{FF2B5EF4-FFF2-40B4-BE49-F238E27FC236}">
                <a16:creationId xmlns:a16="http://schemas.microsoft.com/office/drawing/2014/main" id="{DF936084-7817-4C79-B6F2-4EDF920D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72000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当前证据提供 traction 和验证路线；预测效度尚未建立。</a:t>
            </a:r>
          </a:p>
        </p:txBody>
      </p:sp>
      <p:sp>
        <p:nvSpPr>
          <p:cNvPr id="28" name="claim_note">
            <a:extLst xmlns:a="http://schemas.openxmlformats.org/drawingml/2006/main">
              <a:ext uri="{FF2B5EF4-FFF2-40B4-BE49-F238E27FC236}">
                <a16:creationId xmlns:a16="http://schemas.microsoft.com/office/drawing/2014/main" id="{B7C39D00-747C-46FE-962A-C3C187F1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6388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正式声明需要 frozen release、fixed ACUT、baseline suite、invalid-cell policy 和 outcome-unseen score join。</a:t>
            </a:r>
          </a:p>
        </p:txBody>
      </p:sp>
    </p:spTree>
    <p:extLst>
      <p:ext uri="{BB962C8B-B14F-4D97-AF65-F5344CB8AC3E}">
        <p14:creationId xmlns:p14="http://schemas.microsoft.com/office/powerpoint/2010/main" val="3235266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FCCCA9BF-AF55-44AD-A382-CE2276E4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title_rail">
            <a:extLst xmlns:a="http://schemas.openxmlformats.org/drawingml/2006/main">
              <a:ext uri="{FF2B5EF4-FFF2-40B4-BE49-F238E27FC236}">
                <a16:creationId xmlns:a16="http://schemas.microsoft.com/office/drawing/2014/main" id="{050AA6D2-10A3-4B5F-B52F-3076AD51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2"/>
          </a:solidFill>
        </p:spPr>
      </p:sp>
      <p:sp>
        <p:nvSpPr>
          <p:cNvPr id="3" name="page_number">
            <a:extLst xmlns:a="http://schemas.openxmlformats.org/drawingml/2006/main">
              <a:ext uri="{FF2B5EF4-FFF2-40B4-BE49-F238E27FC236}">
                <a16:creationId xmlns:a16="http://schemas.microsoft.com/office/drawing/2014/main" id="{89772CE9-FEBF-4C16-BD76-60D8A499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" name="title_label">
            <a:extLst xmlns:a="http://schemas.openxmlformats.org/drawingml/2006/main">
              <a:ext uri="{FF2B5EF4-FFF2-40B4-BE49-F238E27FC236}">
                <a16:creationId xmlns:a16="http://schemas.microsoft.com/office/drawing/2014/main" id="{3D936F21-84C2-4C01-B4FA-749A29A2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00100"/>
            <a:ext cx="571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方法</a:t>
            </a:r>
          </a:p>
        </p:txBody>
      </p:sp>
      <p:sp>
        <p:nvSpPr>
          <p:cNvPr id="5" name="main_title">
            <a:extLst xmlns:a="http://schemas.openxmlformats.org/drawingml/2006/main">
              <a:ext uri="{FF2B5EF4-FFF2-40B4-BE49-F238E27FC236}">
                <a16:creationId xmlns:a16="http://schemas.microsoft.com/office/drawing/2014/main" id="{76181FF4-C332-49E2-9F96-B395571B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把候选任务编译成可审计 release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7494E748-C6FC-4AA8-ADAC-DE531488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9334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从 supply 到 assembly 的每一层都会影响未来估计。</a:t>
            </a:r>
          </a:p>
        </p:txBody>
      </p:sp>
      <p:sp>
        <p:nvSpPr>
          <p:cNvPr id="7" name="header_rule">
            <a:extLst xmlns:a="http://schemas.openxmlformats.org/drawingml/2006/main">
              <a:ext uri="{FF2B5EF4-FFF2-40B4-BE49-F238E27FC236}">
                <a16:creationId xmlns:a16="http://schemas.microsoft.com/office/drawing/2014/main" id="{20C831EE-3150-451E-9AF1-B9068480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52550"/>
            <a:ext cx="967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8" name="method_copy">
            <a:extLst xmlns:a="http://schemas.openxmlformats.org/drawingml/2006/main">
              <a:ext uri="{FF2B5EF4-FFF2-40B4-BE49-F238E27FC236}">
                <a16:creationId xmlns:a16="http://schemas.microsoft.com/office/drawing/2014/main" id="{8E79027D-76EF-43FF-BC7A-20079927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57350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候选任务先经过认证，再按目标工作画像、support 约束、selection rule、split 和 fallback labels 组装成可冻结 release。</a:t>
            </a:r>
          </a:p>
        </p:txBody>
      </p:sp>
      <p:sp>
        <p:nvSpPr>
          <p:cNvPr id="9" name="stage_0_fill">
            <a:extLst xmlns:a="http://schemas.openxmlformats.org/drawingml/2006/main">
              <a:ext uri="{FF2B5EF4-FFF2-40B4-BE49-F238E27FC236}">
                <a16:creationId xmlns:a16="http://schemas.microsoft.com/office/drawing/2014/main" id="{846DB6AD-4DE8-48D2-A9CA-2D0076B9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05100"/>
            <a:ext cx="1409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10" name="stage_0_rule">
            <a:extLst xmlns:a="http://schemas.openxmlformats.org/drawingml/2006/main">
              <a:ext uri="{FF2B5EF4-FFF2-40B4-BE49-F238E27FC236}">
                <a16:creationId xmlns:a16="http://schemas.microsoft.com/office/drawing/2014/main" id="{B85A105D-E1E3-41B3-83E0-68E120A5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051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</p:spPr>
      </p:sp>
      <p:sp>
        <p:nvSpPr>
          <p:cNvPr id="11" name="stage_0_label">
            <a:extLst xmlns:a="http://schemas.openxmlformats.org/drawingml/2006/main">
              <a:ext uri="{FF2B5EF4-FFF2-40B4-BE49-F238E27FC236}">
                <a16:creationId xmlns:a16="http://schemas.microsoft.com/office/drawing/2014/main" id="{B11FF2BA-3D27-4558-8D94-CCDAC5C8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956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1  候选供应</a:t>
            </a:r>
          </a:p>
        </p:txBody>
      </p:sp>
      <p:sp>
        <p:nvSpPr>
          <p:cNvPr id="12" name="stage_0_body">
            <a:extLst xmlns:a="http://schemas.openxmlformats.org/drawingml/2006/main">
              <a:ext uri="{FF2B5EF4-FFF2-40B4-BE49-F238E27FC236}">
                <a16:creationId xmlns:a16="http://schemas.microsoft.com/office/drawing/2014/main" id="{15BACAC4-9A72-4144-879F-402DF6B9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52800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repo history</a:t>
            </a:r>
          </a:p>
          <a:p xmlns:a="http://schemas.openxmlformats.org/drawingml/2006/main">
            <a:pPr algn="l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public context</a:t>
            </a:r>
          </a:p>
          <a:p xmlns:a="http://schemas.openxmlformats.org/drawingml/2006/main">
            <a:pPr algn="l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generated tasks</a:t>
            </a:r>
          </a:p>
        </p:txBody>
      </p:sp>
      <p:sp>
        <p:nvSpPr>
          <p:cNvPr id="13" name="stage_0_connector">
            <a:extLst xmlns:a="http://schemas.openxmlformats.org/drawingml/2006/main">
              <a:ext uri="{FF2B5EF4-FFF2-40B4-BE49-F238E27FC236}">
                <a16:creationId xmlns:a16="http://schemas.microsoft.com/office/drawing/2014/main" id="{EC50E975-0378-44EC-9858-7D4089D5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099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14" name="stage_1_fill">
            <a:extLst xmlns:a="http://schemas.openxmlformats.org/drawingml/2006/main">
              <a:ext uri="{FF2B5EF4-FFF2-40B4-BE49-F238E27FC236}">
                <a16:creationId xmlns:a16="http://schemas.microsoft.com/office/drawing/2014/main" id="{3908F3A3-479E-4AA9-9A18-9E76ECE1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05100"/>
            <a:ext cx="1409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5"/>
          </a:solidFill>
        </p:spPr>
      </p:sp>
      <p:sp>
        <p:nvSpPr>
          <p:cNvPr id="15" name="stage_1_rule">
            <a:extLst xmlns:a="http://schemas.openxmlformats.org/drawingml/2006/main">
              <a:ext uri="{FF2B5EF4-FFF2-40B4-BE49-F238E27FC236}">
                <a16:creationId xmlns:a16="http://schemas.microsoft.com/office/drawing/2014/main" id="{6F91DA02-90E7-4109-B34A-00AEDE81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051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</p:spPr>
      </p:sp>
      <p:sp>
        <p:nvSpPr>
          <p:cNvPr id="16" name="stage_1_label">
            <a:extLst xmlns:a="http://schemas.openxmlformats.org/drawingml/2006/main">
              <a:ext uri="{FF2B5EF4-FFF2-40B4-BE49-F238E27FC236}">
                <a16:creationId xmlns:a16="http://schemas.microsoft.com/office/drawing/2014/main" id="{1FAF7B5C-7E55-450C-A9F4-11B73FD6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956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2  任务认证</a:t>
            </a:r>
          </a:p>
        </p:txBody>
      </p:sp>
      <p:sp>
        <p:nvSpPr>
          <p:cNvPr id="17" name="stage_1_body">
            <a:extLst xmlns:a="http://schemas.openxmlformats.org/drawingml/2006/main">
              <a:ext uri="{FF2B5EF4-FFF2-40B4-BE49-F238E27FC236}">
                <a16:creationId xmlns:a16="http://schemas.microsoft.com/office/drawing/2014/main" id="{528718B0-CDF2-4311-B74B-FD09878E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52800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replayability</a:t>
            </a:r>
          </a:p>
          <a:p xmlns:a="http://schemas.openxmlformats.org/drawingml/2006/main">
            <a:pPr algn="l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oracle</a:t>
            </a:r>
          </a:p>
          <a:p xmlns:a="http://schemas.openxmlformats.org/drawingml/2006/main">
            <a:pPr algn="l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leakage</a:t>
            </a:r>
          </a:p>
          <a:p xmlns:a="http://schemas.openxmlformats.org/drawingml/2006/main">
            <a:pPr algn="l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source quality</a:t>
            </a:r>
          </a:p>
        </p:txBody>
      </p:sp>
      <p:sp>
        <p:nvSpPr>
          <p:cNvPr id="18" name="stage_1_connector">
            <a:extLst xmlns:a="http://schemas.openxmlformats.org/drawingml/2006/main">
              <a:ext uri="{FF2B5EF4-FFF2-40B4-BE49-F238E27FC236}">
                <a16:creationId xmlns:a16="http://schemas.microsoft.com/office/drawing/2014/main" id="{B884EFEB-CF1D-4742-94C6-CD8FCFE8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099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19" name="stage_2_fill">
            <a:extLst xmlns:a="http://schemas.openxmlformats.org/drawingml/2006/main">
              <a:ext uri="{FF2B5EF4-FFF2-40B4-BE49-F238E27FC236}">
                <a16:creationId xmlns:a16="http://schemas.microsoft.com/office/drawing/2014/main" id="{F0E69E81-C8EC-4B00-8725-0B7E65DA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05100"/>
            <a:ext cx="1409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4"/>
          </a:solidFill>
        </p:spPr>
      </p:sp>
      <p:sp>
        <p:nvSpPr>
          <p:cNvPr id="20" name="stage_2_rule">
            <a:extLst xmlns:a="http://schemas.openxmlformats.org/drawingml/2006/main">
              <a:ext uri="{FF2B5EF4-FFF2-40B4-BE49-F238E27FC236}">
                <a16:creationId xmlns:a16="http://schemas.microsoft.com/office/drawing/2014/main" id="{5A0CE23A-2BC0-4095-A596-85D12EAB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051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A2D"/>
          </a:solidFill>
        </p:spPr>
      </p:sp>
      <p:sp>
        <p:nvSpPr>
          <p:cNvPr id="21" name="stage_2_label">
            <a:extLst xmlns:a="http://schemas.openxmlformats.org/drawingml/2006/main">
              <a:ext uri="{FF2B5EF4-FFF2-40B4-BE49-F238E27FC236}">
                <a16:creationId xmlns:a16="http://schemas.microsoft.com/office/drawing/2014/main" id="{3FC265F3-0590-433C-9EC1-F035270D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956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3  目标画像</a:t>
            </a:r>
          </a:p>
        </p:txBody>
      </p:sp>
      <p:sp>
        <p:nvSpPr>
          <p:cNvPr id="22" name="stage_2_body">
            <a:extLst xmlns:a="http://schemas.openxmlformats.org/drawingml/2006/main">
              <a:ext uri="{FF2B5EF4-FFF2-40B4-BE49-F238E27FC236}">
                <a16:creationId xmlns:a16="http://schemas.microsoft.com/office/drawing/2014/main" id="{4669EBA6-6E1D-4A22-9A31-8837D061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52800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strata</a:t>
            </a:r>
          </a:p>
          <a:p xmlns:a="http://schemas.openxmlformats.org/drawingml/2006/main">
            <a:pPr algn="l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support</a:t>
            </a:r>
          </a:p>
          <a:p xmlns:a="http://schemas.openxmlformats.org/drawingml/2006/main">
            <a:pPr algn="l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uncertainty</a:t>
            </a:r>
          </a:p>
        </p:txBody>
      </p:sp>
      <p:sp>
        <p:nvSpPr>
          <p:cNvPr id="23" name="stage_2_connector">
            <a:extLst xmlns:a="http://schemas.openxmlformats.org/drawingml/2006/main">
              <a:ext uri="{FF2B5EF4-FFF2-40B4-BE49-F238E27FC236}">
                <a16:creationId xmlns:a16="http://schemas.microsoft.com/office/drawing/2014/main" id="{6608B123-4DF8-4311-949E-2A6F9339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099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24" name="stage_3_fill">
            <a:extLst xmlns:a="http://schemas.openxmlformats.org/drawingml/2006/main">
              <a:ext uri="{FF2B5EF4-FFF2-40B4-BE49-F238E27FC236}">
                <a16:creationId xmlns:a16="http://schemas.microsoft.com/office/drawing/2014/main" id="{A44686F1-286A-4714-9260-AB8A2E96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1409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F5"/>
          </a:solidFill>
        </p:spPr>
      </p:sp>
      <p:sp>
        <p:nvSpPr>
          <p:cNvPr id="25" name="stage_3_rule">
            <a:extLst xmlns:a="http://schemas.openxmlformats.org/drawingml/2006/main">
              <a:ext uri="{FF2B5EF4-FFF2-40B4-BE49-F238E27FC236}">
                <a16:creationId xmlns:a16="http://schemas.microsoft.com/office/drawing/2014/main" id="{6FA2D25C-29F4-406E-A0FE-BDDB284A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5EA8"/>
          </a:solidFill>
        </p:spPr>
      </p:sp>
      <p:sp>
        <p:nvSpPr>
          <p:cNvPr id="26" name="stage_3_label">
            <a:extLst xmlns:a="http://schemas.openxmlformats.org/drawingml/2006/main">
              <a:ext uri="{FF2B5EF4-FFF2-40B4-BE49-F238E27FC236}">
                <a16:creationId xmlns:a16="http://schemas.microsoft.com/office/drawing/2014/main" id="{5A3E93BA-AB94-4BE9-8433-8CC9856C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956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4  组装规则</a:t>
            </a:r>
          </a:p>
        </p:txBody>
      </p:sp>
      <p:sp>
        <p:nvSpPr>
          <p:cNvPr id="27" name="stage_3_body">
            <a:extLst xmlns:a="http://schemas.openxmlformats.org/drawingml/2006/main">
              <a:ext uri="{FF2B5EF4-FFF2-40B4-BE49-F238E27FC236}">
                <a16:creationId xmlns:a16="http://schemas.microsoft.com/office/drawing/2014/main" id="{3C888D54-EE24-4CAF-B17B-4ECE4406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52800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selection</a:t>
            </a:r>
          </a:p>
          <a:p xmlns:a="http://schemas.openxmlformats.org/drawingml/2006/main">
            <a:pPr algn="l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split</a:t>
            </a:r>
          </a:p>
          <a:p xmlns:a="http://schemas.openxmlformats.org/drawingml/2006/main">
            <a:pPr algn="l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fallback labels</a:t>
            </a:r>
          </a:p>
        </p:txBody>
      </p:sp>
      <p:sp>
        <p:nvSpPr>
          <p:cNvPr id="28" name="stage_3_connector">
            <a:extLst xmlns:a="http://schemas.openxmlformats.org/drawingml/2006/main">
              <a:ext uri="{FF2B5EF4-FFF2-40B4-BE49-F238E27FC236}">
                <a16:creationId xmlns:a16="http://schemas.microsoft.com/office/drawing/2014/main" id="{3BBA1C06-B4B7-4AB4-BD48-391B766E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099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29" name="stage_4_fill">
            <a:extLst xmlns:a="http://schemas.openxmlformats.org/drawingml/2006/main">
              <a:ext uri="{FF2B5EF4-FFF2-40B4-BE49-F238E27FC236}">
                <a16:creationId xmlns:a16="http://schemas.microsoft.com/office/drawing/2014/main" id="{CD2A05C1-6444-4D16-9E95-09A1A236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05100"/>
            <a:ext cx="1409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B"/>
          </a:solidFill>
        </p:spPr>
      </p:sp>
      <p:sp>
        <p:nvSpPr>
          <p:cNvPr id="30" name="stage_4_rule">
            <a:extLst xmlns:a="http://schemas.openxmlformats.org/drawingml/2006/main">
              <a:ext uri="{FF2B5EF4-FFF2-40B4-BE49-F238E27FC236}">
                <a16:creationId xmlns:a16="http://schemas.microsoft.com/office/drawing/2014/main" id="{CD48DF2E-1ADB-4B27-8EA3-D61E5431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051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16B"/>
          </a:solidFill>
        </p:spPr>
      </p:sp>
      <p:sp>
        <p:nvSpPr>
          <p:cNvPr id="31" name="stage_4_label">
            <a:extLst xmlns:a="http://schemas.openxmlformats.org/drawingml/2006/main">
              <a:ext uri="{FF2B5EF4-FFF2-40B4-BE49-F238E27FC236}">
                <a16:creationId xmlns:a16="http://schemas.microsoft.com/office/drawing/2014/main" id="{4B464E22-4123-4B5C-A8D7-6C6202F0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956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5  冻结 release</a:t>
            </a:r>
          </a:p>
        </p:txBody>
      </p:sp>
      <p:sp>
        <p:nvSpPr>
          <p:cNvPr id="32" name="stage_4_body">
            <a:extLst xmlns:a="http://schemas.openxmlformats.org/drawingml/2006/main">
              <a:ext uri="{FF2B5EF4-FFF2-40B4-BE49-F238E27FC236}">
                <a16:creationId xmlns:a16="http://schemas.microsoft.com/office/drawing/2014/main" id="{F901B83D-2DA2-4138-896F-06B37257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52800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manifest</a:t>
            </a:r>
          </a:p>
          <a:p xmlns:a="http://schemas.openxmlformats.org/drawingml/2006/main">
            <a:pPr algn="l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task set</a:t>
            </a:r>
          </a:p>
          <a:p xmlns:a="http://schemas.openxmlformats.org/drawingml/2006/main">
            <a:pPr algn="l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ACUT boundary</a:t>
            </a:r>
          </a:p>
        </p:txBody>
      </p:sp>
      <p:sp>
        <p:nvSpPr>
          <p:cNvPr id="33" name="stage_4_connector">
            <a:extLst xmlns:a="http://schemas.openxmlformats.org/drawingml/2006/main">
              <a:ext uri="{FF2B5EF4-FFF2-40B4-BE49-F238E27FC236}">
                <a16:creationId xmlns:a16="http://schemas.microsoft.com/office/drawing/2014/main" id="{E5388EB0-DB59-40FB-9F8B-80E53D7E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099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34" name="stage_5_fill">
            <a:extLst xmlns:a="http://schemas.openxmlformats.org/drawingml/2006/main">
              <a:ext uri="{FF2B5EF4-FFF2-40B4-BE49-F238E27FC236}">
                <a16:creationId xmlns:a16="http://schemas.microsoft.com/office/drawing/2014/main" id="{52ECA1A6-051F-41B0-A04B-2D3483AC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05100"/>
            <a:ext cx="1409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FDC"/>
          </a:solidFill>
        </p:spPr>
      </p:sp>
      <p:sp>
        <p:nvSpPr>
          <p:cNvPr id="35" name="stage_5_rule">
            <a:extLst xmlns:a="http://schemas.openxmlformats.org/drawingml/2006/main">
              <a:ext uri="{FF2B5EF4-FFF2-40B4-BE49-F238E27FC236}">
                <a16:creationId xmlns:a16="http://schemas.microsoft.com/office/drawing/2014/main" id="{7DA5E4F2-C06D-418A-8F45-12C7F3D3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051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B3E"/>
          </a:solidFill>
        </p:spPr>
      </p:sp>
      <p:sp>
        <p:nvSpPr>
          <p:cNvPr id="36" name="stage_5_label">
            <a:extLst xmlns:a="http://schemas.openxmlformats.org/drawingml/2006/main">
              <a:ext uri="{FF2B5EF4-FFF2-40B4-BE49-F238E27FC236}">
                <a16:creationId xmlns:a16="http://schemas.microsoft.com/office/drawing/2014/main" id="{AB14423E-69A9-4385-B47D-1C19D0B5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956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6  score / refresh</a:t>
            </a:r>
          </a:p>
        </p:txBody>
      </p:sp>
      <p:sp>
        <p:nvSpPr>
          <p:cNvPr id="37" name="stage_5_body">
            <a:extLst xmlns:a="http://schemas.openxmlformats.org/drawingml/2006/main">
              <a:ext uri="{FF2B5EF4-FFF2-40B4-BE49-F238E27FC236}">
                <a16:creationId xmlns:a16="http://schemas.microsoft.com/office/drawing/2014/main" id="{83B23784-0B12-4898-86BB-6C7D34A9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352800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MAE</a:t>
            </a:r>
          </a:p>
          <a:p xmlns:a="http://schemas.openxmlformats.org/drawingml/2006/main">
            <a:pPr algn="l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baseline</a:t>
            </a:r>
          </a:p>
          <a:p xmlns:a="http://schemas.openxmlformats.org/drawingml/2006/main">
            <a:pPr algn="l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future validation</a:t>
            </a:r>
          </a:p>
        </p:txBody>
      </p:sp>
      <p:sp>
        <p:nvSpPr>
          <p:cNvPr id="38" name="dim_0_fill">
            <a:extLst xmlns:a="http://schemas.openxmlformats.org/drawingml/2006/main">
              <a:ext uri="{FF2B5EF4-FFF2-40B4-BE49-F238E27FC236}">
                <a16:creationId xmlns:a16="http://schemas.microsoft.com/office/drawing/2014/main" id="{1DAFF4B8-1992-4417-8ABF-0F5FD415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F"/>
          </a:solidFill>
        </p:spPr>
      </p:sp>
      <p:sp>
        <p:nvSpPr>
          <p:cNvPr id="39" name="dim_0_text">
            <a:extLst xmlns:a="http://schemas.openxmlformats.org/drawingml/2006/main">
              <a:ext uri="{FF2B5EF4-FFF2-40B4-BE49-F238E27FC236}">
                <a16:creationId xmlns:a16="http://schemas.microsoft.com/office/drawing/2014/main" id="{3D9043B8-60C9-4D50-AB8A-26C1B8A4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038725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3E7C59"/>
                </a:solidFill>
                <a:latin typeface="PingFang SC"/>
                <a:ea typeface="PingFang SC"/>
                <a:cs typeface="PingFang SC"/>
              </a:defRPr>
            </a:pPr>
            <a:r>
              <a:rPr sz="788">
                <a:solidFill>
                  <a:srgbClr val="3E7C59"/>
                </a:solidFill>
                <a:latin typeface="PingFang SC"/>
                <a:ea typeface="PingFang SC"/>
                <a:cs typeface="PingFang SC"/>
              </a:rPr>
              <a:t>replayability</a:t>
            </a:r>
          </a:p>
        </p:txBody>
      </p:sp>
      <p:sp>
        <p:nvSpPr>
          <p:cNvPr id="40" name="dim_1_fill">
            <a:extLst xmlns:a="http://schemas.openxmlformats.org/drawingml/2006/main">
              <a:ext uri="{FF2B5EF4-FFF2-40B4-BE49-F238E27FC236}">
                <a16:creationId xmlns:a16="http://schemas.microsoft.com/office/drawing/2014/main" id="{A911EFC1-ABBE-4A42-9937-6CBCD302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9530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F"/>
          </a:solidFill>
        </p:spPr>
      </p:sp>
      <p:sp>
        <p:nvSpPr>
          <p:cNvPr id="41" name="dim_1_text">
            <a:extLst xmlns:a="http://schemas.openxmlformats.org/drawingml/2006/main">
              <a:ext uri="{FF2B5EF4-FFF2-40B4-BE49-F238E27FC236}">
                <a16:creationId xmlns:a16="http://schemas.microsoft.com/office/drawing/2014/main" id="{F1608AC3-EEB6-4C19-B026-C9EA1B54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038725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3E7C59"/>
                </a:solidFill>
                <a:latin typeface="PingFang SC"/>
                <a:ea typeface="PingFang SC"/>
                <a:cs typeface="PingFang SC"/>
              </a:defRPr>
            </a:pPr>
            <a:r>
              <a:rPr sz="788">
                <a:solidFill>
                  <a:srgbClr val="3E7C59"/>
                </a:solidFill>
                <a:latin typeface="PingFang SC"/>
                <a:ea typeface="PingFang SC"/>
                <a:cs typeface="PingFang SC"/>
              </a:rPr>
              <a:t>oracle</a:t>
            </a:r>
          </a:p>
        </p:txBody>
      </p:sp>
      <p:sp>
        <p:nvSpPr>
          <p:cNvPr id="42" name="dim_2_fill">
            <a:extLst xmlns:a="http://schemas.openxmlformats.org/drawingml/2006/main">
              <a:ext uri="{FF2B5EF4-FFF2-40B4-BE49-F238E27FC236}">
                <a16:creationId xmlns:a16="http://schemas.microsoft.com/office/drawing/2014/main" id="{2B124EC6-1F7A-4931-A9AA-BB9F9822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9530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F"/>
          </a:solidFill>
        </p:spPr>
      </p:sp>
      <p:sp>
        <p:nvSpPr>
          <p:cNvPr id="43" name="dim_2_text">
            <a:extLst xmlns:a="http://schemas.openxmlformats.org/drawingml/2006/main">
              <a:ext uri="{FF2B5EF4-FFF2-40B4-BE49-F238E27FC236}">
                <a16:creationId xmlns:a16="http://schemas.microsoft.com/office/drawing/2014/main" id="{9305A81E-6989-40D9-9DD3-46A75447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038725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3E7C59"/>
                </a:solidFill>
                <a:latin typeface="PingFang SC"/>
                <a:ea typeface="PingFang SC"/>
                <a:cs typeface="PingFang SC"/>
              </a:defRPr>
            </a:pPr>
            <a:r>
              <a:rPr sz="788">
                <a:solidFill>
                  <a:srgbClr val="3E7C59"/>
                </a:solidFill>
                <a:latin typeface="PingFang SC"/>
                <a:ea typeface="PingFang SC"/>
                <a:cs typeface="PingFang SC"/>
              </a:rPr>
              <a:t>leakage</a:t>
            </a:r>
          </a:p>
        </p:txBody>
      </p:sp>
      <p:sp>
        <p:nvSpPr>
          <p:cNvPr id="44" name="dim_3_fill">
            <a:extLst xmlns:a="http://schemas.openxmlformats.org/drawingml/2006/main">
              <a:ext uri="{FF2B5EF4-FFF2-40B4-BE49-F238E27FC236}">
                <a16:creationId xmlns:a16="http://schemas.microsoft.com/office/drawing/2014/main" id="{DC1A0C68-63F0-4AE5-BE7E-6AFC4684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9530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F"/>
          </a:solidFill>
        </p:spPr>
      </p:sp>
      <p:sp>
        <p:nvSpPr>
          <p:cNvPr id="45" name="dim_3_text">
            <a:extLst xmlns:a="http://schemas.openxmlformats.org/drawingml/2006/main">
              <a:ext uri="{FF2B5EF4-FFF2-40B4-BE49-F238E27FC236}">
                <a16:creationId xmlns:a16="http://schemas.microsoft.com/office/drawing/2014/main" id="{4F7EBEC9-E3CA-4FAD-94FE-6BEE96C4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038725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3E7C59"/>
                </a:solidFill>
                <a:latin typeface="PingFang SC"/>
                <a:ea typeface="PingFang SC"/>
                <a:cs typeface="PingFang SC"/>
              </a:defRPr>
            </a:pPr>
            <a:r>
              <a:rPr sz="788">
                <a:solidFill>
                  <a:srgbClr val="3E7C59"/>
                </a:solidFill>
                <a:latin typeface="PingFang SC"/>
                <a:ea typeface="PingFang SC"/>
                <a:cs typeface="PingFang SC"/>
              </a:rPr>
              <a:t>source quality</a:t>
            </a:r>
          </a:p>
        </p:txBody>
      </p:sp>
      <p:sp>
        <p:nvSpPr>
          <p:cNvPr id="46" name="dim_4_fill">
            <a:extLst xmlns:a="http://schemas.openxmlformats.org/drawingml/2006/main">
              <a:ext uri="{FF2B5EF4-FFF2-40B4-BE49-F238E27FC236}">
                <a16:creationId xmlns:a16="http://schemas.microsoft.com/office/drawing/2014/main" id="{7905F45E-8F43-4B4C-8D0F-9E5D1E08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530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F"/>
          </a:solidFill>
        </p:spPr>
      </p:sp>
      <p:sp>
        <p:nvSpPr>
          <p:cNvPr id="47" name="dim_4_text">
            <a:extLst xmlns:a="http://schemas.openxmlformats.org/drawingml/2006/main">
              <a:ext uri="{FF2B5EF4-FFF2-40B4-BE49-F238E27FC236}">
                <a16:creationId xmlns:a16="http://schemas.microsoft.com/office/drawing/2014/main" id="{A35A45B2-11D2-4D85-B9EB-43BAE7DA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38725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3E7C59"/>
                </a:solidFill>
                <a:latin typeface="PingFang SC"/>
                <a:ea typeface="PingFang SC"/>
                <a:cs typeface="PingFang SC"/>
              </a:defRPr>
            </a:pPr>
            <a:r>
              <a:rPr sz="788">
                <a:solidFill>
                  <a:srgbClr val="3E7C59"/>
                </a:solidFill>
                <a:latin typeface="PingFang SC"/>
                <a:ea typeface="PingFang SC"/>
                <a:cs typeface="PingFang SC"/>
              </a:rPr>
              <a:t>environment</a:t>
            </a:r>
          </a:p>
        </p:txBody>
      </p:sp>
      <p:sp>
        <p:nvSpPr>
          <p:cNvPr id="48" name="dim_5_fill">
            <a:extLst xmlns:a="http://schemas.openxmlformats.org/drawingml/2006/main">
              <a:ext uri="{FF2B5EF4-FFF2-40B4-BE49-F238E27FC236}">
                <a16:creationId xmlns:a16="http://schemas.microsoft.com/office/drawing/2014/main" id="{8821114B-05A8-4C1A-A445-C59A77E4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530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F"/>
          </a:solidFill>
        </p:spPr>
      </p:sp>
      <p:sp>
        <p:nvSpPr>
          <p:cNvPr id="49" name="dim_5_text">
            <a:extLst xmlns:a="http://schemas.openxmlformats.org/drawingml/2006/main">
              <a:ext uri="{FF2B5EF4-FFF2-40B4-BE49-F238E27FC236}">
                <a16:creationId xmlns:a16="http://schemas.microsoft.com/office/drawing/2014/main" id="{ABCD619C-9A0E-441A-9D72-E41866AD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38725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3E7C59"/>
                </a:solidFill>
                <a:latin typeface="PingFang SC"/>
                <a:ea typeface="PingFang SC"/>
                <a:cs typeface="PingFang SC"/>
              </a:defRPr>
            </a:pPr>
            <a:r>
              <a:rPr sz="788">
                <a:solidFill>
                  <a:srgbClr val="3E7C59"/>
                </a:solidFill>
                <a:latin typeface="PingFang SC"/>
                <a:ea typeface="PingFang SC"/>
                <a:cs typeface="PingFang SC"/>
              </a:rPr>
              <a:t>ambiguity</a:t>
            </a:r>
          </a:p>
        </p:txBody>
      </p:sp>
      <p:sp>
        <p:nvSpPr>
          <p:cNvPr id="50" name="method_note">
            <a:extLst xmlns:a="http://schemas.openxmlformats.org/drawingml/2006/main">
              <a:ext uri="{FF2B5EF4-FFF2-40B4-BE49-F238E27FC236}">
                <a16:creationId xmlns:a16="http://schemas.microsoft.com/office/drawing/2014/main" id="{7F002E38-0C9F-4E28-AF05-9ECC41E1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8864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这个流程只画一次；研究目标、执行边界和未来验证在后续页面分别展开。</a:t>
            </a:r>
          </a:p>
        </p:txBody>
      </p:sp>
    </p:spTree>
    <p:extLst>
      <p:ext uri="{BB962C8B-B14F-4D97-AF65-F5344CB8AC3E}">
        <p14:creationId xmlns:p14="http://schemas.microsoft.com/office/powerpoint/2010/main" val="101737894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0880F90F-358C-47EB-9A1B-1A6B4B68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title_rail">
            <a:extLst xmlns:a="http://schemas.openxmlformats.org/drawingml/2006/main">
              <a:ext uri="{FF2B5EF4-FFF2-40B4-BE49-F238E27FC236}">
                <a16:creationId xmlns:a16="http://schemas.microsoft.com/office/drawing/2014/main" id="{31706388-57CD-464E-B5A6-A9098213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2"/>
          </a:solidFill>
        </p:spPr>
      </p:sp>
      <p:sp>
        <p:nvSpPr>
          <p:cNvPr id="3" name="page_number">
            <a:extLst xmlns:a="http://schemas.openxmlformats.org/drawingml/2006/main">
              <a:ext uri="{FF2B5EF4-FFF2-40B4-BE49-F238E27FC236}">
                <a16:creationId xmlns:a16="http://schemas.microsoft.com/office/drawing/2014/main" id="{2C1F1C7A-CC40-4C6E-B46F-D4526660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" name="title_label">
            <a:extLst xmlns:a="http://schemas.openxmlformats.org/drawingml/2006/main">
              <a:ext uri="{FF2B5EF4-FFF2-40B4-BE49-F238E27FC236}">
                <a16:creationId xmlns:a16="http://schemas.microsoft.com/office/drawing/2014/main" id="{A66B5579-F663-47C4-8154-8C3804BE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00100"/>
            <a:ext cx="571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执行边界</a:t>
            </a:r>
          </a:p>
        </p:txBody>
      </p:sp>
      <p:sp>
        <p:nvSpPr>
          <p:cNvPr id="5" name="main_title">
            <a:extLst xmlns:a="http://schemas.openxmlformats.org/drawingml/2006/main">
              <a:ext uri="{FF2B5EF4-FFF2-40B4-BE49-F238E27FC236}">
                <a16:creationId xmlns:a16="http://schemas.microsoft.com/office/drawing/2014/main" id="{E5846393-8891-4DE8-A0B7-1EC2211D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solver 与 verifier 分离，hidden oracle 只在验证侧出现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B91DBB5C-8F63-4A56-B744-A0AFAB44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9334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Barcarolle 控制 benchmark-side protocol；ACUT 保留自己的 harness。</a:t>
            </a:r>
          </a:p>
        </p:txBody>
      </p:sp>
      <p:sp>
        <p:nvSpPr>
          <p:cNvPr id="7" name="header_rule">
            <a:extLst xmlns:a="http://schemas.openxmlformats.org/drawingml/2006/main">
              <a:ext uri="{FF2B5EF4-FFF2-40B4-BE49-F238E27FC236}">
                <a16:creationId xmlns:a16="http://schemas.microsoft.com/office/drawing/2014/main" id="{C7A6797F-0EF2-4D73-B525-E2543130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52550"/>
            <a:ext cx="967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8" name="boundary_copy">
            <a:extLst xmlns:a="http://schemas.openxmlformats.org/drawingml/2006/main">
              <a:ext uri="{FF2B5EF4-FFF2-40B4-BE49-F238E27FC236}">
                <a16:creationId xmlns:a16="http://schemas.microsoft.com/office/drawing/2014/main" id="{D57D94BE-DAE2-4BFF-8CD9-7A89B6D6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3830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163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Barcarolle 建立干净 solver workspace，给出 solver-visible statement 和允许上下文，捕获 ACUT diff；随后在 verifier workspace 注入 hidden oracle，并记录 score、cost、latency、terminal status 和 sanitized artifacts。</a:t>
            </a:r>
          </a:p>
        </p:txBody>
      </p:sp>
      <p:sp>
        <p:nvSpPr>
          <p:cNvPr id="9" name="boundary_0_fill">
            <a:extLst xmlns:a="http://schemas.openxmlformats.org/drawingml/2006/main">
              <a:ext uri="{FF2B5EF4-FFF2-40B4-BE49-F238E27FC236}">
                <a16:creationId xmlns:a16="http://schemas.microsoft.com/office/drawing/2014/main" id="{2C753B20-81C6-45B8-85BE-9BF786CF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38450"/>
            <a:ext cx="2667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10" name="boundary_0_accent">
            <a:extLst xmlns:a="http://schemas.openxmlformats.org/drawingml/2006/main">
              <a:ext uri="{FF2B5EF4-FFF2-40B4-BE49-F238E27FC236}">
                <a16:creationId xmlns:a16="http://schemas.microsoft.com/office/drawing/2014/main" id="{46ADD17E-FE53-46F6-B489-14F18970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38450"/>
            <a:ext cx="57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</p:spPr>
      </p:sp>
      <p:sp>
        <p:nvSpPr>
          <p:cNvPr id="11" name="boundary_0_title">
            <a:extLst xmlns:a="http://schemas.openxmlformats.org/drawingml/2006/main">
              <a:ext uri="{FF2B5EF4-FFF2-40B4-BE49-F238E27FC236}">
                <a16:creationId xmlns:a16="http://schemas.microsoft.com/office/drawing/2014/main" id="{00500DD5-8AA2-4CA6-9F3E-D177635C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90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solver workspace</a:t>
            </a:r>
          </a:p>
        </p:txBody>
      </p:sp>
      <p:sp>
        <p:nvSpPr>
          <p:cNvPr id="12" name="boundary_0_body">
            <a:extLst xmlns:a="http://schemas.openxmlformats.org/drawingml/2006/main">
              <a:ext uri="{FF2B5EF4-FFF2-40B4-BE49-F238E27FC236}">
                <a16:creationId xmlns:a16="http://schemas.microsoft.com/office/drawing/2014/main" id="{1C491959-67F6-4BF7-9482-A0E39082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14700"/>
            <a:ext cx="2362200" cy="895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允许上下文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solver-visible statement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ACUT harness 执行搜索、编辑和工具策略</a:t>
            </a:r>
          </a:p>
        </p:txBody>
      </p:sp>
      <p:sp>
        <p:nvSpPr>
          <p:cNvPr id="13" name="boundary_link_0">
            <a:extLst xmlns:a="http://schemas.openxmlformats.org/drawingml/2006/main">
              <a:ext uri="{FF2B5EF4-FFF2-40B4-BE49-F238E27FC236}">
                <a16:creationId xmlns:a16="http://schemas.microsoft.com/office/drawing/2014/main" id="{EB64C98C-1216-4E9C-A8D0-B0D111FD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004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14" name="boundary_1_fill">
            <a:extLst xmlns:a="http://schemas.openxmlformats.org/drawingml/2006/main">
              <a:ext uri="{FF2B5EF4-FFF2-40B4-BE49-F238E27FC236}">
                <a16:creationId xmlns:a16="http://schemas.microsoft.com/office/drawing/2014/main" id="{4582B507-80D6-48F8-9409-9B484881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38450"/>
            <a:ext cx="2667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4"/>
          </a:solidFill>
        </p:spPr>
      </p:sp>
      <p:sp>
        <p:nvSpPr>
          <p:cNvPr id="15" name="boundary_1_accent">
            <a:extLst xmlns:a="http://schemas.openxmlformats.org/drawingml/2006/main">
              <a:ext uri="{FF2B5EF4-FFF2-40B4-BE49-F238E27FC236}">
                <a16:creationId xmlns:a16="http://schemas.microsoft.com/office/drawing/2014/main" id="{15194B66-4B93-4185-9799-646160F9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38450"/>
            <a:ext cx="57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A2D"/>
          </a:solidFill>
        </p:spPr>
      </p:sp>
      <p:sp>
        <p:nvSpPr>
          <p:cNvPr id="16" name="boundary_1_title">
            <a:extLst xmlns:a="http://schemas.openxmlformats.org/drawingml/2006/main">
              <a:ext uri="{FF2B5EF4-FFF2-40B4-BE49-F238E27FC236}">
                <a16:creationId xmlns:a16="http://schemas.microsoft.com/office/drawing/2014/main" id="{916473E6-D0A5-4E13-B3D6-04AF5261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90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captured diff</a:t>
            </a:r>
          </a:p>
        </p:txBody>
      </p:sp>
      <p:sp>
        <p:nvSpPr>
          <p:cNvPr id="17" name="boundary_1_body">
            <a:extLst xmlns:a="http://schemas.openxmlformats.org/drawingml/2006/main">
              <a:ext uri="{FF2B5EF4-FFF2-40B4-BE49-F238E27FC236}">
                <a16:creationId xmlns:a16="http://schemas.microsoft.com/office/drawing/2014/main" id="{35381E1A-A83F-47D3-8309-A5EB3BFB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14700"/>
            <a:ext cx="2362200" cy="895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最终 workspace change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benchmark 只捕获 diff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solver 侧不出现 private oracle</a:t>
            </a:r>
          </a:p>
        </p:txBody>
      </p:sp>
      <p:sp>
        <p:nvSpPr>
          <p:cNvPr id="18" name="boundary_link_1">
            <a:extLst xmlns:a="http://schemas.openxmlformats.org/drawingml/2006/main">
              <a:ext uri="{FF2B5EF4-FFF2-40B4-BE49-F238E27FC236}">
                <a16:creationId xmlns:a16="http://schemas.microsoft.com/office/drawing/2014/main" id="{7AB3A0F3-4128-4195-BFA9-B146327D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6004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19" name="boundary_2_fill">
            <a:extLst xmlns:a="http://schemas.openxmlformats.org/drawingml/2006/main">
              <a:ext uri="{FF2B5EF4-FFF2-40B4-BE49-F238E27FC236}">
                <a16:creationId xmlns:a16="http://schemas.microsoft.com/office/drawing/2014/main" id="{466D0D8E-D0D1-463F-9F45-5A2A66CE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38450"/>
            <a:ext cx="2667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5"/>
          </a:solidFill>
        </p:spPr>
      </p:sp>
      <p:sp>
        <p:nvSpPr>
          <p:cNvPr id="20" name="boundary_2_accent">
            <a:extLst xmlns:a="http://schemas.openxmlformats.org/drawingml/2006/main">
              <a:ext uri="{FF2B5EF4-FFF2-40B4-BE49-F238E27FC236}">
                <a16:creationId xmlns:a16="http://schemas.microsoft.com/office/drawing/2014/main" id="{E11E8453-1F40-4837-A7A8-0F0A5DA0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38450"/>
            <a:ext cx="57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</p:spPr>
      </p:sp>
      <p:sp>
        <p:nvSpPr>
          <p:cNvPr id="21" name="boundary_2_title">
            <a:extLst xmlns:a="http://schemas.openxmlformats.org/drawingml/2006/main">
              <a:ext uri="{FF2B5EF4-FFF2-40B4-BE49-F238E27FC236}">
                <a16:creationId xmlns:a16="http://schemas.microsoft.com/office/drawing/2014/main" id="{9C89B05E-7610-41E2-B0D7-BF704548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90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verifier workspace</a:t>
            </a:r>
          </a:p>
        </p:txBody>
      </p:sp>
      <p:sp>
        <p:nvSpPr>
          <p:cNvPr id="22" name="boundary_2_body">
            <a:extLst xmlns:a="http://schemas.openxmlformats.org/drawingml/2006/main">
              <a:ext uri="{FF2B5EF4-FFF2-40B4-BE49-F238E27FC236}">
                <a16:creationId xmlns:a16="http://schemas.microsoft.com/office/drawing/2014/main" id="{F5A9A34B-8287-485A-8E15-DBF6EA9C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362200" cy="895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注入 hidden oracle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score / cost / latency / status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sanitized artifacts</a:t>
            </a:r>
          </a:p>
        </p:txBody>
      </p:sp>
      <p:sp>
        <p:nvSpPr>
          <p:cNvPr id="23" name="boundary_note_0_fill">
            <a:extLst xmlns:a="http://schemas.openxmlformats.org/drawingml/2006/main">
              <a:ext uri="{FF2B5EF4-FFF2-40B4-BE49-F238E27FC236}">
                <a16:creationId xmlns:a16="http://schemas.microsoft.com/office/drawing/2014/main" id="{D11ED44C-1A1F-4310-82E8-6DC2A9CD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67300"/>
            <a:ext cx="3429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F5"/>
          </a:solidFill>
        </p:spPr>
      </p:sp>
      <p:sp>
        <p:nvSpPr>
          <p:cNvPr id="24" name="boundary_note_0_accent">
            <a:extLst xmlns:a="http://schemas.openxmlformats.org/drawingml/2006/main">
              <a:ext uri="{FF2B5EF4-FFF2-40B4-BE49-F238E27FC236}">
                <a16:creationId xmlns:a16="http://schemas.microsoft.com/office/drawing/2014/main" id="{CDD264FB-4BE9-4B20-95D0-AF895E41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67300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5EA8"/>
          </a:solidFill>
        </p:spPr>
      </p:sp>
      <p:sp>
        <p:nvSpPr>
          <p:cNvPr id="25" name="boundary_note_0_title">
            <a:extLst xmlns:a="http://schemas.openxmlformats.org/drawingml/2006/main">
              <a:ext uri="{FF2B5EF4-FFF2-40B4-BE49-F238E27FC236}">
                <a16:creationId xmlns:a16="http://schemas.microsoft.com/office/drawing/2014/main" id="{0D4FDB92-08EE-4183-ADF0-6A776835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219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ACUT boundary</a:t>
            </a:r>
          </a:p>
        </p:txBody>
      </p:sp>
      <p:sp>
        <p:nvSpPr>
          <p:cNvPr id="26" name="boundary_note_0_body">
            <a:extLst xmlns:a="http://schemas.openxmlformats.org/drawingml/2006/main">
              <a:ext uri="{FF2B5EF4-FFF2-40B4-BE49-F238E27FC236}">
                <a16:creationId xmlns:a16="http://schemas.microsoft.com/office/drawing/2014/main" id="{1681026A-8E4B-4F70-945E-573BC81C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54355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报告按 named ACUT configuration 组织，保留 adapter / harness 差异。</a:t>
            </a:r>
          </a:p>
        </p:txBody>
      </p:sp>
      <p:sp>
        <p:nvSpPr>
          <p:cNvPr id="27" name="boundary_note_1_fill">
            <a:extLst xmlns:a="http://schemas.openxmlformats.org/drawingml/2006/main">
              <a:ext uri="{FF2B5EF4-FFF2-40B4-BE49-F238E27FC236}">
                <a16:creationId xmlns:a16="http://schemas.microsoft.com/office/drawing/2014/main" id="{D4F1D29E-2BBB-4E2C-B67E-C71DA17C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67300"/>
            <a:ext cx="3429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B"/>
          </a:solidFill>
        </p:spPr>
      </p:sp>
      <p:sp>
        <p:nvSpPr>
          <p:cNvPr id="28" name="boundary_note_1_accent">
            <a:extLst xmlns:a="http://schemas.openxmlformats.org/drawingml/2006/main">
              <a:ext uri="{FF2B5EF4-FFF2-40B4-BE49-F238E27FC236}">
                <a16:creationId xmlns:a16="http://schemas.microsoft.com/office/drawing/2014/main" id="{6AB98EEE-FA6F-43C8-8B40-802D0FD8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67300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16B"/>
          </a:solidFill>
        </p:spPr>
      </p:sp>
      <p:sp>
        <p:nvSpPr>
          <p:cNvPr id="29" name="boundary_note_1_title">
            <a:extLst xmlns:a="http://schemas.openxmlformats.org/drawingml/2006/main">
              <a:ext uri="{FF2B5EF4-FFF2-40B4-BE49-F238E27FC236}">
                <a16:creationId xmlns:a16="http://schemas.microsoft.com/office/drawing/2014/main" id="{F02FA303-30BD-4C5B-A236-DDFACA13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19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hidden oracle</a:t>
            </a:r>
          </a:p>
        </p:txBody>
      </p:sp>
      <p:sp>
        <p:nvSpPr>
          <p:cNvPr id="30" name="boundary_note_1_body">
            <a:extLst xmlns:a="http://schemas.openxmlformats.org/drawingml/2006/main">
              <a:ext uri="{FF2B5EF4-FFF2-40B4-BE49-F238E27FC236}">
                <a16:creationId xmlns:a16="http://schemas.microsoft.com/office/drawing/2014/main" id="{D2BF0423-24DF-44EE-B9E7-545703A3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54355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只作为 verifier-side validation material 出现。</a:t>
            </a:r>
          </a:p>
        </p:txBody>
      </p:sp>
      <p:sp>
        <p:nvSpPr>
          <p:cNvPr id="31" name="accounting_note">
            <a:extLst xmlns:a="http://schemas.openxmlformats.org/drawingml/2006/main">
              <a:ext uri="{FF2B5EF4-FFF2-40B4-BE49-F238E27FC236}">
                <a16:creationId xmlns:a16="http://schemas.microsoft.com/office/drawing/2014/main" id="{3025446B-0058-4FE4-9D68-FA4022BE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72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score、cost、latency 和 terminal status 与 sanitized artifacts 一起记录。</a:t>
            </a:r>
          </a:p>
        </p:txBody>
      </p:sp>
    </p:spTree>
    <p:extLst>
      <p:ext uri="{BB962C8B-B14F-4D97-AF65-F5344CB8AC3E}">
        <p14:creationId xmlns:p14="http://schemas.microsoft.com/office/powerpoint/2010/main" val="188972917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D93A5A09-328E-49B6-A65F-5296E64C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title_rail">
            <a:extLst xmlns:a="http://schemas.openxmlformats.org/drawingml/2006/main">
              <a:ext uri="{FF2B5EF4-FFF2-40B4-BE49-F238E27FC236}">
                <a16:creationId xmlns:a16="http://schemas.microsoft.com/office/drawing/2014/main" id="{6E65F055-E5FF-4741-BDE4-52F06D92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2"/>
          </a:solidFill>
        </p:spPr>
      </p:sp>
      <p:sp>
        <p:nvSpPr>
          <p:cNvPr id="3" name="page_number">
            <a:extLst xmlns:a="http://schemas.openxmlformats.org/drawingml/2006/main">
              <a:ext uri="{FF2B5EF4-FFF2-40B4-BE49-F238E27FC236}">
                <a16:creationId xmlns:a16="http://schemas.microsoft.com/office/drawing/2014/main" id="{2953A591-9AE8-4909-A12A-0EC8A11E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4" name="title_label">
            <a:extLst xmlns:a="http://schemas.openxmlformats.org/drawingml/2006/main">
              <a:ext uri="{FF2B5EF4-FFF2-40B4-BE49-F238E27FC236}">
                <a16:creationId xmlns:a16="http://schemas.microsoft.com/office/drawing/2014/main" id="{A74AF748-16F4-4C97-9109-72D07EB1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00100"/>
            <a:ext cx="571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算法问题</a:t>
            </a:r>
          </a:p>
        </p:txBody>
      </p:sp>
      <p:sp>
        <p:nvSpPr>
          <p:cNvPr id="5" name="main_title">
            <a:extLst xmlns:a="http://schemas.openxmlformats.org/drawingml/2006/main">
              <a:ext uri="{FF2B5EF4-FFF2-40B4-BE49-F238E27FC236}">
                <a16:creationId xmlns:a16="http://schemas.microsoft.com/office/drawing/2014/main" id="{B565DAD9-40EE-439C-A0B3-9E1CC2F8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task selection 会改变 target-repo estimate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1FE5E72A-3F6C-4618-A0B3-8C4DEFB2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9334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support、fallback 和 baseline comparison 是 compiler algorithm 的核心变量。</a:t>
            </a:r>
          </a:p>
        </p:txBody>
      </p:sp>
      <p:sp>
        <p:nvSpPr>
          <p:cNvPr id="7" name="header_rule">
            <a:extLst xmlns:a="http://schemas.openxmlformats.org/drawingml/2006/main">
              <a:ext uri="{FF2B5EF4-FFF2-40B4-BE49-F238E27FC236}">
                <a16:creationId xmlns:a16="http://schemas.microsoft.com/office/drawing/2014/main" id="{58D2547F-9629-4C7F-ACE1-D232A95A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52550"/>
            <a:ext cx="967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8" name="algorithm_copy">
            <a:extLst xmlns:a="http://schemas.openxmlformats.org/drawingml/2006/main">
              <a:ext uri="{FF2B5EF4-FFF2-40B4-BE49-F238E27FC236}">
                <a16:creationId xmlns:a16="http://schemas.microsoft.com/office/drawing/2014/main" id="{CC46C031-ECBC-450E-B40F-A366B540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3830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163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旧 weighted target-profile design 在 sparse support 下失效：attrs weighted gap 为 0.3148，boltons weighted gap 为 0.7481，高于 simple same-budget baselines 0.25 和 0.125。</a:t>
            </a:r>
          </a:p>
        </p:txBody>
      </p:sp>
      <p:sp>
        <p:nvSpPr>
          <p:cNvPr id="9" name="attrs_gap_fill">
            <a:extLst xmlns:a="http://schemas.openxmlformats.org/drawingml/2006/main">
              <a:ext uri="{FF2B5EF4-FFF2-40B4-BE49-F238E27FC236}">
                <a16:creationId xmlns:a16="http://schemas.microsoft.com/office/drawing/2014/main" id="{C600A5F3-AC6C-4F3A-A2BC-51B93516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90800"/>
            <a:ext cx="2095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FDC"/>
          </a:solidFill>
        </p:spPr>
      </p:sp>
      <p:sp>
        <p:nvSpPr>
          <p:cNvPr id="10" name="attrs_gap_rule">
            <a:extLst xmlns:a="http://schemas.openxmlformats.org/drawingml/2006/main">
              <a:ext uri="{FF2B5EF4-FFF2-40B4-BE49-F238E27FC236}">
                <a16:creationId xmlns:a16="http://schemas.microsoft.com/office/drawing/2014/main" id="{2066B52A-4A57-4FAD-8CA1-FD8BA913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908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B3E"/>
          </a:solidFill>
        </p:spPr>
      </p:sp>
      <p:sp>
        <p:nvSpPr>
          <p:cNvPr id="11" name="attrs_gap_label">
            <a:extLst xmlns:a="http://schemas.openxmlformats.org/drawingml/2006/main">
              <a:ext uri="{FF2B5EF4-FFF2-40B4-BE49-F238E27FC236}">
                <a16:creationId xmlns:a16="http://schemas.microsoft.com/office/drawing/2014/main" id="{B6D517C8-5A74-47D5-8C2A-C6BF0205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74320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attrs weighted gap</a:t>
            </a:r>
          </a:p>
        </p:txBody>
      </p:sp>
      <p:sp>
        <p:nvSpPr>
          <p:cNvPr id="12" name="attrs_gap_value">
            <a:extLst xmlns:a="http://schemas.openxmlformats.org/drawingml/2006/main">
              <a:ext uri="{FF2B5EF4-FFF2-40B4-BE49-F238E27FC236}">
                <a16:creationId xmlns:a16="http://schemas.microsoft.com/office/drawing/2014/main" id="{D9DB1086-497A-4951-8196-29ED7E35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90850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0.3148</a:t>
            </a:r>
          </a:p>
        </p:txBody>
      </p:sp>
      <p:sp>
        <p:nvSpPr>
          <p:cNvPr id="13" name="attrs_gap_note">
            <a:extLst xmlns:a="http://schemas.openxmlformats.org/drawingml/2006/main">
              <a:ext uri="{FF2B5EF4-FFF2-40B4-BE49-F238E27FC236}">
                <a16:creationId xmlns:a16="http://schemas.microsoft.com/office/drawing/2014/main" id="{3B7FF8F0-1DF5-4C9C-9C82-5D1C5A97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4099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simple same-budget baseline 0.25</a:t>
            </a:r>
          </a:p>
        </p:txBody>
      </p:sp>
      <p:sp>
        <p:nvSpPr>
          <p:cNvPr id="14" name="boltons_gap_fill">
            <a:extLst xmlns:a="http://schemas.openxmlformats.org/drawingml/2006/main">
              <a:ext uri="{FF2B5EF4-FFF2-40B4-BE49-F238E27FC236}">
                <a16:creationId xmlns:a16="http://schemas.microsoft.com/office/drawing/2014/main" id="{1DFC3E7E-CCE1-4ACA-9709-370DB8C1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90800"/>
            <a:ext cx="2095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FDC"/>
          </a:solidFill>
        </p:spPr>
      </p:sp>
      <p:sp>
        <p:nvSpPr>
          <p:cNvPr id="15" name="boltons_gap_rule">
            <a:extLst xmlns:a="http://schemas.openxmlformats.org/drawingml/2006/main">
              <a:ext uri="{FF2B5EF4-FFF2-40B4-BE49-F238E27FC236}">
                <a16:creationId xmlns:a16="http://schemas.microsoft.com/office/drawing/2014/main" id="{466AAA41-7308-4BE9-8DB1-A7AD0C9F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908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B3E"/>
          </a:solidFill>
        </p:spPr>
      </p:sp>
      <p:sp>
        <p:nvSpPr>
          <p:cNvPr id="16" name="boltons_gap_label">
            <a:extLst xmlns:a="http://schemas.openxmlformats.org/drawingml/2006/main">
              <a:ext uri="{FF2B5EF4-FFF2-40B4-BE49-F238E27FC236}">
                <a16:creationId xmlns:a16="http://schemas.microsoft.com/office/drawing/2014/main" id="{AED9F842-E0A7-4E48-998B-5CC2BDE3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4320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boltons weighted gap</a:t>
            </a:r>
          </a:p>
        </p:txBody>
      </p:sp>
      <p:sp>
        <p:nvSpPr>
          <p:cNvPr id="17" name="boltons_gap_value">
            <a:extLst xmlns:a="http://schemas.openxmlformats.org/drawingml/2006/main">
              <a:ext uri="{FF2B5EF4-FFF2-40B4-BE49-F238E27FC236}">
                <a16:creationId xmlns:a16="http://schemas.microsoft.com/office/drawing/2014/main" id="{0450B570-70DA-4760-A838-DC8C0FD7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990850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0.7481</a:t>
            </a:r>
          </a:p>
        </p:txBody>
      </p:sp>
      <p:sp>
        <p:nvSpPr>
          <p:cNvPr id="18" name="boltons_gap_note">
            <a:extLst xmlns:a="http://schemas.openxmlformats.org/drawingml/2006/main">
              <a:ext uri="{FF2B5EF4-FFF2-40B4-BE49-F238E27FC236}">
                <a16:creationId xmlns:a16="http://schemas.microsoft.com/office/drawing/2014/main" id="{B19B8C61-1689-4AE8-B49C-8EE90CB1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099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simple same-budget baseline 0.125</a:t>
            </a:r>
          </a:p>
        </p:txBody>
      </p:sp>
      <p:sp>
        <p:nvSpPr>
          <p:cNvPr id="19" name="diagnosis_panel_fill">
            <a:extLst xmlns:a="http://schemas.openxmlformats.org/drawingml/2006/main">
              <a:ext uri="{FF2B5EF4-FFF2-40B4-BE49-F238E27FC236}">
                <a16:creationId xmlns:a16="http://schemas.microsoft.com/office/drawing/2014/main" id="{FC665FAB-661F-49B7-BAA4-7A2FBF84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71950"/>
            <a:ext cx="44958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4"/>
          </a:solidFill>
        </p:spPr>
      </p:sp>
      <p:sp>
        <p:nvSpPr>
          <p:cNvPr id="20" name="diagnosis_panel_accent">
            <a:extLst xmlns:a="http://schemas.openxmlformats.org/drawingml/2006/main">
              <a:ext uri="{FF2B5EF4-FFF2-40B4-BE49-F238E27FC236}">
                <a16:creationId xmlns:a16="http://schemas.microsoft.com/office/drawing/2014/main" id="{9D1C41C2-68E4-40C1-B7D2-7D8F8369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7195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A2D"/>
          </a:solidFill>
        </p:spPr>
      </p:sp>
      <p:sp>
        <p:nvSpPr>
          <p:cNvPr id="21" name="diagnosis_panel_title">
            <a:extLst xmlns:a="http://schemas.openxmlformats.org/drawingml/2006/main">
              <a:ext uri="{FF2B5EF4-FFF2-40B4-BE49-F238E27FC236}">
                <a16:creationId xmlns:a16="http://schemas.microsoft.com/office/drawing/2014/main" id="{8628E6D4-74A7-4A9E-9FB7-41F16D3E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324350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diagnosis</a:t>
            </a:r>
          </a:p>
        </p:txBody>
      </p:sp>
      <p:sp>
        <p:nvSpPr>
          <p:cNvPr id="22" name="diagnosis_panel_body">
            <a:extLst xmlns:a="http://schemas.openxmlformats.org/drawingml/2006/main">
              <a:ext uri="{FF2B5EF4-FFF2-40B4-BE49-F238E27FC236}">
                <a16:creationId xmlns:a16="http://schemas.microsoft.com/office/drawing/2014/main" id="{5CE6D97C-BA01-4D62-909D-46FAB86F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482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构造规则会显著改变 repo-specific estimate。旧 weighted design 是 selector 研究的负面诊断。</a:t>
            </a:r>
          </a:p>
        </p:txBody>
      </p:sp>
      <p:sp>
        <p:nvSpPr>
          <p:cNvPr id="23" name="lab_0_fill">
            <a:extLst xmlns:a="http://schemas.openxmlformats.org/drawingml/2006/main">
              <a:ext uri="{FF2B5EF4-FFF2-40B4-BE49-F238E27FC236}">
                <a16:creationId xmlns:a16="http://schemas.microsoft.com/office/drawing/2014/main" id="{0D07C31F-4599-4F05-8596-719441FF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19350"/>
            <a:ext cx="1714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24" name="lab_0_accent">
            <a:extLst xmlns:a="http://schemas.openxmlformats.org/drawingml/2006/main">
              <a:ext uri="{FF2B5EF4-FFF2-40B4-BE49-F238E27FC236}">
                <a16:creationId xmlns:a16="http://schemas.microsoft.com/office/drawing/2014/main" id="{1DF7F291-D709-4595-880A-F5CFD247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1935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</p:spPr>
      </p:sp>
      <p:sp>
        <p:nvSpPr>
          <p:cNvPr id="25" name="lab_0_title">
            <a:extLst xmlns:a="http://schemas.openxmlformats.org/drawingml/2006/main">
              <a:ext uri="{FF2B5EF4-FFF2-40B4-BE49-F238E27FC236}">
                <a16:creationId xmlns:a16="http://schemas.microsoft.com/office/drawing/2014/main" id="{1FA8E903-AC92-4F0C-AE6D-52AB1482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candidate features</a:t>
            </a:r>
          </a:p>
        </p:txBody>
      </p:sp>
      <p:sp>
        <p:nvSpPr>
          <p:cNvPr id="26" name="lab_0_body">
            <a:extLst xmlns:a="http://schemas.openxmlformats.org/drawingml/2006/main">
              <a:ext uri="{FF2B5EF4-FFF2-40B4-BE49-F238E27FC236}">
                <a16:creationId xmlns:a16="http://schemas.microsoft.com/office/drawing/2014/main" id="{B9D8AFB1-3BA4-4675-B341-05DA9B28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95600"/>
            <a:ext cx="140970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source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strata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support</a:t>
            </a:r>
          </a:p>
        </p:txBody>
      </p:sp>
      <p:sp>
        <p:nvSpPr>
          <p:cNvPr id="27" name="lab_1_fill">
            <a:extLst xmlns:a="http://schemas.openxmlformats.org/drawingml/2006/main">
              <a:ext uri="{FF2B5EF4-FFF2-40B4-BE49-F238E27FC236}">
                <a16:creationId xmlns:a16="http://schemas.microsoft.com/office/drawing/2014/main" id="{CF29A5C1-244B-4758-BE04-3411C365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19350"/>
            <a:ext cx="1714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5"/>
          </a:solidFill>
        </p:spPr>
      </p:sp>
      <p:sp>
        <p:nvSpPr>
          <p:cNvPr id="28" name="lab_1_accent">
            <a:extLst xmlns:a="http://schemas.openxmlformats.org/drawingml/2006/main">
              <a:ext uri="{FF2B5EF4-FFF2-40B4-BE49-F238E27FC236}">
                <a16:creationId xmlns:a16="http://schemas.microsoft.com/office/drawing/2014/main" id="{63A9AD34-EA46-4425-875D-EC44B49E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1935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</p:spPr>
      </p:sp>
      <p:sp>
        <p:nvSpPr>
          <p:cNvPr id="29" name="lab_1_title">
            <a:extLst xmlns:a="http://schemas.openxmlformats.org/drawingml/2006/main">
              <a:ext uri="{FF2B5EF4-FFF2-40B4-BE49-F238E27FC236}">
                <a16:creationId xmlns:a16="http://schemas.microsoft.com/office/drawing/2014/main" id="{F83065F4-9D5F-466A-BD31-A69C705F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71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selection policy</a:t>
            </a:r>
          </a:p>
        </p:txBody>
      </p:sp>
      <p:sp>
        <p:nvSpPr>
          <p:cNvPr id="30" name="lab_1_body">
            <a:extLst xmlns:a="http://schemas.openxmlformats.org/drawingml/2006/main">
              <a:ext uri="{FF2B5EF4-FFF2-40B4-BE49-F238E27FC236}">
                <a16:creationId xmlns:a16="http://schemas.microsoft.com/office/drawing/2014/main" id="{9FAF2AF3-EF50-4AE5-96E9-EE85E876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95600"/>
            <a:ext cx="140970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coverage-constrained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temporal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blocked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shrinkage</a:t>
            </a:r>
          </a:p>
        </p:txBody>
      </p:sp>
      <p:sp>
        <p:nvSpPr>
          <p:cNvPr id="31" name="lab_2_fill">
            <a:extLst xmlns:a="http://schemas.openxmlformats.org/drawingml/2006/main">
              <a:ext uri="{FF2B5EF4-FFF2-40B4-BE49-F238E27FC236}">
                <a16:creationId xmlns:a16="http://schemas.microsoft.com/office/drawing/2014/main" id="{28C65875-E594-4A9A-A9DC-9A15E2EA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19600"/>
            <a:ext cx="1714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4"/>
          </a:solidFill>
        </p:spPr>
      </p:sp>
      <p:sp>
        <p:nvSpPr>
          <p:cNvPr id="32" name="lab_2_accent">
            <a:extLst xmlns:a="http://schemas.openxmlformats.org/drawingml/2006/main">
              <a:ext uri="{FF2B5EF4-FFF2-40B4-BE49-F238E27FC236}">
                <a16:creationId xmlns:a16="http://schemas.microsoft.com/office/drawing/2014/main" id="{97A99E64-139A-4187-A854-C113F25C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1960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A2D"/>
          </a:solidFill>
        </p:spPr>
      </p:sp>
      <p:sp>
        <p:nvSpPr>
          <p:cNvPr id="33" name="lab_2_title">
            <a:extLst xmlns:a="http://schemas.openxmlformats.org/drawingml/2006/main">
              <a:ext uri="{FF2B5EF4-FFF2-40B4-BE49-F238E27FC236}">
                <a16:creationId xmlns:a16="http://schemas.microsoft.com/office/drawing/2014/main" id="{50C4FCB2-7871-4986-B22A-A9884D70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72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baselines</a:t>
            </a:r>
          </a:p>
        </p:txBody>
      </p:sp>
      <p:sp>
        <p:nvSpPr>
          <p:cNvPr id="34" name="lab_2_body">
            <a:extLst xmlns:a="http://schemas.openxmlformats.org/drawingml/2006/main">
              <a:ext uri="{FF2B5EF4-FFF2-40B4-BE49-F238E27FC236}">
                <a16:creationId xmlns:a16="http://schemas.microsoft.com/office/drawing/2014/main" id="{871B4824-E4C2-4008-8A14-BD3DD745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95850"/>
            <a:ext cx="140970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recent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repo-unweighted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repo-stratified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random</a:t>
            </a:r>
          </a:p>
        </p:txBody>
      </p:sp>
      <p:sp>
        <p:nvSpPr>
          <p:cNvPr id="35" name="lab_3_fill">
            <a:extLst xmlns:a="http://schemas.openxmlformats.org/drawingml/2006/main">
              <a:ext uri="{FF2B5EF4-FFF2-40B4-BE49-F238E27FC236}">
                <a16:creationId xmlns:a16="http://schemas.microsoft.com/office/drawing/2014/main" id="{8E968BEA-52A2-4E2A-ADFC-02092BFB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19600"/>
            <a:ext cx="1714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F5"/>
          </a:solidFill>
        </p:spPr>
      </p:sp>
      <p:sp>
        <p:nvSpPr>
          <p:cNvPr id="36" name="lab_3_accent">
            <a:extLst xmlns:a="http://schemas.openxmlformats.org/drawingml/2006/main">
              <a:ext uri="{FF2B5EF4-FFF2-40B4-BE49-F238E27FC236}">
                <a16:creationId xmlns:a16="http://schemas.microsoft.com/office/drawing/2014/main" id="{6B18542C-9921-4A08-A076-820B613F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1960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5EA8"/>
          </a:solidFill>
        </p:spPr>
      </p:sp>
      <p:sp>
        <p:nvSpPr>
          <p:cNvPr id="37" name="lab_3_title">
            <a:extLst xmlns:a="http://schemas.openxmlformats.org/drawingml/2006/main">
              <a:ext uri="{FF2B5EF4-FFF2-40B4-BE49-F238E27FC236}">
                <a16:creationId xmlns:a16="http://schemas.microsoft.com/office/drawing/2014/main" id="{A9DED898-9967-43A7-8B2B-522075DB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572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diagnostics</a:t>
            </a:r>
          </a:p>
        </p:txBody>
      </p:sp>
      <p:sp>
        <p:nvSpPr>
          <p:cNvPr id="38" name="lab_3_body">
            <a:extLst xmlns:a="http://schemas.openxmlformats.org/drawingml/2006/main">
              <a:ext uri="{FF2B5EF4-FFF2-40B4-BE49-F238E27FC236}">
                <a16:creationId xmlns:a16="http://schemas.microsoft.com/office/drawing/2014/main" id="{CFEB9BFC-51EF-4043-9263-971AA1E9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895850"/>
            <a:ext cx="140970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adapter / repo / window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fallback accounting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slice stability</a:t>
            </a:r>
          </a:p>
        </p:txBody>
      </p:sp>
      <p:sp>
        <p:nvSpPr>
          <p:cNvPr id="39" name="lab_top_link">
            <a:extLst xmlns:a="http://schemas.openxmlformats.org/drawingml/2006/main">
              <a:ext uri="{FF2B5EF4-FFF2-40B4-BE49-F238E27FC236}">
                <a16:creationId xmlns:a16="http://schemas.microsoft.com/office/drawing/2014/main" id="{4C4F25DF-6855-4C8D-AED1-BDB826DD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861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40" name="lab_bottom_link">
            <a:extLst xmlns:a="http://schemas.openxmlformats.org/drawingml/2006/main">
              <a:ext uri="{FF2B5EF4-FFF2-40B4-BE49-F238E27FC236}">
                <a16:creationId xmlns:a16="http://schemas.microsoft.com/office/drawing/2014/main" id="{3AD7D54F-5D95-475E-87C5-0C01472A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0863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41" name="lab_left_vertical">
            <a:extLst xmlns:a="http://schemas.openxmlformats.org/drawingml/2006/main">
              <a:ext uri="{FF2B5EF4-FFF2-40B4-BE49-F238E27FC236}">
                <a16:creationId xmlns:a16="http://schemas.microsoft.com/office/drawing/2014/main" id="{9FD7BA41-E3F0-4C41-9062-6E073C4D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829050"/>
            <a:ext cx="285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42" name="lab_right_vertical">
            <a:extLst xmlns:a="http://schemas.openxmlformats.org/drawingml/2006/main">
              <a:ext uri="{FF2B5EF4-FFF2-40B4-BE49-F238E27FC236}">
                <a16:creationId xmlns:a16="http://schemas.microsoft.com/office/drawing/2014/main" id="{0C6F8990-2FFC-4E83-B56A-E00047B9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829050"/>
            <a:ext cx="285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43" name="algorithm_note">
            <a:extLst xmlns:a="http://schemas.openxmlformats.org/drawingml/2006/main">
              <a:ext uri="{FF2B5EF4-FFF2-40B4-BE49-F238E27FC236}">
                <a16:creationId xmlns:a16="http://schemas.microsoft.com/office/drawing/2014/main" id="{B7735E92-5B0E-4BE0-888D-C7185B12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8864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后续 selector 需要显式处理 support thresholds、fallback caps、source caps、slice stability 和 random/simple-baseline comparison。</a:t>
            </a:r>
          </a:p>
        </p:txBody>
      </p:sp>
    </p:spTree>
    <p:extLst>
      <p:ext uri="{BB962C8B-B14F-4D97-AF65-F5344CB8AC3E}">
        <p14:creationId xmlns:p14="http://schemas.microsoft.com/office/powerpoint/2010/main" val="183214624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D6FC035C-05F2-45B5-A230-ECA82589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title_rail">
            <a:extLst xmlns:a="http://schemas.openxmlformats.org/drawingml/2006/main">
              <a:ext uri="{FF2B5EF4-FFF2-40B4-BE49-F238E27FC236}">
                <a16:creationId xmlns:a16="http://schemas.microsoft.com/office/drawing/2014/main" id="{2C30C0F8-F265-46B7-B62A-6DA97877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2"/>
          </a:solidFill>
        </p:spPr>
      </p:sp>
      <p:sp>
        <p:nvSpPr>
          <p:cNvPr id="3" name="page_number">
            <a:extLst xmlns:a="http://schemas.openxmlformats.org/drawingml/2006/main">
              <a:ext uri="{FF2B5EF4-FFF2-40B4-BE49-F238E27FC236}">
                <a16:creationId xmlns:a16="http://schemas.microsoft.com/office/drawing/2014/main" id="{F873170A-C71A-4179-AE9B-33702744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4" name="title_label">
            <a:extLst xmlns:a="http://schemas.openxmlformats.org/drawingml/2006/main">
              <a:ext uri="{FF2B5EF4-FFF2-40B4-BE49-F238E27FC236}">
                <a16:creationId xmlns:a16="http://schemas.microsoft.com/office/drawing/2014/main" id="{4450C5AD-3E06-45E1-958A-09734F62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00100"/>
            <a:ext cx="571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当前证据</a:t>
            </a:r>
          </a:p>
        </p:txBody>
      </p:sp>
      <p:sp>
        <p:nvSpPr>
          <p:cNvPr id="5" name="main_title">
            <a:extLst xmlns:a="http://schemas.openxmlformats.org/drawingml/2006/main">
              <a:ext uri="{FF2B5EF4-FFF2-40B4-BE49-F238E27FC236}">
                <a16:creationId xmlns:a16="http://schemas.microsoft.com/office/drawing/2014/main" id="{460924F9-C0AD-4E3D-9BDF-F93875B2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已有证据支持继续优化，结论仍保持有限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463A56C4-F0AB-4297-9EB5-0E9922B7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9334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问题真实、执行可行、source repair 可做，MAE signal 还很小。</a:t>
            </a:r>
          </a:p>
        </p:txBody>
      </p:sp>
      <p:sp>
        <p:nvSpPr>
          <p:cNvPr id="7" name="header_rule">
            <a:extLst xmlns:a="http://schemas.openxmlformats.org/drawingml/2006/main">
              <a:ext uri="{FF2B5EF4-FFF2-40B4-BE49-F238E27FC236}">
                <a16:creationId xmlns:a16="http://schemas.microsoft.com/office/drawing/2014/main" id="{86B849D3-EF77-4D8C-A64C-05DC8BF5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52550"/>
            <a:ext cx="967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8" name="ev_header_0">
            <a:extLst xmlns:a="http://schemas.openxmlformats.org/drawingml/2006/main">
              <a:ext uri="{FF2B5EF4-FFF2-40B4-BE49-F238E27FC236}">
                <a16:creationId xmlns:a16="http://schemas.microsoft.com/office/drawing/2014/main" id="{E07D97BA-8E2E-41EF-9158-58958775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1455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2"/>
          </a:solidFill>
        </p:spPr>
      </p:sp>
      <p:sp>
        <p:nvSpPr>
          <p:cNvPr id="9" name="ev_header_text_0">
            <a:extLst xmlns:a="http://schemas.openxmlformats.org/drawingml/2006/main">
              <a:ext uri="{FF2B5EF4-FFF2-40B4-BE49-F238E27FC236}">
                <a16:creationId xmlns:a16="http://schemas.microsoft.com/office/drawing/2014/main" id="{9D84E0CB-26DB-42A8-B5CD-DD27CE4A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209800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Reader question</a:t>
            </a:r>
          </a:p>
        </p:txBody>
      </p:sp>
      <p:sp>
        <p:nvSpPr>
          <p:cNvPr id="10" name="ev_header_1">
            <a:extLst xmlns:a="http://schemas.openxmlformats.org/drawingml/2006/main">
              <a:ext uri="{FF2B5EF4-FFF2-40B4-BE49-F238E27FC236}">
                <a16:creationId xmlns:a16="http://schemas.microsoft.com/office/drawing/2014/main" id="{B9F7EAA1-62E6-49E1-9A63-35515520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114550"/>
            <a:ext cx="161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16B"/>
          </a:solidFill>
        </p:spPr>
      </p:sp>
      <p:sp>
        <p:nvSpPr>
          <p:cNvPr id="11" name="ev_header_text_1">
            <a:extLst xmlns:a="http://schemas.openxmlformats.org/drawingml/2006/main">
              <a:ext uri="{FF2B5EF4-FFF2-40B4-BE49-F238E27FC236}">
                <a16:creationId xmlns:a16="http://schemas.microsoft.com/office/drawing/2014/main" id="{C714C6E0-BE28-4737-9FE4-DCE5250A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20980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Evidence</a:t>
            </a:r>
          </a:p>
        </p:txBody>
      </p:sp>
      <p:sp>
        <p:nvSpPr>
          <p:cNvPr id="12" name="ev_header_2">
            <a:extLst xmlns:a="http://schemas.openxmlformats.org/drawingml/2006/main">
              <a:ext uri="{FF2B5EF4-FFF2-40B4-BE49-F238E27FC236}">
                <a16:creationId xmlns:a16="http://schemas.microsoft.com/office/drawing/2014/main" id="{231A1B7A-342F-4394-A985-44699565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114550"/>
            <a:ext cx="447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16B"/>
          </a:solidFill>
        </p:spPr>
      </p:sp>
      <p:sp>
        <p:nvSpPr>
          <p:cNvPr id="13" name="ev_header_text_2">
            <a:extLst xmlns:a="http://schemas.openxmlformats.org/drawingml/2006/main">
              <a:ext uri="{FF2B5EF4-FFF2-40B4-BE49-F238E27FC236}">
                <a16:creationId xmlns:a16="http://schemas.microsoft.com/office/drawing/2014/main" id="{618E7142-2236-4395-B92F-6D6186BE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09800"/>
            <a:ext cx="432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Current reading</a:t>
            </a:r>
          </a:p>
        </p:txBody>
      </p:sp>
      <p:sp>
        <p:nvSpPr>
          <p:cNvPr id="14" name="ev_row_0_0">
            <a:extLst xmlns:a="http://schemas.openxmlformats.org/drawingml/2006/main">
              <a:ext uri="{FF2B5EF4-FFF2-40B4-BE49-F238E27FC236}">
                <a16:creationId xmlns:a16="http://schemas.microsoft.com/office/drawing/2014/main" id="{500912CE-550C-40C4-BB52-E27E99D2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908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5" name="ev_text_0_0">
            <a:extLst xmlns:a="http://schemas.openxmlformats.org/drawingml/2006/main">
              <a:ext uri="{FF2B5EF4-FFF2-40B4-BE49-F238E27FC236}">
                <a16:creationId xmlns:a16="http://schemas.microsoft.com/office/drawing/2014/main" id="{688005E5-56B0-4706-9D7E-D5129DFA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686050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5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53" b="1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问题是否真实？</a:t>
            </a:r>
          </a:p>
        </p:txBody>
      </p:sp>
      <p:sp>
        <p:nvSpPr>
          <p:cNvPr id="16" name="ev_row_0_1">
            <a:extLst xmlns:a="http://schemas.openxmlformats.org/drawingml/2006/main">
              <a:ext uri="{FF2B5EF4-FFF2-40B4-BE49-F238E27FC236}">
                <a16:creationId xmlns:a16="http://schemas.microsoft.com/office/drawing/2014/main" id="{E95DDC0C-7792-4C71-9529-C785CEDB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59080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7" name="ev_text_0_1">
            <a:extLst xmlns:a="http://schemas.openxmlformats.org/drawingml/2006/main">
              <a:ext uri="{FF2B5EF4-FFF2-40B4-BE49-F238E27FC236}">
                <a16:creationId xmlns:a16="http://schemas.microsoft.com/office/drawing/2014/main" id="{D3BC86A1-89FB-4E1D-A666-E6B7784B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86050"/>
            <a:ext cx="139065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attrs 0.3148</a:t>
            </a:r>
          </a:p>
          <a:p xmlns:a="http://schemas.openxmlformats.org/drawingml/2006/main">
            <a:pPr algn="l">
              <a:def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boltons 0.7481</a:t>
            </a:r>
          </a:p>
        </p:txBody>
      </p:sp>
      <p:sp>
        <p:nvSpPr>
          <p:cNvPr id="18" name="ev_row_0_2">
            <a:extLst xmlns:a="http://schemas.openxmlformats.org/drawingml/2006/main">
              <a:ext uri="{FF2B5EF4-FFF2-40B4-BE49-F238E27FC236}">
                <a16:creationId xmlns:a16="http://schemas.microsoft.com/office/drawing/2014/main" id="{2BFED0AA-29BE-4725-9844-1A78D0AE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590800"/>
            <a:ext cx="4476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9" name="ev_text_0_2">
            <a:extLst xmlns:a="http://schemas.openxmlformats.org/drawingml/2006/main">
              <a:ext uri="{FF2B5EF4-FFF2-40B4-BE49-F238E27FC236}">
                <a16:creationId xmlns:a16="http://schemas.microsoft.com/office/drawing/2014/main" id="{F639ED72-FC93-4912-9A64-8E9E5FE4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686050"/>
            <a:ext cx="424815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53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953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构造规则会改变估计，旧 weighted design 是负面诊断。</a:t>
            </a:r>
          </a:p>
        </p:txBody>
      </p:sp>
      <p:sp>
        <p:nvSpPr>
          <p:cNvPr id="20" name="ev_row_1_0">
            <a:extLst xmlns:a="http://schemas.openxmlformats.org/drawingml/2006/main">
              <a:ext uri="{FF2B5EF4-FFF2-40B4-BE49-F238E27FC236}">
                <a16:creationId xmlns:a16="http://schemas.microsoft.com/office/drawing/2014/main" id="{6B198E15-05F2-49BC-B452-A7367C1E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052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2"/>
          </a:solidFill>
        </p:spPr>
      </p:sp>
      <p:sp>
        <p:nvSpPr>
          <p:cNvPr id="21" name="ev_text_1_0">
            <a:extLst xmlns:a="http://schemas.openxmlformats.org/drawingml/2006/main">
              <a:ext uri="{FF2B5EF4-FFF2-40B4-BE49-F238E27FC236}">
                <a16:creationId xmlns:a16="http://schemas.microsoft.com/office/drawing/2014/main" id="{A5F3125B-D8FF-49BA-8162-4ABD1945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600450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5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53" b="1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协议能否执行？</a:t>
            </a:r>
          </a:p>
        </p:txBody>
      </p:sp>
      <p:sp>
        <p:nvSpPr>
          <p:cNvPr id="22" name="ev_row_1_1">
            <a:extLst xmlns:a="http://schemas.openxmlformats.org/drawingml/2006/main">
              <a:ext uri="{FF2B5EF4-FFF2-40B4-BE49-F238E27FC236}">
                <a16:creationId xmlns:a16="http://schemas.microsoft.com/office/drawing/2014/main" id="{2835D6B7-5048-4878-9E18-6E6E0E38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50520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2"/>
          </a:solidFill>
        </p:spPr>
      </p:sp>
      <p:sp>
        <p:nvSpPr>
          <p:cNvPr id="23" name="ev_text_1_1">
            <a:extLst xmlns:a="http://schemas.openxmlformats.org/drawingml/2006/main">
              <a:ext uri="{FF2B5EF4-FFF2-40B4-BE49-F238E27FC236}">
                <a16:creationId xmlns:a16="http://schemas.microsoft.com/office/drawing/2014/main" id="{32FAF663-8826-4425-9504-FCA495F5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600450"/>
            <a:ext cx="139065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120/120 cells</a:t>
            </a:r>
          </a:p>
          <a:p xmlns:a="http://schemas.openxmlformats.org/drawingml/2006/main">
            <a:pPr algn="l">
              <a:def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scoreability 1.0</a:t>
            </a:r>
          </a:p>
        </p:txBody>
      </p:sp>
      <p:sp>
        <p:nvSpPr>
          <p:cNvPr id="24" name="ev_row_1_2">
            <a:extLst xmlns:a="http://schemas.openxmlformats.org/drawingml/2006/main">
              <a:ext uri="{FF2B5EF4-FFF2-40B4-BE49-F238E27FC236}">
                <a16:creationId xmlns:a16="http://schemas.microsoft.com/office/drawing/2014/main" id="{A86A53B1-FF97-4B33-AAB7-967207B5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505200"/>
            <a:ext cx="4476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2"/>
          </a:solidFill>
        </p:spPr>
      </p:sp>
      <p:sp>
        <p:nvSpPr>
          <p:cNvPr id="25" name="ev_text_1_2">
            <a:extLst xmlns:a="http://schemas.openxmlformats.org/drawingml/2006/main">
              <a:ext uri="{FF2B5EF4-FFF2-40B4-BE49-F238E27FC236}">
                <a16:creationId xmlns:a16="http://schemas.microsoft.com/office/drawing/2014/main" id="{1874ED74-4466-487F-BB2A-5070EE64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600450"/>
            <a:ext cx="424815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53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953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workspace / diff / verifier replay machinery 可审计运行。</a:t>
            </a:r>
          </a:p>
        </p:txBody>
      </p:sp>
      <p:sp>
        <p:nvSpPr>
          <p:cNvPr id="26" name="ev_row_2_0">
            <a:extLst xmlns:a="http://schemas.openxmlformats.org/drawingml/2006/main">
              <a:ext uri="{FF2B5EF4-FFF2-40B4-BE49-F238E27FC236}">
                <a16:creationId xmlns:a16="http://schemas.microsoft.com/office/drawing/2014/main" id="{A5A567CC-2AEE-4546-BD37-9E711741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196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7" name="ev_text_2_0">
            <a:extLst xmlns:a="http://schemas.openxmlformats.org/drawingml/2006/main">
              <a:ext uri="{FF2B5EF4-FFF2-40B4-BE49-F238E27FC236}">
                <a16:creationId xmlns:a16="http://schemas.microsoft.com/office/drawing/2014/main" id="{30920B31-2603-426B-AF4F-B10536F0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514850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5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53" b="1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source 质量能否修复？</a:t>
            </a:r>
          </a:p>
        </p:txBody>
      </p:sp>
      <p:sp>
        <p:nvSpPr>
          <p:cNvPr id="28" name="ev_row_2_1">
            <a:extLst xmlns:a="http://schemas.openxmlformats.org/drawingml/2006/main">
              <a:ext uri="{FF2B5EF4-FFF2-40B4-BE49-F238E27FC236}">
                <a16:creationId xmlns:a16="http://schemas.microsoft.com/office/drawing/2014/main" id="{1EC0B38B-B8F4-4073-B320-2CE43C47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41960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9" name="ev_text_2_1">
            <a:extLst xmlns:a="http://schemas.openxmlformats.org/drawingml/2006/main">
              <a:ext uri="{FF2B5EF4-FFF2-40B4-BE49-F238E27FC236}">
                <a16:creationId xmlns:a16="http://schemas.microsoft.com/office/drawing/2014/main" id="{3D2B492C-4463-40E6-904D-D364915A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514850"/>
            <a:ext cx="139065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click 30/30 tasks</a:t>
            </a:r>
          </a:p>
        </p:txBody>
      </p:sp>
      <p:sp>
        <p:nvSpPr>
          <p:cNvPr id="30" name="ev_row_2_2">
            <a:extLst xmlns:a="http://schemas.openxmlformats.org/drawingml/2006/main">
              <a:ext uri="{FF2B5EF4-FFF2-40B4-BE49-F238E27FC236}">
                <a16:creationId xmlns:a16="http://schemas.microsoft.com/office/drawing/2014/main" id="{F44A8659-63CC-4991-93C8-B4E5C3E8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419600"/>
            <a:ext cx="4476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31" name="ev_text_2_2">
            <a:extLst xmlns:a="http://schemas.openxmlformats.org/drawingml/2006/main">
              <a:ext uri="{FF2B5EF4-FFF2-40B4-BE49-F238E27FC236}">
                <a16:creationId xmlns:a16="http://schemas.microsoft.com/office/drawing/2014/main" id="{A8DF656F-5FCB-432A-A69E-4263E7B1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514850"/>
            <a:ext cx="424815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53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953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source repair 可执行；历史 paid outcomes 没有被重写。</a:t>
            </a:r>
          </a:p>
        </p:txBody>
      </p:sp>
      <p:sp>
        <p:nvSpPr>
          <p:cNvPr id="32" name="ev_row_3_0">
            <a:extLst xmlns:a="http://schemas.openxmlformats.org/drawingml/2006/main">
              <a:ext uri="{FF2B5EF4-FFF2-40B4-BE49-F238E27FC236}">
                <a16:creationId xmlns:a16="http://schemas.microsoft.com/office/drawing/2014/main" id="{ACE1A0C2-F102-4EE1-8202-75D236C9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340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2"/>
          </a:solidFill>
        </p:spPr>
      </p:sp>
      <p:sp>
        <p:nvSpPr>
          <p:cNvPr id="33" name="ev_text_3_0">
            <a:extLst xmlns:a="http://schemas.openxmlformats.org/drawingml/2006/main">
              <a:ext uri="{FF2B5EF4-FFF2-40B4-BE49-F238E27FC236}">
                <a16:creationId xmlns:a16="http://schemas.microsoft.com/office/drawing/2014/main" id="{635909EF-0B00-4F58-BE3B-D26A523B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429250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5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53" b="1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selection 是否有信号？</a:t>
            </a:r>
          </a:p>
        </p:txBody>
      </p:sp>
      <p:sp>
        <p:nvSpPr>
          <p:cNvPr id="34" name="ev_row_3_1">
            <a:extLst xmlns:a="http://schemas.openxmlformats.org/drawingml/2006/main">
              <a:ext uri="{FF2B5EF4-FFF2-40B4-BE49-F238E27FC236}">
                <a16:creationId xmlns:a16="http://schemas.microsoft.com/office/drawing/2014/main" id="{265C9A01-3335-4865-A3AC-B3FE8CFA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533400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2"/>
          </a:solidFill>
        </p:spPr>
      </p:sp>
      <p:sp>
        <p:nvSpPr>
          <p:cNvPr id="35" name="ev_text_3_1">
            <a:extLst xmlns:a="http://schemas.openxmlformats.org/drawingml/2006/main">
              <a:ext uri="{FF2B5EF4-FFF2-40B4-BE49-F238E27FC236}">
                <a16:creationId xmlns:a16="http://schemas.microsoft.com/office/drawing/2014/main" id="{53F33398-8E8E-47B7-A249-16233FE1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429250"/>
            <a:ext cx="139065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MAE 0.209 vs 0.2149</a:t>
            </a:r>
          </a:p>
          <a:p xmlns:a="http://schemas.openxmlformats.org/drawingml/2006/main">
            <a:pPr algn="l">
              <a:def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random 93.4%</a:t>
            </a:r>
          </a:p>
        </p:txBody>
      </p:sp>
      <p:sp>
        <p:nvSpPr>
          <p:cNvPr id="36" name="ev_row_3_2">
            <a:extLst xmlns:a="http://schemas.openxmlformats.org/drawingml/2006/main">
              <a:ext uri="{FF2B5EF4-FFF2-40B4-BE49-F238E27FC236}">
                <a16:creationId xmlns:a16="http://schemas.microsoft.com/office/drawing/2014/main" id="{B86667BE-EB49-4E8E-9221-07A2DACE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334000"/>
            <a:ext cx="4476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2"/>
          </a:solidFill>
        </p:spPr>
      </p:sp>
      <p:sp>
        <p:nvSpPr>
          <p:cNvPr id="37" name="ev_text_3_2">
            <a:extLst xmlns:a="http://schemas.openxmlformats.org/drawingml/2006/main">
              <a:ext uri="{FF2B5EF4-FFF2-40B4-BE49-F238E27FC236}">
                <a16:creationId xmlns:a16="http://schemas.microsoft.com/office/drawing/2014/main" id="{545CE1AE-4C38-4635-8893-292C7FFF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5429250"/>
            <a:ext cx="424815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53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953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有 traction；edge 0.0059 太小，不能支撑 validity claim。</a:t>
            </a:r>
          </a:p>
        </p:txBody>
      </p:sp>
      <p:sp>
        <p:nvSpPr>
          <p:cNvPr id="38" name="evidence_boundary">
            <a:extLst xmlns:a="http://schemas.openxmlformats.org/drawingml/2006/main">
              <a:ext uri="{FF2B5EF4-FFF2-40B4-BE49-F238E27FC236}">
                <a16:creationId xmlns:a16="http://schemas.microsoft.com/office/drawing/2014/main" id="{E2806FF4-9DFF-43C1-8C90-53AF2BEB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057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预测效度尚未建立；tuning-loop improvement 也尚未实证。</a:t>
            </a:r>
          </a:p>
        </p:txBody>
      </p:sp>
    </p:spTree>
    <p:extLst>
      <p:ext uri="{BB962C8B-B14F-4D97-AF65-F5344CB8AC3E}">
        <p14:creationId xmlns:p14="http://schemas.microsoft.com/office/powerpoint/2010/main" val="129354486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75C09EC5-6F97-4367-A12C-1697710B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title_rail">
            <a:extLst xmlns:a="http://schemas.openxmlformats.org/drawingml/2006/main">
              <a:ext uri="{FF2B5EF4-FFF2-40B4-BE49-F238E27FC236}">
                <a16:creationId xmlns:a16="http://schemas.microsoft.com/office/drawing/2014/main" id="{82F0F651-18EF-4CFA-9402-620A507C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2"/>
          </a:solidFill>
        </p:spPr>
      </p:sp>
      <p:sp>
        <p:nvSpPr>
          <p:cNvPr id="3" name="page_number">
            <a:extLst xmlns:a="http://schemas.openxmlformats.org/drawingml/2006/main">
              <a:ext uri="{FF2B5EF4-FFF2-40B4-BE49-F238E27FC236}">
                <a16:creationId xmlns:a16="http://schemas.microsoft.com/office/drawing/2014/main" id="{FAEE4681-9C04-4C87-AB8F-420830CA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4" name="title_label">
            <a:extLst xmlns:a="http://schemas.openxmlformats.org/drawingml/2006/main">
              <a:ext uri="{FF2B5EF4-FFF2-40B4-BE49-F238E27FC236}">
                <a16:creationId xmlns:a16="http://schemas.microsoft.com/office/drawing/2014/main" id="{828DC0C5-415C-4525-8660-E998144E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00100"/>
            <a:ext cx="571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研究路线</a:t>
            </a:r>
          </a:p>
        </p:txBody>
      </p:sp>
      <p:sp>
        <p:nvSpPr>
          <p:cNvPr id="5" name="main_title">
            <a:extLst xmlns:a="http://schemas.openxmlformats.org/drawingml/2006/main">
              <a:ext uri="{FF2B5EF4-FFF2-40B4-BE49-F238E27FC236}">
                <a16:creationId xmlns:a16="http://schemas.microsoft.com/office/drawing/2014/main" id="{C848DCCE-9731-45ED-9A88-A5A241AB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下一阶段重点是 task-selection algorithm evolution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3C42C3B1-975E-4D00-96BC-DDE89956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9334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future holdout 或 rolling-origin validation 用来检验冻结后的 algorithm。</a:t>
            </a:r>
          </a:p>
        </p:txBody>
      </p:sp>
      <p:sp>
        <p:nvSpPr>
          <p:cNvPr id="7" name="header_rule">
            <a:extLst xmlns:a="http://schemas.openxmlformats.org/drawingml/2006/main">
              <a:ext uri="{FF2B5EF4-FFF2-40B4-BE49-F238E27FC236}">
                <a16:creationId xmlns:a16="http://schemas.microsoft.com/office/drawing/2014/main" id="{80993839-C0DD-4056-85CC-0F32C460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52550"/>
            <a:ext cx="967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8" name="route_copy">
            <a:extLst xmlns:a="http://schemas.openxmlformats.org/drawingml/2006/main">
              <a:ext uri="{FF2B5EF4-FFF2-40B4-BE49-F238E27FC236}">
                <a16:creationId xmlns:a16="http://schemas.microsoft.com/office/drawing/2014/main" id="{0AE7CB4F-791F-46C4-981F-5FEEDE87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38300"/>
            <a:ext cx="828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163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研究路线从 selector 开始：扩展 candidate supply，修复 feature support，设置 source caps 与 fallback caps，比较 random/simple baselines，检查 slice stability 和 practical MAE margin。</a:t>
            </a:r>
          </a:p>
        </p:txBody>
      </p:sp>
      <p:sp>
        <p:nvSpPr>
          <p:cNvPr id="9" name="loop_0_fill">
            <a:extLst xmlns:a="http://schemas.openxmlformats.org/drawingml/2006/main">
              <a:ext uri="{FF2B5EF4-FFF2-40B4-BE49-F238E27FC236}">
                <a16:creationId xmlns:a16="http://schemas.microsoft.com/office/drawing/2014/main" id="{2627B0A5-912D-46FB-A421-A8785D94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0"/>
            <a:ext cx="1905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10" name="loop_0_accent">
            <a:extLst xmlns:a="http://schemas.openxmlformats.org/drawingml/2006/main">
              <a:ext uri="{FF2B5EF4-FFF2-40B4-BE49-F238E27FC236}">
                <a16:creationId xmlns:a16="http://schemas.microsoft.com/office/drawing/2014/main" id="{6618DF04-B6FB-4B7E-8477-C2395AA5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</p:spPr>
      </p:sp>
      <p:sp>
        <p:nvSpPr>
          <p:cNvPr id="11" name="loop_0_title">
            <a:extLst xmlns:a="http://schemas.openxmlformats.org/drawingml/2006/main">
              <a:ext uri="{FF2B5EF4-FFF2-40B4-BE49-F238E27FC236}">
                <a16:creationId xmlns:a16="http://schemas.microsoft.com/office/drawing/2014/main" id="{8958A492-A518-4D17-885C-C2A64BFB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009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candidate supply</a:t>
            </a:r>
          </a:p>
        </p:txBody>
      </p:sp>
      <p:sp>
        <p:nvSpPr>
          <p:cNvPr id="12" name="loop_0_body">
            <a:extLst xmlns:a="http://schemas.openxmlformats.org/drawingml/2006/main">
              <a:ext uri="{FF2B5EF4-FFF2-40B4-BE49-F238E27FC236}">
                <a16:creationId xmlns:a16="http://schemas.microsoft.com/office/drawing/2014/main" id="{2C5C56B3-49A7-4C8E-B1FB-9E31C420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33750"/>
            <a:ext cx="16002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source support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new reservoirs</a:t>
            </a:r>
          </a:p>
        </p:txBody>
      </p:sp>
      <p:sp>
        <p:nvSpPr>
          <p:cNvPr id="13" name="loop_1_fill">
            <a:extLst xmlns:a="http://schemas.openxmlformats.org/drawingml/2006/main">
              <a:ext uri="{FF2B5EF4-FFF2-40B4-BE49-F238E27FC236}">
                <a16:creationId xmlns:a16="http://schemas.microsoft.com/office/drawing/2014/main" id="{A610C64F-1D4D-4BC2-B3F1-C0D047F2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81250"/>
            <a:ext cx="1905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5"/>
          </a:solidFill>
        </p:spPr>
      </p:sp>
      <p:sp>
        <p:nvSpPr>
          <p:cNvPr id="14" name="loop_1_accent">
            <a:extLst xmlns:a="http://schemas.openxmlformats.org/drawingml/2006/main">
              <a:ext uri="{FF2B5EF4-FFF2-40B4-BE49-F238E27FC236}">
                <a16:creationId xmlns:a16="http://schemas.microsoft.com/office/drawing/2014/main" id="{374DF690-076C-47DB-83F1-A9042912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8125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</p:spPr>
      </p:sp>
      <p:sp>
        <p:nvSpPr>
          <p:cNvPr id="15" name="loop_1_title">
            <a:extLst xmlns:a="http://schemas.openxmlformats.org/drawingml/2006/main">
              <a:ext uri="{FF2B5EF4-FFF2-40B4-BE49-F238E27FC236}">
                <a16:creationId xmlns:a16="http://schemas.microsoft.com/office/drawing/2014/main" id="{B910A675-96F7-4A16-B3FE-4FED92D0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533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selector candidates</a:t>
            </a:r>
          </a:p>
        </p:txBody>
      </p:sp>
      <p:sp>
        <p:nvSpPr>
          <p:cNvPr id="16" name="loop_1_body">
            <a:extLst xmlns:a="http://schemas.openxmlformats.org/drawingml/2006/main">
              <a:ext uri="{FF2B5EF4-FFF2-40B4-BE49-F238E27FC236}">
                <a16:creationId xmlns:a16="http://schemas.microsoft.com/office/drawing/2014/main" id="{D9286802-2AE2-4F5B-8E49-53BB73BD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57500"/>
            <a:ext cx="16002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coverage / temporal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blocked / shrinkage</a:t>
            </a:r>
          </a:p>
        </p:txBody>
      </p:sp>
      <p:sp>
        <p:nvSpPr>
          <p:cNvPr id="17" name="loop_2_fill">
            <a:extLst xmlns:a="http://schemas.openxmlformats.org/drawingml/2006/main">
              <a:ext uri="{FF2B5EF4-FFF2-40B4-BE49-F238E27FC236}">
                <a16:creationId xmlns:a16="http://schemas.microsoft.com/office/drawing/2014/main" id="{AF3D165F-980C-4C2A-855F-7F482908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76750"/>
            <a:ext cx="1905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4"/>
          </a:solidFill>
        </p:spPr>
      </p:sp>
      <p:sp>
        <p:nvSpPr>
          <p:cNvPr id="18" name="loop_2_accent">
            <a:extLst xmlns:a="http://schemas.openxmlformats.org/drawingml/2006/main">
              <a:ext uri="{FF2B5EF4-FFF2-40B4-BE49-F238E27FC236}">
                <a16:creationId xmlns:a16="http://schemas.microsoft.com/office/drawing/2014/main" id="{D13091FF-7CA8-475A-BC1E-F0ED7D34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7675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A2D"/>
          </a:solidFill>
        </p:spPr>
      </p:sp>
      <p:sp>
        <p:nvSpPr>
          <p:cNvPr id="19" name="loop_2_title">
            <a:extLst xmlns:a="http://schemas.openxmlformats.org/drawingml/2006/main">
              <a:ext uri="{FF2B5EF4-FFF2-40B4-BE49-F238E27FC236}">
                <a16:creationId xmlns:a16="http://schemas.microsoft.com/office/drawing/2014/main" id="{1505EA88-7127-4637-A093-8511D790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6291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policy checks</a:t>
            </a:r>
          </a:p>
        </p:txBody>
      </p:sp>
      <p:sp>
        <p:nvSpPr>
          <p:cNvPr id="20" name="loop_2_body">
            <a:extLst xmlns:a="http://schemas.openxmlformats.org/drawingml/2006/main">
              <a:ext uri="{FF2B5EF4-FFF2-40B4-BE49-F238E27FC236}">
                <a16:creationId xmlns:a16="http://schemas.microsoft.com/office/drawing/2014/main" id="{E6DDBAE2-0E0F-4B30-80BA-681F6CEE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953000"/>
            <a:ext cx="16002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support thresholds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fallback caps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source caps</a:t>
            </a:r>
          </a:p>
        </p:txBody>
      </p:sp>
      <p:sp>
        <p:nvSpPr>
          <p:cNvPr id="21" name="loop_3_fill">
            <a:extLst xmlns:a="http://schemas.openxmlformats.org/drawingml/2006/main">
              <a:ext uri="{FF2B5EF4-FFF2-40B4-BE49-F238E27FC236}">
                <a16:creationId xmlns:a16="http://schemas.microsoft.com/office/drawing/2014/main" id="{6D81FC60-8C8F-4A35-BE40-34EED59A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76750"/>
            <a:ext cx="1905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F5"/>
          </a:solidFill>
        </p:spPr>
      </p:sp>
      <p:sp>
        <p:nvSpPr>
          <p:cNvPr id="22" name="loop_3_accent">
            <a:extLst xmlns:a="http://schemas.openxmlformats.org/drawingml/2006/main">
              <a:ext uri="{FF2B5EF4-FFF2-40B4-BE49-F238E27FC236}">
                <a16:creationId xmlns:a16="http://schemas.microsoft.com/office/drawing/2014/main" id="{D1AEBEE3-ECD2-480F-8980-E14B74F0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7675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5EA8"/>
          </a:solidFill>
        </p:spPr>
      </p:sp>
      <p:sp>
        <p:nvSpPr>
          <p:cNvPr id="23" name="loop_3_title">
            <a:extLst xmlns:a="http://schemas.openxmlformats.org/drawingml/2006/main">
              <a:ext uri="{FF2B5EF4-FFF2-40B4-BE49-F238E27FC236}">
                <a16:creationId xmlns:a16="http://schemas.microsoft.com/office/drawing/2014/main" id="{CC7A81A0-35CB-4050-BED7-C025FA31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6291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baseline envelope</a:t>
            </a:r>
          </a:p>
        </p:txBody>
      </p:sp>
      <p:sp>
        <p:nvSpPr>
          <p:cNvPr id="24" name="loop_3_body">
            <a:extLst xmlns:a="http://schemas.openxmlformats.org/drawingml/2006/main">
              <a:ext uri="{FF2B5EF4-FFF2-40B4-BE49-F238E27FC236}">
                <a16:creationId xmlns:a16="http://schemas.microsoft.com/office/drawing/2014/main" id="{AA2FB1E5-0C24-4CA7-9AB6-671F2280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953000"/>
            <a:ext cx="16002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temporal / repo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random seeds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slice stability</a:t>
            </a:r>
          </a:p>
        </p:txBody>
      </p:sp>
      <p:sp>
        <p:nvSpPr>
          <p:cNvPr id="25" name="loop_link_0">
            <a:extLst xmlns:a="http://schemas.openxmlformats.org/drawingml/2006/main">
              <a:ext uri="{FF2B5EF4-FFF2-40B4-BE49-F238E27FC236}">
                <a16:creationId xmlns:a16="http://schemas.microsoft.com/office/drawing/2014/main" id="{28EBFE34-88C2-4F4A-A4F1-5F0A839A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0515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26" name="loop_link_1">
            <a:extLst xmlns:a="http://schemas.openxmlformats.org/drawingml/2006/main">
              <a:ext uri="{FF2B5EF4-FFF2-40B4-BE49-F238E27FC236}">
                <a16:creationId xmlns:a16="http://schemas.microsoft.com/office/drawing/2014/main" id="{9AAEF6CE-F907-4107-9CAE-C43145FD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62350"/>
            <a:ext cx="285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27" name="loop_link_2">
            <a:extLst xmlns:a="http://schemas.openxmlformats.org/drawingml/2006/main">
              <a:ext uri="{FF2B5EF4-FFF2-40B4-BE49-F238E27FC236}">
                <a16:creationId xmlns:a16="http://schemas.microsoft.com/office/drawing/2014/main" id="{1D6A7B60-FC24-4D2D-B69D-2BA98E5B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1015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28" name="loop_link_3">
            <a:extLst xmlns:a="http://schemas.openxmlformats.org/drawingml/2006/main">
              <a:ext uri="{FF2B5EF4-FFF2-40B4-BE49-F238E27FC236}">
                <a16:creationId xmlns:a16="http://schemas.microsoft.com/office/drawing/2014/main" id="{E98C8A64-2D93-4FD4-9139-EAD6DDFD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038600"/>
            <a:ext cx="285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29" name="loop_label">
            <a:extLst xmlns:a="http://schemas.openxmlformats.org/drawingml/2006/main">
              <a:ext uri="{FF2B5EF4-FFF2-40B4-BE49-F238E27FC236}">
                <a16:creationId xmlns:a16="http://schemas.microsoft.com/office/drawing/2014/main" id="{EF2C5950-FF9B-4FBF-945B-ABA7517C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0005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7716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716B"/>
                </a:solidFill>
                <a:latin typeface="PingFang SC"/>
                <a:ea typeface="PingFang SC"/>
                <a:cs typeface="PingFang SC"/>
              </a:rPr>
              <a:t>algorithm evolution loop</a:t>
            </a:r>
          </a:p>
        </p:txBody>
      </p:sp>
      <p:sp>
        <p:nvSpPr>
          <p:cNvPr id="30" name="gate_0_fill">
            <a:extLst xmlns:a="http://schemas.openxmlformats.org/drawingml/2006/main">
              <a:ext uri="{FF2B5EF4-FFF2-40B4-BE49-F238E27FC236}">
                <a16:creationId xmlns:a16="http://schemas.microsoft.com/office/drawing/2014/main" id="{17D5534D-60A2-4293-A531-30CB33C0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47900"/>
            <a:ext cx="276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B"/>
          </a:solidFill>
        </p:spPr>
      </p:sp>
      <p:sp>
        <p:nvSpPr>
          <p:cNvPr id="31" name="gate_0_rule">
            <a:extLst xmlns:a="http://schemas.openxmlformats.org/drawingml/2006/main">
              <a:ext uri="{FF2B5EF4-FFF2-40B4-BE49-F238E27FC236}">
                <a16:creationId xmlns:a16="http://schemas.microsoft.com/office/drawing/2014/main" id="{3DCA32EE-8224-461A-9E83-97355051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479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16B"/>
          </a:solidFill>
        </p:spPr>
      </p:sp>
      <p:sp>
        <p:nvSpPr>
          <p:cNvPr id="32" name="gate_0_title">
            <a:extLst xmlns:a="http://schemas.openxmlformats.org/drawingml/2006/main">
              <a:ext uri="{FF2B5EF4-FFF2-40B4-BE49-F238E27FC236}">
                <a16:creationId xmlns:a16="http://schemas.microsoft.com/office/drawing/2014/main" id="{6AAFE6C8-4429-4612-95BA-0AC4650B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431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freeze release</a:t>
            </a:r>
          </a:p>
        </p:txBody>
      </p:sp>
      <p:sp>
        <p:nvSpPr>
          <p:cNvPr id="33" name="gate_0_body">
            <a:extLst xmlns:a="http://schemas.openxmlformats.org/drawingml/2006/main">
              <a:ext uri="{FF2B5EF4-FFF2-40B4-BE49-F238E27FC236}">
                <a16:creationId xmlns:a16="http://schemas.microsoft.com/office/drawing/2014/main" id="{F11EF12F-494D-4A07-9080-A4BFEC43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717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task IDs / split / fallback</a:t>
            </a:r>
          </a:p>
        </p:txBody>
      </p:sp>
      <p:sp>
        <p:nvSpPr>
          <p:cNvPr id="34" name="gate_link_0">
            <a:extLst xmlns:a="http://schemas.openxmlformats.org/drawingml/2006/main">
              <a:ext uri="{FF2B5EF4-FFF2-40B4-BE49-F238E27FC236}">
                <a16:creationId xmlns:a16="http://schemas.microsoft.com/office/drawing/2014/main" id="{8E39A202-FAC1-43C4-8FF1-4A5BBDB2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285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35" name="gate_1_fill">
            <a:extLst xmlns:a="http://schemas.openxmlformats.org/drawingml/2006/main">
              <a:ext uri="{FF2B5EF4-FFF2-40B4-BE49-F238E27FC236}">
                <a16:creationId xmlns:a16="http://schemas.microsoft.com/office/drawing/2014/main" id="{02C960DD-A269-40B3-8A74-EED7EC49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71800"/>
            <a:ext cx="276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36" name="gate_1_rule">
            <a:extLst xmlns:a="http://schemas.openxmlformats.org/drawingml/2006/main">
              <a:ext uri="{FF2B5EF4-FFF2-40B4-BE49-F238E27FC236}">
                <a16:creationId xmlns:a16="http://schemas.microsoft.com/office/drawing/2014/main" id="{47085E86-FE36-423C-80A7-F0CBA926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718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</p:spPr>
      </p:sp>
      <p:sp>
        <p:nvSpPr>
          <p:cNvPr id="37" name="gate_1_title">
            <a:extLst xmlns:a="http://schemas.openxmlformats.org/drawingml/2006/main">
              <a:ext uri="{FF2B5EF4-FFF2-40B4-BE49-F238E27FC236}">
                <a16:creationId xmlns:a16="http://schemas.microsoft.com/office/drawing/2014/main" id="{C1469534-83AA-4C02-9A28-BDF9637F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670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fix named ACUTs</a:t>
            </a:r>
          </a:p>
        </p:txBody>
      </p:sp>
      <p:sp>
        <p:nvSpPr>
          <p:cNvPr id="38" name="gate_1_body">
            <a:extLst xmlns:a="http://schemas.openxmlformats.org/drawingml/2006/main">
              <a:ext uri="{FF2B5EF4-FFF2-40B4-BE49-F238E27FC236}">
                <a16:creationId xmlns:a16="http://schemas.microsoft.com/office/drawing/2014/main" id="{7E2576B0-C897-44D7-B04A-1F42EF22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endpoint and adapter checks</a:t>
            </a:r>
          </a:p>
        </p:txBody>
      </p:sp>
      <p:sp>
        <p:nvSpPr>
          <p:cNvPr id="39" name="gate_link_1">
            <a:extLst xmlns:a="http://schemas.openxmlformats.org/drawingml/2006/main">
              <a:ext uri="{FF2B5EF4-FFF2-40B4-BE49-F238E27FC236}">
                <a16:creationId xmlns:a16="http://schemas.microsoft.com/office/drawing/2014/main" id="{D459169A-B62E-4460-B304-5054B5D0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81400"/>
            <a:ext cx="285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40" name="gate_2_fill">
            <a:extLst xmlns:a="http://schemas.openxmlformats.org/drawingml/2006/main">
              <a:ext uri="{FF2B5EF4-FFF2-40B4-BE49-F238E27FC236}">
                <a16:creationId xmlns:a16="http://schemas.microsoft.com/office/drawing/2014/main" id="{6CBA7934-A2A8-494D-A07F-6FC133BF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95700"/>
            <a:ext cx="276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B"/>
          </a:solidFill>
        </p:spPr>
      </p:sp>
      <p:sp>
        <p:nvSpPr>
          <p:cNvPr id="41" name="gate_2_rule">
            <a:extLst xmlns:a="http://schemas.openxmlformats.org/drawingml/2006/main">
              <a:ext uri="{FF2B5EF4-FFF2-40B4-BE49-F238E27FC236}">
                <a16:creationId xmlns:a16="http://schemas.microsoft.com/office/drawing/2014/main" id="{B784CD3C-5040-4468-8242-23CFA23C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957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16B"/>
          </a:solidFill>
        </p:spPr>
      </p:sp>
      <p:sp>
        <p:nvSpPr>
          <p:cNvPr id="42" name="gate_2_title">
            <a:extLst xmlns:a="http://schemas.openxmlformats.org/drawingml/2006/main">
              <a:ext uri="{FF2B5EF4-FFF2-40B4-BE49-F238E27FC236}">
                <a16:creationId xmlns:a16="http://schemas.microsoft.com/office/drawing/2014/main" id="{DC6D3BCF-FE5A-4B43-8580-375F0D05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909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freeze baselines</a:t>
            </a:r>
          </a:p>
        </p:txBody>
      </p:sp>
      <p:sp>
        <p:nvSpPr>
          <p:cNvPr id="43" name="gate_2_body">
            <a:extLst xmlns:a="http://schemas.openxmlformats.org/drawingml/2006/main">
              <a:ext uri="{FF2B5EF4-FFF2-40B4-BE49-F238E27FC236}">
                <a16:creationId xmlns:a16="http://schemas.microsoft.com/office/drawing/2014/main" id="{3D836E61-CB3C-4138-9029-275BB313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195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seeds / invalid handling</a:t>
            </a:r>
          </a:p>
        </p:txBody>
      </p:sp>
      <p:sp>
        <p:nvSpPr>
          <p:cNvPr id="44" name="gate_link_2">
            <a:extLst xmlns:a="http://schemas.openxmlformats.org/drawingml/2006/main">
              <a:ext uri="{FF2B5EF4-FFF2-40B4-BE49-F238E27FC236}">
                <a16:creationId xmlns:a16="http://schemas.microsoft.com/office/drawing/2014/main" id="{0C7378AA-0850-4406-A8D5-652C2C01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05300"/>
            <a:ext cx="285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45" name="gate_3_fill">
            <a:extLst xmlns:a="http://schemas.openxmlformats.org/drawingml/2006/main">
              <a:ext uri="{FF2B5EF4-FFF2-40B4-BE49-F238E27FC236}">
                <a16:creationId xmlns:a16="http://schemas.microsoft.com/office/drawing/2014/main" id="{28487F11-9DC2-41A4-B70A-F13D7E18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19600"/>
            <a:ext cx="276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46" name="gate_3_rule">
            <a:extLst xmlns:a="http://schemas.openxmlformats.org/drawingml/2006/main">
              <a:ext uri="{FF2B5EF4-FFF2-40B4-BE49-F238E27FC236}">
                <a16:creationId xmlns:a16="http://schemas.microsoft.com/office/drawing/2014/main" id="{6A9A201E-51C5-4E2D-9040-A72DA549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196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</p:spPr>
      </p:sp>
      <p:sp>
        <p:nvSpPr>
          <p:cNvPr id="47" name="gate_3_title">
            <a:extLst xmlns:a="http://schemas.openxmlformats.org/drawingml/2006/main">
              <a:ext uri="{FF2B5EF4-FFF2-40B4-BE49-F238E27FC236}">
                <a16:creationId xmlns:a16="http://schemas.microsoft.com/office/drawing/2014/main" id="{93EF28A9-9031-44B7-9369-D7893704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148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join future outcomes</a:t>
            </a:r>
          </a:p>
        </p:txBody>
      </p:sp>
      <p:sp>
        <p:nvSpPr>
          <p:cNvPr id="48" name="gate_3_body">
            <a:extLst xmlns:a="http://schemas.openxmlformats.org/drawingml/2006/main">
              <a:ext uri="{FF2B5EF4-FFF2-40B4-BE49-F238E27FC236}">
                <a16:creationId xmlns:a16="http://schemas.microsoft.com/office/drawing/2014/main" id="{0EFAC543-C9D4-4140-8EE1-9A33C141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434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outcome-unseen score join</a:t>
            </a:r>
          </a:p>
        </p:txBody>
      </p:sp>
      <p:sp>
        <p:nvSpPr>
          <p:cNvPr id="49" name="gate_link_3">
            <a:extLst xmlns:a="http://schemas.openxmlformats.org/drawingml/2006/main">
              <a:ext uri="{FF2B5EF4-FFF2-40B4-BE49-F238E27FC236}">
                <a16:creationId xmlns:a16="http://schemas.microsoft.com/office/drawing/2014/main" id="{C4948200-51A2-4E7C-A5F1-1B7E056D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29200"/>
            <a:ext cx="285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50" name="gate_4_fill">
            <a:extLst xmlns:a="http://schemas.openxmlformats.org/drawingml/2006/main">
              <a:ext uri="{FF2B5EF4-FFF2-40B4-BE49-F238E27FC236}">
                <a16:creationId xmlns:a16="http://schemas.microsoft.com/office/drawing/2014/main" id="{5429C721-0462-4C8C-8DD5-2EEAFD56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143500"/>
            <a:ext cx="276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B"/>
          </a:solidFill>
        </p:spPr>
      </p:sp>
      <p:sp>
        <p:nvSpPr>
          <p:cNvPr id="51" name="gate_4_rule">
            <a:extLst xmlns:a="http://schemas.openxmlformats.org/drawingml/2006/main">
              <a:ext uri="{FF2B5EF4-FFF2-40B4-BE49-F238E27FC236}">
                <a16:creationId xmlns:a16="http://schemas.microsoft.com/office/drawing/2014/main" id="{30513EF9-ECB3-4CFB-A8D8-EF642045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1435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16B"/>
          </a:solidFill>
        </p:spPr>
      </p:sp>
      <p:sp>
        <p:nvSpPr>
          <p:cNvPr id="52" name="gate_4_title">
            <a:extLst xmlns:a="http://schemas.openxmlformats.org/drawingml/2006/main">
              <a:ext uri="{FF2B5EF4-FFF2-40B4-BE49-F238E27FC236}">
                <a16:creationId xmlns:a16="http://schemas.microsoft.com/office/drawing/2014/main" id="{2905EFA0-8BEF-4784-BEB7-659F6270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238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state scoped result</a:t>
            </a:r>
          </a:p>
        </p:txBody>
      </p:sp>
      <p:sp>
        <p:nvSpPr>
          <p:cNvPr id="53" name="gate_4_body">
            <a:extLst xmlns:a="http://schemas.openxmlformats.org/drawingml/2006/main">
              <a:ext uri="{FF2B5EF4-FFF2-40B4-BE49-F238E27FC236}">
                <a16:creationId xmlns:a16="http://schemas.microsoft.com/office/drawing/2014/main" id="{5FF8C462-F7F0-49A8-AB55-E0F595B6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4673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margin / support / invalid cells</a:t>
            </a:r>
          </a:p>
        </p:txBody>
      </p:sp>
      <p:sp>
        <p:nvSpPr>
          <p:cNvPr id="54" name="route_note">
            <a:extLst xmlns:a="http://schemas.openxmlformats.org/drawingml/2006/main">
              <a:ext uri="{FF2B5EF4-FFF2-40B4-BE49-F238E27FC236}">
                <a16:creationId xmlns:a16="http://schemas.microsoft.com/office/drawing/2014/main" id="{E867914A-3DC7-4B9F-A930-3081C361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981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true future holdout 是最强路线；preregistered rolling origin 需要 cutoffs、seeds、selection rule、baselines、invalid handling 和 success criteria 在 outcome 前固定。</a:t>
            </a:r>
          </a:p>
        </p:txBody>
      </p:sp>
    </p:spTree>
    <p:extLst>
      <p:ext uri="{BB962C8B-B14F-4D97-AF65-F5344CB8AC3E}">
        <p14:creationId xmlns:p14="http://schemas.microsoft.com/office/powerpoint/2010/main" val="155365016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B07AB298-FA0D-450D-A22F-2A965286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title_rail">
            <a:extLst xmlns:a="http://schemas.openxmlformats.org/drawingml/2006/main">
              <a:ext uri="{FF2B5EF4-FFF2-40B4-BE49-F238E27FC236}">
                <a16:creationId xmlns:a16="http://schemas.microsoft.com/office/drawing/2014/main" id="{74D2B69F-2192-4195-8556-507832FA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2"/>
          </a:solidFill>
        </p:spPr>
      </p:sp>
      <p:sp>
        <p:nvSpPr>
          <p:cNvPr id="3" name="page_number">
            <a:extLst xmlns:a="http://schemas.openxmlformats.org/drawingml/2006/main">
              <a:ext uri="{FF2B5EF4-FFF2-40B4-BE49-F238E27FC236}">
                <a16:creationId xmlns:a16="http://schemas.microsoft.com/office/drawing/2014/main" id="{05658F4C-62EE-4B00-BCEA-733DEBF2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4" name="title_label">
            <a:extLst xmlns:a="http://schemas.openxmlformats.org/drawingml/2006/main">
              <a:ext uri="{FF2B5EF4-FFF2-40B4-BE49-F238E27FC236}">
                <a16:creationId xmlns:a16="http://schemas.microsoft.com/office/drawing/2014/main" id="{DB3C0E66-B467-4AFD-ABCE-FA8BA751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00100"/>
            <a:ext cx="571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产品化</a:t>
            </a:r>
          </a:p>
          <a:p xmlns:a="http://schemas.openxmlformats.org/drawingml/2006/main">
            <a:pPr algn="ctr">
              <a:def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方向</a:t>
            </a:r>
          </a:p>
        </p:txBody>
      </p:sp>
      <p:sp>
        <p:nvSpPr>
          <p:cNvPr id="5" name="main_title">
            <a:extLst xmlns:a="http://schemas.openxmlformats.org/drawingml/2006/main">
              <a:ext uri="{FF2B5EF4-FFF2-40B4-BE49-F238E27FC236}">
                <a16:creationId xmlns:a16="http://schemas.microsoft.com/office/drawing/2014/main" id="{7A013937-0E90-4471-9352-0BB7DCC0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Agent License 可以使用仓库级证据状态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E16D81AC-694D-4D5E-83AA-CD0F8693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9334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deployment governance 需要 scoped evidence、risk status 和 uncertainty。</a:t>
            </a:r>
          </a:p>
        </p:txBody>
      </p:sp>
      <p:sp>
        <p:nvSpPr>
          <p:cNvPr id="7" name="header_rule">
            <a:extLst xmlns:a="http://schemas.openxmlformats.org/drawingml/2006/main">
              <a:ext uri="{FF2B5EF4-FFF2-40B4-BE49-F238E27FC236}">
                <a16:creationId xmlns:a16="http://schemas.microsoft.com/office/drawing/2014/main" id="{513B6B10-B413-4916-B34E-A3DCDC45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52550"/>
            <a:ext cx="967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8" name="license_copy">
            <a:extLst xmlns:a="http://schemas.openxmlformats.org/drawingml/2006/main">
              <a:ext uri="{FF2B5EF4-FFF2-40B4-BE49-F238E27FC236}">
                <a16:creationId xmlns:a16="http://schemas.microsoft.com/office/drawing/2014/main" id="{D9F508C0-9BDD-4D3A-BCF8-2BC028BC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383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163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Barcarolle evidence layer 连接目标仓库、任务类别、风险等级、ACUT 配置、source quality、成本、延迟和 scoped use decision，帮助团队判断某个使用范围的证据是否足够。</a:t>
            </a:r>
          </a:p>
        </p:txBody>
      </p:sp>
      <p:sp>
        <p:nvSpPr>
          <p:cNvPr id="9" name="license_step_0_fill">
            <a:extLst xmlns:a="http://schemas.openxmlformats.org/drawingml/2006/main">
              <a:ext uri="{FF2B5EF4-FFF2-40B4-BE49-F238E27FC236}">
                <a16:creationId xmlns:a16="http://schemas.microsoft.com/office/drawing/2014/main" id="{586C3D4E-6CDE-4DE3-A320-55276568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81300"/>
            <a:ext cx="165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5"/>
          </a:solidFill>
        </p:spPr>
      </p:sp>
      <p:sp>
        <p:nvSpPr>
          <p:cNvPr id="10" name="license_step_0_accent">
            <a:extLst xmlns:a="http://schemas.openxmlformats.org/drawingml/2006/main">
              <a:ext uri="{FF2B5EF4-FFF2-40B4-BE49-F238E27FC236}">
                <a16:creationId xmlns:a16="http://schemas.microsoft.com/office/drawing/2014/main" id="{64A05CD4-B96A-4331-BEF7-21C9138B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813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</p:spPr>
      </p:sp>
      <p:sp>
        <p:nvSpPr>
          <p:cNvPr id="11" name="license_step_0_title">
            <a:extLst xmlns:a="http://schemas.openxmlformats.org/drawingml/2006/main">
              <a:ext uri="{FF2B5EF4-FFF2-40B4-BE49-F238E27FC236}">
                <a16:creationId xmlns:a16="http://schemas.microsoft.com/office/drawing/2014/main" id="{7ABF76CC-E765-40D3-B077-A24F13F7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337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repo / task category</a:t>
            </a:r>
          </a:p>
        </p:txBody>
      </p:sp>
      <p:sp>
        <p:nvSpPr>
          <p:cNvPr id="12" name="license_step_0_body">
            <a:extLst xmlns:a="http://schemas.openxmlformats.org/drawingml/2006/main">
              <a:ext uri="{FF2B5EF4-FFF2-40B4-BE49-F238E27FC236}">
                <a16:creationId xmlns:a16="http://schemas.microsoft.com/office/drawing/2014/main" id="{E0294FF5-453B-488A-B886-EF43119C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57550"/>
            <a:ext cx="135255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source quality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support</a:t>
            </a:r>
          </a:p>
        </p:txBody>
      </p:sp>
      <p:sp>
        <p:nvSpPr>
          <p:cNvPr id="13" name="license_link_0">
            <a:extLst xmlns:a="http://schemas.openxmlformats.org/drawingml/2006/main">
              <a:ext uri="{FF2B5EF4-FFF2-40B4-BE49-F238E27FC236}">
                <a16:creationId xmlns:a16="http://schemas.microsoft.com/office/drawing/2014/main" id="{C7C90C11-1AEC-4A1D-9CDE-00C7EA5C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909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14" name="license_step_1_fill">
            <a:extLst xmlns:a="http://schemas.openxmlformats.org/drawingml/2006/main">
              <a:ext uri="{FF2B5EF4-FFF2-40B4-BE49-F238E27FC236}">
                <a16:creationId xmlns:a16="http://schemas.microsoft.com/office/drawing/2014/main" id="{BC9E6C75-B4F7-4A5D-8386-479DBD63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81300"/>
            <a:ext cx="165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4"/>
          </a:solidFill>
        </p:spPr>
      </p:sp>
      <p:sp>
        <p:nvSpPr>
          <p:cNvPr id="15" name="license_step_1_accent">
            <a:extLst xmlns:a="http://schemas.openxmlformats.org/drawingml/2006/main">
              <a:ext uri="{FF2B5EF4-FFF2-40B4-BE49-F238E27FC236}">
                <a16:creationId xmlns:a16="http://schemas.microsoft.com/office/drawing/2014/main" id="{3F1F9D13-9425-4822-90F9-B2935E0A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813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A2D"/>
          </a:solidFill>
        </p:spPr>
      </p:sp>
      <p:sp>
        <p:nvSpPr>
          <p:cNvPr id="16" name="license_step_1_title">
            <a:extLst xmlns:a="http://schemas.openxmlformats.org/drawingml/2006/main">
              <a:ext uri="{FF2B5EF4-FFF2-40B4-BE49-F238E27FC236}">
                <a16:creationId xmlns:a16="http://schemas.microsoft.com/office/drawing/2014/main" id="{74BBAD5A-1B6D-4461-AB1D-FEF330C7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337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risk tier</a:t>
            </a:r>
          </a:p>
        </p:txBody>
      </p:sp>
      <p:sp>
        <p:nvSpPr>
          <p:cNvPr id="17" name="license_step_1_body">
            <a:extLst xmlns:a="http://schemas.openxmlformats.org/drawingml/2006/main">
              <a:ext uri="{FF2B5EF4-FFF2-40B4-BE49-F238E27FC236}">
                <a16:creationId xmlns:a16="http://schemas.microsoft.com/office/drawing/2014/main" id="{444F8E1F-0F04-4B74-B5A4-1C6C113A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57550"/>
            <a:ext cx="135255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uncertainty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failure taxonomy</a:t>
            </a:r>
          </a:p>
        </p:txBody>
      </p:sp>
      <p:sp>
        <p:nvSpPr>
          <p:cNvPr id="18" name="license_link_1">
            <a:extLst xmlns:a="http://schemas.openxmlformats.org/drawingml/2006/main">
              <a:ext uri="{FF2B5EF4-FFF2-40B4-BE49-F238E27FC236}">
                <a16:creationId xmlns:a16="http://schemas.microsoft.com/office/drawing/2014/main" id="{8679FAB5-00B9-45F1-9FB1-0B358DAC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909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19" name="license_step_2_fill">
            <a:extLst xmlns:a="http://schemas.openxmlformats.org/drawingml/2006/main">
              <a:ext uri="{FF2B5EF4-FFF2-40B4-BE49-F238E27FC236}">
                <a16:creationId xmlns:a16="http://schemas.microsoft.com/office/drawing/2014/main" id="{CE08EA2A-C6E7-4FCA-B959-C5D79CBB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781300"/>
            <a:ext cx="165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5"/>
          </a:solidFill>
        </p:spPr>
      </p:sp>
      <p:sp>
        <p:nvSpPr>
          <p:cNvPr id="20" name="license_step_2_accent">
            <a:extLst xmlns:a="http://schemas.openxmlformats.org/drawingml/2006/main">
              <a:ext uri="{FF2B5EF4-FFF2-40B4-BE49-F238E27FC236}">
                <a16:creationId xmlns:a16="http://schemas.microsoft.com/office/drawing/2014/main" id="{5D2A7A59-EEE9-4960-8582-C6C8532D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7813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</p:spPr>
      </p:sp>
      <p:sp>
        <p:nvSpPr>
          <p:cNvPr id="21" name="license_step_2_title">
            <a:extLst xmlns:a="http://schemas.openxmlformats.org/drawingml/2006/main">
              <a:ext uri="{FF2B5EF4-FFF2-40B4-BE49-F238E27FC236}">
                <a16:creationId xmlns:a16="http://schemas.microsoft.com/office/drawing/2014/main" id="{B3E03A67-C40A-49C7-95AE-E3A2E75A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337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named ACUT scorecard</a:t>
            </a:r>
          </a:p>
        </p:txBody>
      </p:sp>
      <p:sp>
        <p:nvSpPr>
          <p:cNvPr id="22" name="license_step_2_body">
            <a:extLst xmlns:a="http://schemas.openxmlformats.org/drawingml/2006/main">
              <a:ext uri="{FF2B5EF4-FFF2-40B4-BE49-F238E27FC236}">
                <a16:creationId xmlns:a16="http://schemas.microsoft.com/office/drawing/2014/main" id="{245F80C2-4CF8-422F-98A1-985AFA05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57550"/>
            <a:ext cx="135255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adapter-stratified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cost / latency</a:t>
            </a:r>
          </a:p>
        </p:txBody>
      </p:sp>
      <p:sp>
        <p:nvSpPr>
          <p:cNvPr id="23" name="license_link_2">
            <a:extLst xmlns:a="http://schemas.openxmlformats.org/drawingml/2006/main">
              <a:ext uri="{FF2B5EF4-FFF2-40B4-BE49-F238E27FC236}">
                <a16:creationId xmlns:a16="http://schemas.microsoft.com/office/drawing/2014/main" id="{3F7F0558-98BB-42D3-BEBA-BB8E9EAD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909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24" name="license_step_3_fill">
            <a:extLst xmlns:a="http://schemas.openxmlformats.org/drawingml/2006/main">
              <a:ext uri="{FF2B5EF4-FFF2-40B4-BE49-F238E27FC236}">
                <a16:creationId xmlns:a16="http://schemas.microsoft.com/office/drawing/2014/main" id="{ACDC0FA7-5E07-48FC-BBF2-5FD882BD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81300"/>
            <a:ext cx="165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4"/>
          </a:solidFill>
        </p:spPr>
      </p:sp>
      <p:sp>
        <p:nvSpPr>
          <p:cNvPr id="25" name="license_step_3_accent">
            <a:extLst xmlns:a="http://schemas.openxmlformats.org/drawingml/2006/main">
              <a:ext uri="{FF2B5EF4-FFF2-40B4-BE49-F238E27FC236}">
                <a16:creationId xmlns:a16="http://schemas.microsoft.com/office/drawing/2014/main" id="{FAC65301-B425-4FC6-A7DE-F106D9C0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813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A2D"/>
          </a:solidFill>
        </p:spPr>
      </p:sp>
      <p:sp>
        <p:nvSpPr>
          <p:cNvPr id="26" name="license_step_3_title">
            <a:extLst xmlns:a="http://schemas.openxmlformats.org/drawingml/2006/main">
              <a:ext uri="{FF2B5EF4-FFF2-40B4-BE49-F238E27FC236}">
                <a16:creationId xmlns:a16="http://schemas.microsoft.com/office/drawing/2014/main" id="{2DDE05E6-52DA-4373-B1EA-EDDFBDC7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337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evidence status</a:t>
            </a:r>
          </a:p>
        </p:txBody>
      </p:sp>
      <p:sp>
        <p:nvSpPr>
          <p:cNvPr id="27" name="license_step_3_body">
            <a:extLst xmlns:a="http://schemas.openxmlformats.org/drawingml/2006/main">
              <a:ext uri="{FF2B5EF4-FFF2-40B4-BE49-F238E27FC236}">
                <a16:creationId xmlns:a16="http://schemas.microsoft.com/office/drawing/2014/main" id="{690BA5C2-1343-42D2-B545-DD67A02B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57550"/>
            <a:ext cx="135255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limits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confidence</a:t>
            </a:r>
          </a:p>
        </p:txBody>
      </p:sp>
      <p:sp>
        <p:nvSpPr>
          <p:cNvPr id="28" name="license_link_3">
            <a:extLst xmlns:a="http://schemas.openxmlformats.org/drawingml/2006/main">
              <a:ext uri="{FF2B5EF4-FFF2-40B4-BE49-F238E27FC236}">
                <a16:creationId xmlns:a16="http://schemas.microsoft.com/office/drawing/2014/main" id="{C93CF08C-9708-4B49-AC92-39F01A41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909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29" name="license_step_4_fill">
            <a:extLst xmlns:a="http://schemas.openxmlformats.org/drawingml/2006/main">
              <a:ext uri="{FF2B5EF4-FFF2-40B4-BE49-F238E27FC236}">
                <a16:creationId xmlns:a16="http://schemas.microsoft.com/office/drawing/2014/main" id="{309E1390-565A-4FE6-9EE7-1BFED851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81300"/>
            <a:ext cx="165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5"/>
          </a:solidFill>
        </p:spPr>
      </p:sp>
      <p:sp>
        <p:nvSpPr>
          <p:cNvPr id="30" name="license_step_4_accent">
            <a:extLst xmlns:a="http://schemas.openxmlformats.org/drawingml/2006/main">
              <a:ext uri="{FF2B5EF4-FFF2-40B4-BE49-F238E27FC236}">
                <a16:creationId xmlns:a16="http://schemas.microsoft.com/office/drawing/2014/main" id="{5495BF2F-27C5-4F3A-860E-DAA5A29A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813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</p:spPr>
      </p:sp>
      <p:sp>
        <p:nvSpPr>
          <p:cNvPr id="31" name="license_step_4_title">
            <a:extLst xmlns:a="http://schemas.openxmlformats.org/drawingml/2006/main">
              <a:ext uri="{FF2B5EF4-FFF2-40B4-BE49-F238E27FC236}">
                <a16:creationId xmlns:a16="http://schemas.microsoft.com/office/drawing/2014/main" id="{693A712E-67B0-4F33-96E4-20A379E1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337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scoped use decision</a:t>
            </a:r>
          </a:p>
        </p:txBody>
      </p:sp>
      <p:sp>
        <p:nvSpPr>
          <p:cNvPr id="32" name="license_step_4_body">
            <a:extLst xmlns:a="http://schemas.openxmlformats.org/drawingml/2006/main">
              <a:ext uri="{FF2B5EF4-FFF2-40B4-BE49-F238E27FC236}">
                <a16:creationId xmlns:a16="http://schemas.microsoft.com/office/drawing/2014/main" id="{4710F659-0C6A-40B8-B57D-117ED374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57550"/>
            <a:ext cx="135255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approved scope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monitoring note</a:t>
            </a:r>
          </a:p>
        </p:txBody>
      </p:sp>
      <p:sp>
        <p:nvSpPr>
          <p:cNvPr id="33" name="license_output">
            <a:extLst xmlns:a="http://schemas.openxmlformats.org/drawingml/2006/main">
              <a:ext uri="{FF2B5EF4-FFF2-40B4-BE49-F238E27FC236}">
                <a16:creationId xmlns:a16="http://schemas.microsoft.com/office/drawing/2014/main" id="{2A5ED00C-A322-48C8-AF28-3B4DA4E4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53000"/>
            <a:ext cx="619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34" name="license_output_text">
            <a:extLst xmlns:a="http://schemas.openxmlformats.org/drawingml/2006/main">
              <a:ext uri="{FF2B5EF4-FFF2-40B4-BE49-F238E27FC236}">
                <a16:creationId xmlns:a16="http://schemas.microsoft.com/office/drawing/2014/main" id="{6E098E08-49C4-4D42-AD54-6B7532D2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067300"/>
            <a:ext cx="588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050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输出：evidence status、limits、source-quality note、adapter note、cost/latency note、uncertainty note</a:t>
            </a:r>
          </a:p>
        </p:txBody>
      </p:sp>
    </p:spTree>
    <p:extLst>
      <p:ext uri="{BB962C8B-B14F-4D97-AF65-F5344CB8AC3E}">
        <p14:creationId xmlns:p14="http://schemas.microsoft.com/office/powerpoint/2010/main" val="126645675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38D45A43-1ACF-4118-8183-61B55BAC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title_rail">
            <a:extLst xmlns:a="http://schemas.openxmlformats.org/drawingml/2006/main">
              <a:ext uri="{FF2B5EF4-FFF2-40B4-BE49-F238E27FC236}">
                <a16:creationId xmlns:a16="http://schemas.microsoft.com/office/drawing/2014/main" id="{3354FC5A-FB8B-4DC5-898D-99605198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2"/>
          </a:solidFill>
        </p:spPr>
      </p:sp>
      <p:sp>
        <p:nvSpPr>
          <p:cNvPr id="3" name="page_number">
            <a:extLst xmlns:a="http://schemas.openxmlformats.org/drawingml/2006/main">
              <a:ext uri="{FF2B5EF4-FFF2-40B4-BE49-F238E27FC236}">
                <a16:creationId xmlns:a16="http://schemas.microsoft.com/office/drawing/2014/main" id="{26F610DA-B910-4E28-BC26-EFD29A0F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4" name="title_label">
            <a:extLst xmlns:a="http://schemas.openxmlformats.org/drawingml/2006/main">
              <a:ext uri="{FF2B5EF4-FFF2-40B4-BE49-F238E27FC236}">
                <a16:creationId xmlns:a16="http://schemas.microsoft.com/office/drawing/2014/main" id="{9B1E748D-1018-4C13-8C7F-FA371AE1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00100"/>
            <a:ext cx="571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产品化</a:t>
            </a:r>
          </a:p>
          <a:p xmlns:a="http://schemas.openxmlformats.org/drawingml/2006/main">
            <a:pPr algn="ctr">
              <a:def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方向</a:t>
            </a:r>
          </a:p>
        </p:txBody>
      </p:sp>
      <p:sp>
        <p:nvSpPr>
          <p:cNvPr id="5" name="main_title">
            <a:extLst xmlns:a="http://schemas.openxmlformats.org/drawingml/2006/main">
              <a:ext uri="{FF2B5EF4-FFF2-40B4-BE49-F238E27FC236}">
                <a16:creationId xmlns:a16="http://schemas.microsoft.com/office/drawing/2014/main" id="{7F16136A-082A-4914-B59F-F0FF3D3A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Agent Tuning 需要受保护的 dev / eval / canary 回路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5B7D4CBC-24E5-4D52-9D5D-2CE5477A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9334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反馈可以帮助比较配置，同时保护正式验证材料。</a:t>
            </a:r>
          </a:p>
        </p:txBody>
      </p:sp>
      <p:sp>
        <p:nvSpPr>
          <p:cNvPr id="7" name="header_rule">
            <a:extLst xmlns:a="http://schemas.openxmlformats.org/drawingml/2006/main">
              <a:ext uri="{FF2B5EF4-FFF2-40B4-BE49-F238E27FC236}">
                <a16:creationId xmlns:a16="http://schemas.microsoft.com/office/drawing/2014/main" id="{9144C0C2-9FE4-4C8D-BBF5-E36EFF74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52550"/>
            <a:ext cx="967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8" name="tuning_copy">
            <a:extLst xmlns:a="http://schemas.openxmlformats.org/drawingml/2006/main">
              <a:ext uri="{FF2B5EF4-FFF2-40B4-BE49-F238E27FC236}">
                <a16:creationId xmlns:a16="http://schemas.microsoft.com/office/drawing/2014/main" id="{42FEECA6-A873-4D0E-A231-60927626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38300"/>
            <a:ext cx="847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163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Barcarolle 可提供 dev feedback、eval release、canary release、failure taxonomy、scorecard、regression signal、cost 和 latency summaries，帮助比较 prompt、retrieval、skills、tool policy、model 和 runtime budget。</a:t>
            </a:r>
          </a:p>
        </p:txBody>
      </p:sp>
      <p:sp>
        <p:nvSpPr>
          <p:cNvPr id="9" name="tuning_input_0_fill">
            <a:extLst xmlns:a="http://schemas.openxmlformats.org/drawingml/2006/main">
              <a:ext uri="{FF2B5EF4-FFF2-40B4-BE49-F238E27FC236}">
                <a16:creationId xmlns:a16="http://schemas.microsoft.com/office/drawing/2014/main" id="{A4DA3026-CF01-49FB-99C3-106E76CA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144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10" name="tuning_input_0_label">
            <a:extLst xmlns:a="http://schemas.openxmlformats.org/drawingml/2006/main">
              <a:ext uri="{FF2B5EF4-FFF2-40B4-BE49-F238E27FC236}">
                <a16:creationId xmlns:a16="http://schemas.microsoft.com/office/drawing/2014/main" id="{86808235-D267-4395-81AB-E3CECFC9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6384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2F6FB2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2F6FB2"/>
                </a:solidFill>
                <a:latin typeface="PingFang SC"/>
                <a:ea typeface="PingFang SC"/>
                <a:cs typeface="PingFang SC"/>
              </a:rPr>
              <a:t>prompt</a:t>
            </a:r>
          </a:p>
        </p:txBody>
      </p:sp>
      <p:sp>
        <p:nvSpPr>
          <p:cNvPr id="11" name="tuning_input_1_fill">
            <a:extLst xmlns:a="http://schemas.openxmlformats.org/drawingml/2006/main">
              <a:ext uri="{FF2B5EF4-FFF2-40B4-BE49-F238E27FC236}">
                <a16:creationId xmlns:a16="http://schemas.microsoft.com/office/drawing/2014/main" id="{262A9D66-741A-41AA-A6F7-EE5FDD5A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71800"/>
            <a:ext cx="144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12" name="tuning_input_1_label">
            <a:extLst xmlns:a="http://schemas.openxmlformats.org/drawingml/2006/main">
              <a:ext uri="{FF2B5EF4-FFF2-40B4-BE49-F238E27FC236}">
                <a16:creationId xmlns:a16="http://schemas.microsoft.com/office/drawing/2014/main" id="{3F6F8D58-3503-493A-A54A-A16D58E8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0384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2F6FB2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2F6FB2"/>
                </a:solidFill>
                <a:latin typeface="PingFang SC"/>
                <a:ea typeface="PingFang SC"/>
                <a:cs typeface="PingFang SC"/>
              </a:rPr>
              <a:t>retrieval</a:t>
            </a:r>
          </a:p>
        </p:txBody>
      </p:sp>
      <p:sp>
        <p:nvSpPr>
          <p:cNvPr id="13" name="tuning_input_2_fill">
            <a:extLst xmlns:a="http://schemas.openxmlformats.org/drawingml/2006/main">
              <a:ext uri="{FF2B5EF4-FFF2-40B4-BE49-F238E27FC236}">
                <a16:creationId xmlns:a16="http://schemas.microsoft.com/office/drawing/2014/main" id="{20E2E72D-5CAB-4916-91CC-CC558E6F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71850"/>
            <a:ext cx="144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14" name="tuning_input_2_label">
            <a:extLst xmlns:a="http://schemas.openxmlformats.org/drawingml/2006/main">
              <a:ext uri="{FF2B5EF4-FFF2-40B4-BE49-F238E27FC236}">
                <a16:creationId xmlns:a16="http://schemas.microsoft.com/office/drawing/2014/main" id="{F3291234-1418-49A1-B8D5-D82E8901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385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2F6FB2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2F6FB2"/>
                </a:solidFill>
                <a:latin typeface="PingFang SC"/>
                <a:ea typeface="PingFang SC"/>
                <a:cs typeface="PingFang SC"/>
              </a:rPr>
              <a:t>skills</a:t>
            </a:r>
          </a:p>
        </p:txBody>
      </p:sp>
      <p:sp>
        <p:nvSpPr>
          <p:cNvPr id="15" name="tuning_input_3_fill">
            <a:extLst xmlns:a="http://schemas.openxmlformats.org/drawingml/2006/main">
              <a:ext uri="{FF2B5EF4-FFF2-40B4-BE49-F238E27FC236}">
                <a16:creationId xmlns:a16="http://schemas.microsoft.com/office/drawing/2014/main" id="{D64ECDE9-6B50-4636-B270-C1B8E5A6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144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16" name="tuning_input_3_label">
            <a:extLst xmlns:a="http://schemas.openxmlformats.org/drawingml/2006/main">
              <a:ext uri="{FF2B5EF4-FFF2-40B4-BE49-F238E27FC236}">
                <a16:creationId xmlns:a16="http://schemas.microsoft.com/office/drawing/2014/main" id="{73EFE88C-5D7F-45C6-B4F6-AD25578C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8385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2F6FB2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2F6FB2"/>
                </a:solidFill>
                <a:latin typeface="PingFang SC"/>
                <a:ea typeface="PingFang SC"/>
                <a:cs typeface="PingFang SC"/>
              </a:rPr>
              <a:t>tool policy</a:t>
            </a:r>
          </a:p>
        </p:txBody>
      </p:sp>
      <p:sp>
        <p:nvSpPr>
          <p:cNvPr id="17" name="tuning_input_4_fill">
            <a:extLst xmlns:a="http://schemas.openxmlformats.org/drawingml/2006/main">
              <a:ext uri="{FF2B5EF4-FFF2-40B4-BE49-F238E27FC236}">
                <a16:creationId xmlns:a16="http://schemas.microsoft.com/office/drawing/2014/main" id="{B588D538-2DD6-4F38-9F93-04AC1D8B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144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18" name="tuning_input_4_label">
            <a:extLst xmlns:a="http://schemas.openxmlformats.org/drawingml/2006/main">
              <a:ext uri="{FF2B5EF4-FFF2-40B4-BE49-F238E27FC236}">
                <a16:creationId xmlns:a16="http://schemas.microsoft.com/office/drawing/2014/main" id="{514B88A0-6704-4FAA-B2FD-0E19224B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2386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2F6FB2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2F6FB2"/>
                </a:solidFill>
                <a:latin typeface="PingFang SC"/>
                <a:ea typeface="PingFang SC"/>
                <a:cs typeface="PingFang SC"/>
              </a:rPr>
              <a:t>model</a:t>
            </a:r>
          </a:p>
        </p:txBody>
      </p:sp>
      <p:sp>
        <p:nvSpPr>
          <p:cNvPr id="19" name="tuning_input_5_fill">
            <a:extLst xmlns:a="http://schemas.openxmlformats.org/drawingml/2006/main">
              <a:ext uri="{FF2B5EF4-FFF2-40B4-BE49-F238E27FC236}">
                <a16:creationId xmlns:a16="http://schemas.microsoft.com/office/drawing/2014/main" id="{B5637741-7B71-47BB-9712-795A3274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72000"/>
            <a:ext cx="144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20" name="tuning_input_5_label">
            <a:extLst xmlns:a="http://schemas.openxmlformats.org/drawingml/2006/main">
              <a:ext uri="{FF2B5EF4-FFF2-40B4-BE49-F238E27FC236}">
                <a16:creationId xmlns:a16="http://schemas.microsoft.com/office/drawing/2014/main" id="{53B5FA20-E70F-44F4-A69D-2C8E54BF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386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2F6FB2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2F6FB2"/>
                </a:solidFill>
                <a:latin typeface="PingFang SC"/>
                <a:ea typeface="PingFang SC"/>
                <a:cs typeface="PingFang SC"/>
              </a:rPr>
              <a:t>runtime budget</a:t>
            </a:r>
          </a:p>
        </p:txBody>
      </p:sp>
      <p:sp>
        <p:nvSpPr>
          <p:cNvPr id="21" name="dev_feedback_fill">
            <a:extLst xmlns:a="http://schemas.openxmlformats.org/drawingml/2006/main">
              <a:ext uri="{FF2B5EF4-FFF2-40B4-BE49-F238E27FC236}">
                <a16:creationId xmlns:a16="http://schemas.microsoft.com/office/drawing/2014/main" id="{7F7F1EDC-E063-4F1A-A68B-E93B9100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48000"/>
            <a:ext cx="21907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5"/>
          </a:solidFill>
        </p:spPr>
      </p:sp>
      <p:sp>
        <p:nvSpPr>
          <p:cNvPr id="22" name="dev_feedback_accent">
            <a:extLst xmlns:a="http://schemas.openxmlformats.org/drawingml/2006/main">
              <a:ext uri="{FF2B5EF4-FFF2-40B4-BE49-F238E27FC236}">
                <a16:creationId xmlns:a16="http://schemas.microsoft.com/office/drawing/2014/main" id="{B46FE508-7260-474B-AF9A-A5A42F59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48000"/>
            <a:ext cx="571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</p:spPr>
      </p:sp>
      <p:sp>
        <p:nvSpPr>
          <p:cNvPr id="23" name="dev_feedback_title">
            <a:extLst xmlns:a="http://schemas.openxmlformats.org/drawingml/2006/main">
              <a:ext uri="{FF2B5EF4-FFF2-40B4-BE49-F238E27FC236}">
                <a16:creationId xmlns:a16="http://schemas.microsoft.com/office/drawing/2014/main" id="{BED30FFB-E8A7-47C3-8AF3-382C9FEA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004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dev feedback</a:t>
            </a:r>
          </a:p>
        </p:txBody>
      </p:sp>
      <p:sp>
        <p:nvSpPr>
          <p:cNvPr id="24" name="dev_feedback_body">
            <a:extLst xmlns:a="http://schemas.openxmlformats.org/drawingml/2006/main">
              <a:ext uri="{FF2B5EF4-FFF2-40B4-BE49-F238E27FC236}">
                <a16:creationId xmlns:a16="http://schemas.microsoft.com/office/drawing/2014/main" id="{2DD873CD-00B5-405A-9661-6B6ED92E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524250"/>
            <a:ext cx="188595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failure taxonomy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scorecard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configuration comparison</a:t>
            </a:r>
          </a:p>
        </p:txBody>
      </p:sp>
      <p:sp>
        <p:nvSpPr>
          <p:cNvPr id="25" name="eval_release_fill">
            <a:extLst xmlns:a="http://schemas.openxmlformats.org/drawingml/2006/main">
              <a:ext uri="{FF2B5EF4-FFF2-40B4-BE49-F238E27FC236}">
                <a16:creationId xmlns:a16="http://schemas.microsoft.com/office/drawing/2014/main" id="{15AA96A5-2390-444A-907F-4328109C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90800"/>
            <a:ext cx="2333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4"/>
          </a:solidFill>
        </p:spPr>
      </p:sp>
      <p:sp>
        <p:nvSpPr>
          <p:cNvPr id="26" name="eval_release_accent">
            <a:extLst xmlns:a="http://schemas.openxmlformats.org/drawingml/2006/main">
              <a:ext uri="{FF2B5EF4-FFF2-40B4-BE49-F238E27FC236}">
                <a16:creationId xmlns:a16="http://schemas.microsoft.com/office/drawing/2014/main" id="{53B07B9A-3CF3-4DF6-A4C8-CA614EA1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9080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A2D"/>
          </a:solidFill>
        </p:spPr>
      </p:sp>
      <p:sp>
        <p:nvSpPr>
          <p:cNvPr id="27" name="eval_release_title">
            <a:extLst xmlns:a="http://schemas.openxmlformats.org/drawingml/2006/main">
              <a:ext uri="{FF2B5EF4-FFF2-40B4-BE49-F238E27FC236}">
                <a16:creationId xmlns:a16="http://schemas.microsoft.com/office/drawing/2014/main" id="{90ECBDA5-A882-4C31-971F-14CB1138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4320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eval release</a:t>
            </a:r>
          </a:p>
        </p:txBody>
      </p:sp>
      <p:sp>
        <p:nvSpPr>
          <p:cNvPr id="28" name="eval_release_body">
            <a:extLst xmlns:a="http://schemas.openxmlformats.org/drawingml/2006/main">
              <a:ext uri="{FF2B5EF4-FFF2-40B4-BE49-F238E27FC236}">
                <a16:creationId xmlns:a16="http://schemas.microsoft.com/office/drawing/2014/main" id="{95F8F431-3C78-4AC2-A06F-65556A4C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67050"/>
            <a:ext cx="2028825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fixed rules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held-out tasks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score accounting</a:t>
            </a:r>
          </a:p>
        </p:txBody>
      </p:sp>
      <p:sp>
        <p:nvSpPr>
          <p:cNvPr id="29" name="canary_release_fill">
            <a:extLst xmlns:a="http://schemas.openxmlformats.org/drawingml/2006/main">
              <a:ext uri="{FF2B5EF4-FFF2-40B4-BE49-F238E27FC236}">
                <a16:creationId xmlns:a16="http://schemas.microsoft.com/office/drawing/2014/main" id="{3178BF6C-9421-430D-8292-E33856AE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95800"/>
            <a:ext cx="2333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F5"/>
          </a:solidFill>
        </p:spPr>
      </p:sp>
      <p:sp>
        <p:nvSpPr>
          <p:cNvPr id="30" name="canary_release_accent">
            <a:extLst xmlns:a="http://schemas.openxmlformats.org/drawingml/2006/main">
              <a:ext uri="{FF2B5EF4-FFF2-40B4-BE49-F238E27FC236}">
                <a16:creationId xmlns:a16="http://schemas.microsoft.com/office/drawing/2014/main" id="{0BE078C5-0EBF-4615-8656-3093395E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9580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5EA8"/>
          </a:solidFill>
        </p:spPr>
      </p:sp>
      <p:sp>
        <p:nvSpPr>
          <p:cNvPr id="31" name="canary_release_title">
            <a:extLst xmlns:a="http://schemas.openxmlformats.org/drawingml/2006/main">
              <a:ext uri="{FF2B5EF4-FFF2-40B4-BE49-F238E27FC236}">
                <a16:creationId xmlns:a16="http://schemas.microsoft.com/office/drawing/2014/main" id="{F47A6B7D-99FC-46DB-AAD2-97C8AF93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64820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canary release</a:t>
            </a:r>
          </a:p>
        </p:txBody>
      </p:sp>
      <p:sp>
        <p:nvSpPr>
          <p:cNvPr id="32" name="canary_release_body">
            <a:extLst xmlns:a="http://schemas.openxmlformats.org/drawingml/2006/main">
              <a:ext uri="{FF2B5EF4-FFF2-40B4-BE49-F238E27FC236}">
                <a16:creationId xmlns:a16="http://schemas.microsoft.com/office/drawing/2014/main" id="{3DDC5441-403C-4612-9642-70E249AD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72050"/>
            <a:ext cx="2028825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regression signal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cost / latency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slice stability</a:t>
            </a:r>
          </a:p>
        </p:txBody>
      </p:sp>
      <p:sp>
        <p:nvSpPr>
          <p:cNvPr id="33" name="future_validation_layer">
            <a:extLst xmlns:a="http://schemas.openxmlformats.org/drawingml/2006/main">
              <a:ext uri="{FF2B5EF4-FFF2-40B4-BE49-F238E27FC236}">
                <a16:creationId xmlns:a16="http://schemas.microsoft.com/office/drawing/2014/main" id="{26C10DE3-FAF0-40DD-B4E3-1BB8D9CA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00400"/>
            <a:ext cx="14668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3"/>
          </a:solidFill>
        </p:spPr>
      </p:sp>
      <p:sp>
        <p:nvSpPr>
          <p:cNvPr id="34" name="future_validation_rule">
            <a:extLst xmlns:a="http://schemas.openxmlformats.org/drawingml/2006/main">
              <a:ext uri="{FF2B5EF4-FFF2-40B4-BE49-F238E27FC236}">
                <a16:creationId xmlns:a16="http://schemas.microsoft.com/office/drawing/2014/main" id="{31710D89-700C-4AD0-B1C9-6DEA4A04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0040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2"/>
          </a:solidFill>
        </p:spPr>
      </p:sp>
      <p:sp>
        <p:nvSpPr>
          <p:cNvPr id="35" name="future_validation_text">
            <a:extLst xmlns:a="http://schemas.openxmlformats.org/drawingml/2006/main">
              <a:ext uri="{FF2B5EF4-FFF2-40B4-BE49-F238E27FC236}">
                <a16:creationId xmlns:a16="http://schemas.microsoft.com/office/drawing/2014/main" id="{A585D936-4514-4EB5-9B45-E5C71A1D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81400"/>
            <a:ext cx="110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future validation</a:t>
            </a:r>
          </a:p>
          <a:p xmlns:a="http://schemas.openxmlformats.org/drawingml/2006/main">
            <a:pPr algn="ctr">
              <a:defRPr sz="900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material</a:t>
            </a:r>
          </a:p>
          <a:p xmlns:a="http://schemas.openxmlformats.org/drawingml/2006/main">
            <a:pPr algn="ctr">
              <a:defRPr sz="900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isolated</a:t>
            </a:r>
          </a:p>
        </p:txBody>
      </p:sp>
      <p:sp>
        <p:nvSpPr>
          <p:cNvPr id="36" name="inputs_to_dev">
            <a:extLst xmlns:a="http://schemas.openxmlformats.org/drawingml/2006/main">
              <a:ext uri="{FF2B5EF4-FFF2-40B4-BE49-F238E27FC236}">
                <a16:creationId xmlns:a16="http://schemas.microsoft.com/office/drawing/2014/main" id="{E862BD03-2495-4E34-A6CA-7A56F42A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528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37" name="dev_to_eval">
            <a:extLst xmlns:a="http://schemas.openxmlformats.org/drawingml/2006/main">
              <a:ext uri="{FF2B5EF4-FFF2-40B4-BE49-F238E27FC236}">
                <a16:creationId xmlns:a16="http://schemas.microsoft.com/office/drawing/2014/main" id="{A1F6ADF8-F537-43FF-93EE-A953F2AB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50520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38" name="dev_to_canary">
            <a:extLst xmlns:a="http://schemas.openxmlformats.org/drawingml/2006/main">
              <a:ext uri="{FF2B5EF4-FFF2-40B4-BE49-F238E27FC236}">
                <a16:creationId xmlns:a16="http://schemas.microsoft.com/office/drawing/2014/main" id="{E451D0A8-E034-4A78-BDD9-5CAF65AD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0101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39" name="eval_to_protected">
            <a:extLst xmlns:a="http://schemas.openxmlformats.org/drawingml/2006/main">
              <a:ext uri="{FF2B5EF4-FFF2-40B4-BE49-F238E27FC236}">
                <a16:creationId xmlns:a16="http://schemas.microsoft.com/office/drawing/2014/main" id="{71FAF207-2C64-4BBC-B944-654366AD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00400"/>
            <a:ext cx="628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40" name="canary_to_protected">
            <a:extLst xmlns:a="http://schemas.openxmlformats.org/drawingml/2006/main">
              <a:ext uri="{FF2B5EF4-FFF2-40B4-BE49-F238E27FC236}">
                <a16:creationId xmlns:a16="http://schemas.microsoft.com/office/drawing/2014/main" id="{B82CD8D3-1FD5-4598-8124-D7BA27BA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010150"/>
            <a:ext cx="628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41" name="tuning_boundary">
            <a:extLst xmlns:a="http://schemas.openxmlformats.org/drawingml/2006/main">
              <a:ext uri="{FF2B5EF4-FFF2-40B4-BE49-F238E27FC236}">
                <a16:creationId xmlns:a16="http://schemas.microsoft.com/office/drawing/2014/main" id="{F3CF2196-B16B-4AB7-B654-815F2663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05790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当前 deck 只说明 evidence interface；调优效果仍需要后续产品验证。</a:t>
            </a:r>
          </a:p>
        </p:txBody>
      </p:sp>
    </p:spTree>
    <p:extLst>
      <p:ext uri="{BB962C8B-B14F-4D97-AF65-F5344CB8AC3E}">
        <p14:creationId xmlns:p14="http://schemas.microsoft.com/office/powerpoint/2010/main" val="19739893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2026-06-02T08:13:48.7570000Z</dcterms:created>
  <dcterms:modified xsi:type="dcterms:W3CDTF">2026-06-02T08:13:48.7570000Z</dcterms:modified>
</coreProperties>
</file>