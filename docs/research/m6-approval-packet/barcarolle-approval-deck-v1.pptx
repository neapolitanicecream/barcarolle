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ae9c267cfd41dc" /><Relationship Type="http://schemas.openxmlformats.org/officeDocument/2006/relationships/extended-properties" Target="/docProps/app.xml" Id="R735f30a72ab042b3" /><Relationship Type="http://schemas.openxmlformats.org/officeDocument/2006/relationships/officeDocument" Target="/ppt/presentation.xml" Id="R74c8f7e9a3a742e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8f1ccdb23147b1"/>
  </p:sldMasterIdLst>
  <p:notesMasterIdLst>
    <p:notesMasterId xmlns:r="http://schemas.openxmlformats.org/officeDocument/2006/relationships" r:id="R56ef9a7935124891"/>
  </p:notesMasterIdLst>
  <p:sldIdLst>
    <p:sldId xmlns:r="http://schemas.openxmlformats.org/officeDocument/2006/relationships" id="256" r:id="R4ad81a099426430c"/>
    <p:sldId xmlns:r="http://schemas.openxmlformats.org/officeDocument/2006/relationships" id="257" r:id="R1d4172674e974d15"/>
    <p:sldId xmlns:r="http://schemas.openxmlformats.org/officeDocument/2006/relationships" id="258" r:id="Re044cc5e86f147be"/>
    <p:sldId xmlns:r="http://schemas.openxmlformats.org/officeDocument/2006/relationships" id="259" r:id="Reebf27cd24ec4357"/>
    <p:sldId xmlns:r="http://schemas.openxmlformats.org/officeDocument/2006/relationships" id="260" r:id="R2a13c50476304d13"/>
    <p:sldId xmlns:r="http://schemas.openxmlformats.org/officeDocument/2006/relationships" id="261" r:id="Re66a891d4dfd4306"/>
    <p:sldId xmlns:r="http://schemas.openxmlformats.org/officeDocument/2006/relationships" id="262" r:id="R028eee3f86fa4199"/>
    <p:sldId xmlns:r="http://schemas.openxmlformats.org/officeDocument/2006/relationships" id="263" r:id="Rd16b2979d5be4845"/>
    <p:sldId xmlns:r="http://schemas.openxmlformats.org/officeDocument/2006/relationships" id="264" r:id="R8c065275bc5b4810"/>
    <p:sldId xmlns:r="http://schemas.openxmlformats.org/officeDocument/2006/relationships" id="265" r:id="Rcab61d2ab6d34521"/>
    <p:sldId xmlns:r="http://schemas.openxmlformats.org/officeDocument/2006/relationships" id="266" r:id="Red282450472d4385"/>
    <p:sldId xmlns:r="http://schemas.openxmlformats.org/officeDocument/2006/relationships" id="267" r:id="R04a0b7ed5ed24d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f1ccdb23147b1" /><Relationship Type="http://schemas.openxmlformats.org/officeDocument/2006/relationships/theme" Target="/ppt/theme/theme1.xml" Id="Rb5f6a6add4dd4215" /><Relationship Type="http://schemas.openxmlformats.org/officeDocument/2006/relationships/notesMaster" Target="/ppt/notesMasters/notesMaster1.xml" Id="R56ef9a7935124891" /><Relationship Type="http://schemas.openxmlformats.org/officeDocument/2006/relationships/presProps" Target="/ppt/presProps.xml" Id="Re0a2108313644b14" /><Relationship Type="http://schemas.openxmlformats.org/officeDocument/2006/relationships/viewProps" Target="/ppt/viewProps.xml" Id="R3f7debb57cf74c5f" /><Relationship Type="http://schemas.openxmlformats.org/officeDocument/2006/relationships/tableStyles" Target="/ppt/tableStyles.xml" Id="Ra719641bfe0847a9" /><Relationship Type="http://schemas.openxmlformats.org/officeDocument/2006/relationships/slide" Target="/ppt/slides/slide1.xml" Id="R4ad81a099426430c" /><Relationship Type="http://schemas.openxmlformats.org/officeDocument/2006/relationships/slide" Target="/ppt/slides/slide2.xml" Id="R1d4172674e974d15" /><Relationship Type="http://schemas.openxmlformats.org/officeDocument/2006/relationships/slide" Target="/ppt/slides/slide3.xml" Id="Re044cc5e86f147be" /><Relationship Type="http://schemas.openxmlformats.org/officeDocument/2006/relationships/slide" Target="/ppt/slides/slide4.xml" Id="Reebf27cd24ec4357" /><Relationship Type="http://schemas.openxmlformats.org/officeDocument/2006/relationships/slide" Target="/ppt/slides/slide5.xml" Id="R2a13c50476304d13" /><Relationship Type="http://schemas.openxmlformats.org/officeDocument/2006/relationships/slide" Target="/ppt/slides/slide6.xml" Id="Re66a891d4dfd4306" /><Relationship Type="http://schemas.openxmlformats.org/officeDocument/2006/relationships/slide" Target="/ppt/slides/slide7.xml" Id="R028eee3f86fa4199" /><Relationship Type="http://schemas.openxmlformats.org/officeDocument/2006/relationships/slide" Target="/ppt/slides/slide8.xml" Id="Rd16b2979d5be4845" /><Relationship Type="http://schemas.openxmlformats.org/officeDocument/2006/relationships/slide" Target="/ppt/slides/slide9.xml" Id="R8c065275bc5b4810" /><Relationship Type="http://schemas.openxmlformats.org/officeDocument/2006/relationships/slide" Target="/ppt/slides/slide10.xml" Id="Rcab61d2ab6d34521" /><Relationship Type="http://schemas.openxmlformats.org/officeDocument/2006/relationships/slide" Target="/ppt/slides/slide11.xml" Id="Red282450472d4385" /><Relationship Type="http://schemas.openxmlformats.org/officeDocument/2006/relationships/slide" Target="/ppt/slides/slide12.xml" Id="R04a0b7ed5ed2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066497776f48e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74797bcf6f4136" /><Relationship Type="http://schemas.openxmlformats.org/officeDocument/2006/relationships/notesMaster" Target="/ppt/notesMasters/notesMaster1.xml" Id="Rab704f3c505546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9f4ecfe4164fea" /><Relationship Type="http://schemas.openxmlformats.org/officeDocument/2006/relationships/notesMaster" Target="/ppt/notesMasters/notesMaster1.xml" Id="R378066f0de4243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82ae2b38f246d2" /><Relationship Type="http://schemas.openxmlformats.org/officeDocument/2006/relationships/notesMaster" Target="/ppt/notesMasters/notesMaster1.xml" Id="Rcbcfa77a46be431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089b47060094875" /><Relationship Type="http://schemas.openxmlformats.org/officeDocument/2006/relationships/notesMaster" Target="/ppt/notesMasters/notesMaster1.xml" Id="R93c7231773fb46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1ae4f67bc14c75" /><Relationship Type="http://schemas.openxmlformats.org/officeDocument/2006/relationships/notesMaster" Target="/ppt/notesMasters/notesMaster1.xml" Id="Ree37bae0efec46d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447372f288e4e11" /><Relationship Type="http://schemas.openxmlformats.org/officeDocument/2006/relationships/notesMaster" Target="/ppt/notesMasters/notesMaster1.xml" Id="R9b10459375774eb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a912752fb84777" /><Relationship Type="http://schemas.openxmlformats.org/officeDocument/2006/relationships/notesMaster" Target="/ppt/notesMasters/notesMaster1.xml" Id="R1cd234ebbbd64ac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cd0fd054d94f2d" /><Relationship Type="http://schemas.openxmlformats.org/officeDocument/2006/relationships/notesMaster" Target="/ppt/notesMasters/notesMaster1.xml" Id="R552440be4e48431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4bfa4b171eb4f57" /><Relationship Type="http://schemas.openxmlformats.org/officeDocument/2006/relationships/notesMaster" Target="/ppt/notesMasters/notesMaster1.xml" Id="R46fe48d5009049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7a00c54dc344fa" /><Relationship Type="http://schemas.openxmlformats.org/officeDocument/2006/relationships/notesMaster" Target="/ppt/notesMasters/notesMaster1.xml" Id="R41ddc6c52a5b4e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7e8a2e4fa649b7" /><Relationship Type="http://schemas.openxmlformats.org/officeDocument/2006/relationships/notesMaster" Target="/ppt/notesMasters/notesMaster1.xml" Id="R462bcd9f480044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e4d08129cae4ed6" /><Relationship Type="http://schemas.openxmlformats.org/officeDocument/2006/relationships/notesMaster" Target="/ppt/notesMasters/notesMaster1.xml" Id="R387c4079829247b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f9cfad4e314f73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2421ded62c94a23" /><Relationship Type="http://schemas.openxmlformats.org/officeDocument/2006/relationships/slideLayout" Target="/ppt/slideLayouts/slideLayout2.xml" Id="R17cc9c2bc34543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7cc9c2bc34543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a62cd7b9d544c04" /><Relationship Type="http://schemas.openxmlformats.org/officeDocument/2006/relationships/notesSlide" Target="/ppt/notesSlides/notesSlide1.xml" Id="Rb900a9999daf49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adb30442ca4777" /><Relationship Type="http://schemas.openxmlformats.org/officeDocument/2006/relationships/notesSlide" Target="/ppt/notesSlides/notesSlide2.xml" Id="R4957c063762542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b7460680254adc" /><Relationship Type="http://schemas.openxmlformats.org/officeDocument/2006/relationships/notesSlide" Target="/ppt/notesSlides/notesSlide3.xml" Id="Rfc5715682aa8446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b87cd195ba4be1" /><Relationship Type="http://schemas.openxmlformats.org/officeDocument/2006/relationships/notesSlide" Target="/ppt/notesSlides/notesSlide4.xml" Id="R5594ff72ebdf41d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ad6c12b6a04594" /><Relationship Type="http://schemas.openxmlformats.org/officeDocument/2006/relationships/notesSlide" Target="/ppt/notesSlides/notesSlide5.xml" Id="Re9a6254eb3b0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bb64674bc404a4d" /><Relationship Type="http://schemas.openxmlformats.org/officeDocument/2006/relationships/notesSlide" Target="/ppt/notesSlides/notesSlide6.xml" Id="R7609bc275e0649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54fa5637a24ea9" /><Relationship Type="http://schemas.openxmlformats.org/officeDocument/2006/relationships/notesSlide" Target="/ppt/notesSlides/notesSlide7.xml" Id="Rf79463071c83464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f688b68645450b" /><Relationship Type="http://schemas.openxmlformats.org/officeDocument/2006/relationships/notesSlide" Target="/ppt/notesSlides/notesSlide8.xml" Id="Rb5fffef64a72428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08a20aa72c46ae" /><Relationship Type="http://schemas.openxmlformats.org/officeDocument/2006/relationships/notesSlide" Target="/ppt/notesSlides/notesSlide9.xml" Id="Rdd6633cba01c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78e2f7b3314688" /><Relationship Type="http://schemas.openxmlformats.org/officeDocument/2006/relationships/notesSlide" Target="/ppt/notesSlides/notesSlide10.xml" Id="R5b790254902b4b4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57313160ed43fa" /><Relationship Type="http://schemas.openxmlformats.org/officeDocument/2006/relationships/notesSlide" Target="/ppt/notesSlides/notesSlide11.xml" Id="R655e2898b0224f8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53c599a1da4de8" /><Relationship Type="http://schemas.openxmlformats.org/officeDocument/2006/relationships/notesSlide" Target="/ppt/notesSlides/notesSlide12.xml" Id="R1bd651250df64ee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234FB-2D90-4145-9419-ADAAD0B38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3BD6323-56FF-4701-B790-3DB5E9DE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D6E3ED2-4052-4A2F-B6E6-10585739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A14F41-0890-4328-B558-FA16EA2B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Approve the project; do not overclaim the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C24AA-EC43-491E-B60C-0DD4270E8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0E56F-DBF0-4428-89F3-0DB0A4E7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484B38-63D0-4673-9C8E-4E5BF881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97E40-4EB4-477B-AA82-D2C6E1BD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6096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17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Barcarolle should be approved as a repo-specific benchmark-compiler project. The approval is for building releases, validation protocols, and tuning-facing interfaces under a bounded claim.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FFB14-11EB-4E0D-BC12-5A96E882C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6096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2F1AB9-45DE-4002-B2F0-337C2A77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43300"/>
            <a:ext cx="5562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Current evidence supplies traction and a credible validation path. It does not establish formal predictive validity.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102279-D9C0-41D7-BEB8-DEB8C87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52600"/>
            <a:ext cx="2571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APPROVAL CONDITIONS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FCB44-FD17-457A-AC9E-1A6B38F73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0764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19FBB-31F3-4ABE-A850-FACE37EA1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907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Project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1E32D1-29BA-489A-B7E1-B24C567DB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907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Benchmark compiler, not an ACUT harness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DB7959-D18E-46D4-8AA9-92FAD1A1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8003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B681A-C26C-42A8-9167-EA6BD4913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9146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boundary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92D35-E714-40B5-A97D-18FF9E05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9146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Traction and feasibility, not completed validity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976518-CD8D-45B7-90F6-CF9BEDB0A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242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F75CD-156B-4995-86B9-8B4BDCE12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385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Spending boundary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EDD160-1407-48DE-8F3E-E91B9D9B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6385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Budgeted evaluation only after frozen gates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A48012-BC7A-4259-93FF-BE402B3A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248150"/>
            <a:ext cx="3714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B104E-5C04-4459-ABE4-C5DF5F29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36245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Open values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508159-2DD1-4C79-84F6-4DA1853E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362450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Staffing, duration, budget ceiling, approval owner</a:t>
            </a:r>
          </a:p>
        </p:txBody>
      </p:sp>
    </p:spTree>
    <p:extLst>
      <p:ext uri="{BB962C8B-B14F-4D97-AF65-F5344CB8AC3E}">
        <p14:creationId xmlns:p14="http://schemas.microsoft.com/office/powerpoint/2010/main" val="201131597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8A70713-A489-4DA5-BEA8-6B2D697F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BA94555-B250-49EA-915D-7899ACC8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4636FEC-95B9-4824-8F50-4A4649F2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EVALUATION GAP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6ABBB-9296-446D-85F8-57032EE2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General benchmarks do not answer the target-repository question by themselves.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6D7F5-53BD-4D44-A107-009286A6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9BA2E6-010A-4EE7-A566-5A9C7036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997FFC-FFD4-4DE5-A055-A723BAA1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6FC8D9-B552-44DB-81E2-16F1597B8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38300"/>
            <a:ext cx="914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The decision problem is narrower than general coding capability: how will a named agent configuration perform on future work in this repository?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AEFE71-8868-457A-9653-A64CA476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BAF8AD-F354-4E4C-96B7-8BEB6AD6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908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88D069-8C16-403B-B5AA-871631C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65C8D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365C8D"/>
                </a:solidFill>
                <a:latin typeface="Aptos"/>
                <a:ea typeface="Aptos"/>
                <a:cs typeface="Aptos"/>
              </a:rPr>
              <a:t>Public benchmarks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B32594-8237-42A5-9EA6-E6D7DE3F2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457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Broad capability, executable scoring, task quality, freshness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82C5F9-1CF9-4C7F-A67F-16B6A4956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F08DBC-4194-476A-B7FD-A75E6457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908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E81A1-E1A1-49C4-9F99-5B3719EC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884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842F"/>
                </a:solidFill>
                <a:latin typeface="Aptos"/>
                <a:ea typeface="Aptos"/>
                <a:cs typeface="Aptos"/>
              </a:rPr>
              <a:t>Generated task supply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08A110-1423-4D38-8B99-97FF8F8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409950"/>
            <a:ext cx="2457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candidate tasks and broader training or test environments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9B836-7399-414A-88A5-9BE7609F5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481351-3781-42F8-9CDA-543C69F8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90800"/>
            <a:ext cx="30289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B73CEA-2ADE-43B3-9AC1-AE8B6628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E747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E7474"/>
                </a:solidFill>
                <a:latin typeface="Aptos"/>
                <a:ea typeface="Aptos"/>
                <a:cs typeface="Aptos"/>
              </a:rPr>
              <a:t>Barcarolle focus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8E14C6-9599-40A3-B806-C710131E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09950"/>
            <a:ext cx="2457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Which certified repo-specific tasks should form a frozen release for future-work 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6BEFC3-F1E1-4A1D-9405-5CF0DD0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029200"/>
            <a:ext cx="8858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E13DAD-1B66-4F3D-A714-1ADE8994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2578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Target-repository shift turns task selection, certification, splits, baselines, and uncertainty into the core benchmark problem.</a:t>
            </a:r>
          </a:p>
        </p:txBody>
      </p:sp>
    </p:spTree>
    <p:extLst>
      <p:ext uri="{BB962C8B-B14F-4D97-AF65-F5344CB8AC3E}">
        <p14:creationId xmlns:p14="http://schemas.microsoft.com/office/powerpoint/2010/main" val="105397160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05B002-5AA8-4F2C-97AA-A9EFD3A60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98FF68A-A71B-4B72-8EA7-95857CEA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C1F64CD-87A8-4E41-B654-A515EFAA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COMPILER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5784C-8174-4D16-8BC9-0B606366A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Barcarolle compiles releases while the ACUT owns the agent harness.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5F75BC-38D5-4AE2-BB8C-C514883A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DA334-D3A7-4B0D-A1F8-DFC4019E6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F08B3-88FF-4F43-9FF8-241F292E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42249-5F57-40EA-81AA-1FB1449F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10210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The system boundary is the point: Barcarolle provides clean workspaces, allowed context, captured diffs, verifier replay, scores, costs, and sanitized artifacts. It does not decide how the agent reasons or edits.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3B652-79EB-4BC3-A6DD-4976FC43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C3C25-42A3-4501-BE7F-9350F2C2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896EA-81A3-4EA4-8B69-4004ED585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672ADA-A098-4F79-BE22-3A9DB77B5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Candidate supply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0A75C8-F680-4F8B-83D8-883B78713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repo history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public context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external sources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D8EDC-4A5C-4EB3-88A8-093ADCC2D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ADEB75-1580-40C2-8194-DA23E11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350F7-ABA8-41C9-8447-30B93DAD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D684A-6DED-450D-A8CC-780358AED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735CF-F3E7-40F8-897C-CECED294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Certification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68BFF-DD6F-4268-8525-F88148AD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replayability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oracle checks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leakage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35240D-4A4F-43DF-A5BF-6DB7A282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FB9644-BABC-472C-8488-EBB6A7820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D56811-9D9F-4C35-A879-2362FBB2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5F0CF-59FB-467E-8071-A6EF1D7BD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B09B6-9A94-453B-BAA8-095423D08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Frozen release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9F0B2-0C04-43E7-9119-53BFF0FF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task set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splits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ACUT boundary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DDEFDC-5D7A-4700-B3D3-6135046B3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B240D-7B26-40B3-AC18-8AD6FC11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548D4A-BDF2-4555-A984-FCD7F33A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3FB13-19EE-4B27-84B5-61EF5E4E7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9A45EC-597F-4013-85CF-6C2FBD14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ACUT execution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A052A2-0035-4126-952C-96B8ADE5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solver workspace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captured diff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365E6-67AA-492E-98CE-9C3DE646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DBA5A7-7559-4FB2-9B2C-EBB9CBC4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BCB911-9B4F-4982-9FA7-200CBC24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971A0BB-D823-4770-8F74-19B3C507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CFB96A-1984-40B4-BF35-06BACDC3E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Verifier replay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9ED114-7A25-4EEE-B7FD-3342245B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private oracle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terminal score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B8B1344-6D68-4C55-9CFB-330361AE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48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21A0514-2772-4E68-BB64-D6AB32C25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15240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F533EC-AEB3-4FDC-A9D0-0B6309B2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43200"/>
            <a:ext cx="4000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D2B5751-B198-49EA-BABD-9A7C5916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33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007883-7E06-46D7-8E99-C0793579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95600"/>
            <a:ext cx="933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Accounting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A35E29-3617-4F9E-A2B8-8A37221E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67075"/>
            <a:ext cx="93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status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cost</a:t>
            </a:r>
          </a:p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latency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504D0B-C845-414C-9A65-7854A6BA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2476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3"/>
          </a:solidFill>
          <a:ln xmlns:a="http://schemas.openxmlformats.org/drawingml/2006/main" w="9525">
            <a:solidFill>
              <a:srgbClr val="B2472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22E0F-C482-407E-8330-6B5F8E6DB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01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ACUT-owned harness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74B2DE-1C91-4A29-B983-B8939F588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76800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Search, prompts, tools, model, retry policy, runtime budget, traces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15A40B4-F841-449D-B233-100A54DA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0"/>
            <a:ext cx="10287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CD8165F-73FE-442A-A2F4-561A84C74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48325"/>
            <a:ext cx="9620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Boundary result: benchmark releases remain auditable without becoming the agent product.</a:t>
            </a:r>
          </a:p>
        </p:txBody>
      </p:sp>
    </p:spTree>
    <p:extLst>
      <p:ext uri="{BB962C8B-B14F-4D97-AF65-F5344CB8AC3E}">
        <p14:creationId xmlns:p14="http://schemas.microsoft.com/office/powerpoint/2010/main" val="109916392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2AA512-0A68-4E30-9D75-CF3E4ECB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3ADAD24-0C6B-4928-80A5-26D4DF2B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3E7F2B1-1EE1-428A-B1F0-B5EA7141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TUNING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A723BD-D7A6-4066-9081-A0B44EF6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practical product path is configuration comparison with protected validation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451F95-13DD-4145-B6BE-BA20825EB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700E5-B34D-48E1-BB98-DC482A5E9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2E70B-120E-48AE-8C1F-B7D33962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1C9DB-8613-4744-A0F9-1D03D19D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10001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Barcarolle can emit release metadata, scorecards, failure labels, cost and latency summaries, and split rules that optimizers can consume. The optimizer still owns the ACUT changes.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D6952-CB5D-44B8-BC31-3321817C3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A49CC1-AF49-469F-BEFD-C16485699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62250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C1DB3-5DB1-495C-BF36-5875A871D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00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5C7AAE-AE9B-49B4-83C3-5078C9065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990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Benchmark release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E67DC-B2B1-41B7-8577-E6C57531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48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Certified tasks, splits, support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649AF-1142-47F6-8CA9-CD9ACDB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1D5106-25B2-41FD-9FCA-024B8E41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A38356-EEDC-479C-932B-6A7925F5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717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377074-C7A0-4FAC-A60C-BD54CA3F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622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Dev feedback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A3302B-D3AB-4802-BDB8-54318E13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1942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Prompt, retrieval, skills, tool policy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4F89C8-AADE-4D8C-900D-F01EA0C1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5DBA3B-FD21-4272-8DEC-CC99676D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762250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68705-2601-4BD5-802A-9DC630C6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00400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71658-EDEF-43C7-BB34-CDBEDC142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990850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 check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D00EAA-2A87-491C-BCA1-60B4EB93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448050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Protected comparison against fixed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B03737-FF90-4A59-B3E4-200F3CF4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20955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A44E9E4-EB68-4965-8026-104148448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33625"/>
            <a:ext cx="4191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F9818F-2037-4903-AF8D-BBB885D68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71775"/>
            <a:ext cx="419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649ABA-F1F2-40F6-9468-710BEA77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562225"/>
            <a:ext cx="1381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Canary and future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70AC3-21EE-4217-BA86-724FA55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19425"/>
            <a:ext cx="133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Regression and future-work validation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0051D16-F640-4D16-A5C0-340CD3C5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181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D2B638-C54A-4CB3-8D31-EEF04B83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457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55EA0F-DE4B-44BE-BC06-05C09169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813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AB6FB6-79D3-42A1-8C79-057BEE2D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38700"/>
            <a:ext cx="7810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8B59DD-DC2D-4226-8DED-924E302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0482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Non-claim: the deck does not say Barcarolle has already improved an agent tuning loop.</a:t>
            </a:r>
          </a:p>
        </p:txBody>
      </p:sp>
    </p:spTree>
    <p:extLst>
      <p:ext uri="{BB962C8B-B14F-4D97-AF65-F5344CB8AC3E}">
        <p14:creationId xmlns:p14="http://schemas.microsoft.com/office/powerpoint/2010/main" val="8307629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A81512-089E-4849-A654-8F0734B39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F20347B-23B6-450D-BACD-2865D8CA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525C433-33CC-401C-8895-FA1F38FE8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CURRENT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8CBAD-2ABD-443B-8DE5-96462FB35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evidence is strong enough for approval, not for a completed validity claim.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3F881-F80A-4938-ABBE-C5BE7BB4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92BA2B-7EA5-4F34-8896-7B56A5D43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178AE-19D0-4AE1-9D1E-640004AE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6D09DC-7C3A-4273-941F-2A88C3ECF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1952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C20DD-0B18-40FC-9AB4-97C6AC832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16764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CURRENT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55A98-EF95-461D-A5C5-D67D5096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6764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KEY NUMBER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5E8DE0-B77A-4FF9-B217-F925A3A94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76400"/>
            <a:ext cx="2457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LIMIT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5D48F-C416-4B4D-A92D-0095831B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0025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4ABC45-8792-4208-A49E-174BEED3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Is the problem real?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405961-C38C-4E93-8D01-3FD163BD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1336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Naive weighting failed materially.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8B3588-7AA6-4F79-957B-C7D75291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336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gaps 0.3148 and 0.7481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781C0-35D3-4EEF-A793-53D1B8F6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336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negative result, not success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CA2771-ED8D-446B-BF9A-BD28ACE8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292462-A6AE-40B1-B0C3-E5DBB403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 the machinery run?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E9B85B-5DF5-4F60-8679-512C469B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527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Workspace execution completed cleanly.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938F92-2C9F-457D-8237-5D1F93FC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527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120/120 cells, scoreability 1.0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122DC-DBD8-46C6-BC0D-6634B0BE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5275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execution is not prediction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40ACB0-2CC0-40F8-8F64-1704E461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1241CBF-EB05-41A9-9F7C-D63E4C28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7190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 source gaps be repaired?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E6D33A-182B-4AB8-83D2-3AA04859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7719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Click context was upgraded.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2D3779-BEEB-4057-84DE-01C9A4C9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77190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30/30 frozen tasks repaired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8027AB-D572-4D86-AA95-ABA35ABE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7190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does not rewrite outcomes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4C3264-43FE-4810-BC71-89CBE5E5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103251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58D91F7-1732-4F84-A600-15DEA08A8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910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Is there traction?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3CF7BE-325C-49B6-B0D7-A5DBBC995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59105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Candidate edges random selections and barely beats best simple aggregate baseline.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573899-90E3-47B7-915C-02A5C3CE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5910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MAE 0.209 vs 0.2149; 93.4%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BA9205D-A9FE-4FAF-80E1-89E6031B3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591050"/>
            <a:ext cx="24574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edge is small and fragile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D24951-7463-4200-81FD-78F83557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816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2472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2472F"/>
                </a:solidFill>
                <a:latin typeface="Aptos Display"/>
                <a:ea typeface="Aptos Display"/>
                <a:cs typeface="Aptos Display"/>
              </a:rPr>
              <a:t>0.0059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CC82DF-1C05-45BA-A170-E1D96330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91225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MAE edge over best simple aggregate baseline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0F71E2-F390-445B-911C-E8805534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5816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8842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B8842F"/>
                </a:solidFill>
                <a:latin typeface="Aptos Display"/>
                <a:ea typeface="Aptos Display"/>
                <a:cs typeface="Aptos Display"/>
              </a:rPr>
              <a:t>6/18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F20A22-75FA-4163-B09F-B10840E7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991225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selected slots use fallback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CEF2C8-1611-4917-B7E6-7A158315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58165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E7474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2E7474"/>
                </a:solidFill>
                <a:latin typeface="Aptos Display"/>
                <a:ea typeface="Aptos Display"/>
                <a:cs typeface="Aptos Display"/>
              </a:rPr>
              <a:t>future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B1DD4C-E1A1-4D91-BA78-30136D28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99122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validation remains the stronger-claim route</a:t>
            </a:r>
          </a:p>
        </p:txBody>
      </p:sp>
    </p:spTree>
    <p:extLst>
      <p:ext uri="{BB962C8B-B14F-4D97-AF65-F5344CB8AC3E}">
        <p14:creationId xmlns:p14="http://schemas.microsoft.com/office/powerpoint/2010/main" val="203607041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B573DBD-29AB-43E1-80BB-CD071AEB1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632D6A2-A383-465D-9431-836FBB4B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DFB564DA-EF09-4544-A84F-D3B1E1CF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CLAIM BOUNDARY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FA7A0-34B3-4A7A-8E19-5966C27D8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The strongest slide in the deck is what we are not claiming.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5DE142-AD18-4C89-9AB5-ECDCE0D0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D04072-3319-4625-9B75-36E23AE7F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EB7C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AEB7C2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A0C0B-28E4-4BB9-ADA3-DA63B62F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AEB7C2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7C2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1C3670-14C9-4AB4-8738-3735097B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62125"/>
            <a:ext cx="95250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30DAFD-504F-4EA7-BCE4-E07A6118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76450"/>
            <a:ext cx="8858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11821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11821"/>
                </a:solidFill>
                <a:latin typeface="Aptos Display"/>
                <a:ea typeface="Aptos Display"/>
                <a:cs typeface="Aptos Display"/>
              </a:rPr>
              <a:t>Current evidence supplies traction and a credible validation path. It does not establish formal predictive validity.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01BD89-01D1-4995-9A3B-BD2192E29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8B14D2-ACD5-4B7C-9ABD-061E8156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05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Predictive validity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FF91B-6414-46A8-8F8E-2EFD63383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052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Aptos"/>
                <a:ea typeface="Aptos"/>
                <a:cs typeface="Aptos"/>
              </a:rPr>
              <a:t>not established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33A17-514F-47EE-8A34-41BC9E481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750CA-206B-4365-BEC3-27A13C55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052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Tuning-loop improvement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8249E8-AC57-4BBE-AD9C-3E9D7B9C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7052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Aptos"/>
                <a:ea typeface="Aptos"/>
                <a:cs typeface="Aptos"/>
              </a:rPr>
              <a:t>not proven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568244-4D2C-4775-94A8-EB0D5034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148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B2EC13-D715-4B04-B718-94EE942F1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57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Pooled rescue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8AFD6-0A51-4EF7-AFAC-FE90E8E7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6577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Aptos"/>
                <a:ea typeface="Aptos"/>
                <a:cs typeface="Aptos"/>
              </a:rPr>
              <a:t>cannot hide named-configuration failures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AB88D0-1540-4C80-8E59-551DC645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148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9525">
            <a:solidFill>
              <a:srgbClr val="33415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F4AED2-2C57-49D3-9FAF-539830A0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57725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Task generation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527B1-9B46-457F-9053-131D0F6F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657725"/>
            <a:ext cx="1905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0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8D0D8"/>
                </a:solidFill>
                <a:latin typeface="Aptos"/>
                <a:ea typeface="Aptos"/>
                <a:cs typeface="Aptos"/>
              </a:rPr>
              <a:t>candidate supply, not the core claim</a:t>
            </a:r>
          </a:p>
        </p:txBody>
      </p:sp>
    </p:spTree>
    <p:extLst>
      <p:ext uri="{BB962C8B-B14F-4D97-AF65-F5344CB8AC3E}">
        <p14:creationId xmlns:p14="http://schemas.microsoft.com/office/powerpoint/2010/main" val="207928330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4E63F6-5A98-45B6-8D63-39D25DCB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FA4B9CC-8D1C-4E82-8CA0-68B7D3F20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387B9D-34FD-4F74-BEE3-40658A15D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A9C37A-49A0-4DE1-B8A1-FF200280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Stronger claims require frozen releases before future outcomes are joined.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DCF3DF-6531-476C-8288-B18A3847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203D49-D127-4903-A206-E2C821DA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9B439-DD91-4094-83C3-356435E0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A1AED1-6A3D-4A13-AF53-48EABE0D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942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Retrospective replay remains useful for traction and debugging, but a formal claim needs true future holdout or preregistered rolling-origin evidence.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362311-A1BA-4E06-B8F9-F85BF0F7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93EFA3-8A91-4A16-9717-77441E68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56A80A-E2FD-48D0-8E46-55956D691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Pre-outcome freeze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97CDD3-4CB5-4336-9CCE-305F3E31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repos, cutoff, supply, features, selection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E5DE75-43DF-4988-8263-EFFD1922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D2809-254F-4B7A-83F0-1B39E0FA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5D0396-09FE-4C2F-AB0F-2469936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B1EFC-14FE-470D-96E3-583265FEC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Named ACUT configurations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4049DD-9D14-410D-B3AE-F5B556D3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adapter boundary and endpoint checks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7E4F93-3802-4477-9449-64375AE9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BE0D74-A50A-4C24-B699-A3294D9B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30C648-2C87-4D63-9E85-4EED4748B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BC968A2-8836-4224-A90F-D1CB4497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Future evidence mode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4647400-F15B-4939-B865-381FE6F2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holdout or preregistered rolling origin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FA3E64-9984-4423-9346-71CD112F3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D738CB-891F-4529-9015-09D07379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0AE6A8-7AB1-4A73-B4F8-D1A8C78D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95D1FF-5B53-4607-9575-84C06898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Score join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65EDBD-18DF-49B5-8B85-BCCBC385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outcomes joined after freeze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08AD45C-1D21-4BD8-A9DE-FAA5D7A78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5D0D64-3F05-4A8A-A06E-AC883CE0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C27CFD-CAA9-4788-9F3B-0288B5CAF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114D9-47BA-4289-9227-18347715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 envelope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831471-CAA4-4631-97BC-83287155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temporal, unweighted, stratified, random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868BDA-9F52-4952-8903-9788A8EC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528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176C60-EE8F-41CC-AFE6-09D4E3AA2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52700"/>
            <a:ext cx="1428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F9F584-CB3D-4A6F-8357-36C6CE96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743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6EF4A-B57F-4930-B144-85C968FE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123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Scoped claim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1B44104-2E3F-48BF-975C-D417F45E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676650"/>
            <a:ext cx="1123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only if every criterion passes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7E61C1-4613-4A4D-A29F-955B5E96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10125"/>
            <a:ext cx="8401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2"/>
          </a:solidFill>
          <a:ln xmlns:a="http://schemas.openxmlformats.org/drawingml/2006/main" w="9525">
            <a:solidFill>
              <a:srgbClr val="B8842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B38DD8-9159-40BD-8211-EB8EDEA5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91100"/>
            <a:ext cx="7810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Budgeted evaluation starts after the freeze, not before it.</a:t>
            </a:r>
          </a:p>
        </p:txBody>
      </p:sp>
    </p:spTree>
    <p:extLst>
      <p:ext uri="{BB962C8B-B14F-4D97-AF65-F5344CB8AC3E}">
        <p14:creationId xmlns:p14="http://schemas.microsoft.com/office/powerpoint/2010/main" val="37242756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EB77E4-AFB5-43A2-A013-3B438FD0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A642C6DD-0F02-4020-BA9B-B07D89296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3B305F57-BB76-4A67-866A-EB90D9072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 PACKAGES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1A44C-86D3-45B0-AF36-F4CF03AE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Approval funds a release-and-validation system, not a generic task factory.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BDFAA7-8706-414E-834A-69A4259A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11940-C6A1-4850-880A-6587FC9B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829F5-1107-43FA-91E0-68D87048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EA342A-814E-49A6-A021-6FDAB222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F5A9CA-4078-4F86-ABC2-1E1022F1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E37C8E-065C-4AA3-804A-FA3BA580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65C8D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365C8D"/>
                </a:solidFill>
                <a:latin typeface="Aptos"/>
                <a:ea typeface="Aptos"/>
                <a:cs typeface="Aptos"/>
              </a:rPr>
              <a:t>Compiler algorithms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76A99-A46E-4BAC-8DB7-61B1B46F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selection rules against simple baselines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1BA239-ECC3-4EAB-979B-C73537A8E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975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B3C8D-3D39-442B-84F3-AF23453F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8097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7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F9F811-0F7F-4900-B2D9-02935093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E7474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2E7474"/>
                </a:solidFill>
                <a:latin typeface="Aptos"/>
                <a:ea typeface="Aptos"/>
                <a:cs typeface="Aptos"/>
              </a:rPr>
              <a:t>Task certification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85618E-55AD-44AA-946E-0E0C7C3F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4384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provenance, oracle, leakage, source sufficiency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1E03F8-00D2-443C-A830-A2089C3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201F29-C972-4402-8230-C7070286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80975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4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DF8774-0AF8-42E9-B359-C459AFC0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07645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884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8842F"/>
                </a:solidFill>
                <a:latin typeface="Aptos"/>
                <a:ea typeface="Aptos"/>
                <a:cs typeface="Aptos"/>
              </a:rPr>
              <a:t>Release construction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04D4FD-C255-4E22-B9A8-A5578960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3840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versioned manifests, splits, fallback labels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9B45B8-0928-41B9-9973-B7F5A7E23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7ED2F-A712-47C7-BF63-A1EA943A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A7A4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D45F61-4182-41F7-A4A8-105D5E742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95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A7A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5A7A45"/>
                </a:solidFill>
                <a:latin typeface="Aptos"/>
                <a:ea typeface="Aptos"/>
                <a:cs typeface="Aptos"/>
              </a:rPr>
              <a:t>Tuning interfaces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9BB939-EC85-497D-982F-AF6EC343C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576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scorecards, failure labels, dev/eval/canary rules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699301E-676E-42C4-A28A-71FF61AC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8BB6B23-EB37-4B9D-BE07-417EC811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4290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A28717-4D21-41E5-AC89-C2668D968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Validation execution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4CB120-8F2E-4C8A-9D47-19B6DF596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576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future holdout or preregistered rolling origin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98786B-471D-4DE2-9F67-096E7CA5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0099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2756CEB-3B1B-4DEC-82A6-28CBE9F68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429000"/>
            <a:ext cx="30099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26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C8A415-A4E2-46B7-AAFB-A1A717EC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695700"/>
            <a:ext cx="2381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B2632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2632"/>
                </a:solidFill>
                <a:latin typeface="Aptos"/>
                <a:ea typeface="Aptos"/>
                <a:cs typeface="Aptos"/>
              </a:rPr>
              <a:t>Reporting governance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9CEB0-E8BF-4B64-9113-21913AD2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057650"/>
            <a:ext cx="2495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uncertainty, cost, latency, limitation statements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9753CDE-7CBF-47E8-BF1D-B7CC6DDC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Staffing and owner categories remain user-owned placeholders.</a:t>
            </a:r>
          </a:p>
        </p:txBody>
      </p:sp>
    </p:spTree>
    <p:extLst>
      <p:ext uri="{BB962C8B-B14F-4D97-AF65-F5344CB8AC3E}">
        <p14:creationId xmlns:p14="http://schemas.microsoft.com/office/powerpoint/2010/main" val="127461485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29320E-97B1-4C11-9C7F-FD155F2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E172001F-20B0-4582-85BD-019FEBA6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E9F1D50A-049E-4B9C-8B01-24F2BDFD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GATES AND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A883FA-6EC0-4D59-946A-B8AC3F3E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Evaluation spending is budgeted and gated, not open-ended.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306FA3-B240-4BD8-8402-5B865D57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35600-9CB7-4E3F-935A-9A9B1A572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31B62D-7E45-41A3-B6DD-E50CEB0D1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75D886-387F-4A8E-B9DB-97E7DDCEB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9FB90-65A6-4AB3-9C92-D2BB7A8D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638300"/>
            <a:ext cx="30003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MUST BE FIXED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45A362-426D-4039-981A-B055E5E7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3830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03E468-6F76-4AD0-9EB2-21B998E1A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638300"/>
            <a:ext cx="2286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OPEN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DBA2F-5E41-4274-A320-A3B13D49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31704-35F3-45E0-BC59-4D57C33B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2044B-9F28-4E57-8257-F28C5D68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383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Release, selection rule, baselines, invalid-cell 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2E7F0-7CA4-4338-8724-34D0F95E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383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prevents post-hoc score interpretation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19DF59-07B3-4EDD-A2C1-6A15BEDD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A66D17-2B63-483D-88A1-C91F3CF1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F0D1E-C0B8-433B-A799-45CD94D2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44F0C5-A011-4015-863A-D31E6C80C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6860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Candidate pool support and source quality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C1F209-1AF9-441C-B84D-F0F07B4A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6860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avoids unsupported broad claims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6D9E85-D527-48F0-B2D2-9F59E0F3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78301B-5C86-4D9B-8AB4-398FA6EE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81F95-BE7D-4829-B07D-E8E4175B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92D72-EBBE-4322-8FEB-D12AF397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337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Practical MAE margin and slice rules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4DB7A3-DFEE-4F2C-8575-14AE94E3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337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prevents pooled rescue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8E92D1-4BD1-440F-BA5C-22D5ECFB4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337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D6552-C1BA-4A0A-9857-8C79D7E1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13F8D-23E6-4333-8D34-7C5111733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19480-7778-4E4C-8BA4-E0F49DE7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9814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Fallback reporting and claim narrowing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74AE68-C422-4B73-928E-9257960F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814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makes composite behavior visible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0E9169-40F2-4AE9-A96C-0A4D5B5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-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478208-1321-4814-ABEA-19A96057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0325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EC673-E9DB-4D20-BC8F-58C8273E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345B42A-E5D1-4856-A9FD-16C5F7C6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629150"/>
            <a:ext cx="3000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Evaluation scope, endpoint, accounting, artifact hygiene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2FFA3B0-311F-4F23-A498-61AE3718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29150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controls spending and auditability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A98D8B-6D1E-4F85-80A6-530CFB66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29150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budget ceiling and approval path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00F5D2-D0E2-48A0-8207-0A68EA29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62600"/>
            <a:ext cx="8191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3"/>
          </a:solidFill>
          <a:ln xmlns:a="http://schemas.openxmlformats.org/drawingml/2006/main" w="9525">
            <a:solidFill>
              <a:srgbClr val="B2472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8D8968-AF95-4733-BDE0-D63E309B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[NEEDS USER DECISION: gated ACUT evaluation budget ceiling]  |  [NEEDS USER DECISION: approval path or approving owner]</a:t>
            </a:r>
          </a:p>
        </p:txBody>
      </p:sp>
    </p:spTree>
    <p:extLst>
      <p:ext uri="{BB962C8B-B14F-4D97-AF65-F5344CB8AC3E}">
        <p14:creationId xmlns:p14="http://schemas.microsoft.com/office/powerpoint/2010/main" val="162397708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1EBCC39-2516-485B-907D-29794D3D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04898A7-EA4F-48EB-94A2-86156A740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7AB2839-A714-4B13-9CFF-74EA3359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RISKS AND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A36A54-2835-46BE-B8C3-2947F4B9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The approval case is stronger because the limits are explicit.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5B160-13F1-41CA-AEF5-E4BE25BC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773EE1-E95C-4C91-9774-6C7A83CB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A911C-681F-448F-9080-94431B4F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1E5098-3EAB-4FF6-9ECD-02EF007D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03FB5-A9CB-46D8-9739-4141CCC6F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Preliminary evidence may not generalize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32B5A-96C4-46EB-A953-413C78D8E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924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A7DBDE-3754-4042-88E8-103237D6B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9240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 future holdout or preregistered rolling-origin 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43D3D2-32D4-4FA5-B37C-D79FC27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7526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6A902-1E6D-4C80-BF4C-5C4990CB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9240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Selection may not beat simple baselines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247F1-8887-4F5E-9897-8549F6F9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240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C4067-2141-461F-B631-8D18A11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require practical MAE margin and many-seed random comparison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1BAB5B-142E-466D-AB7D-156CF8E93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098A78-C785-4415-BE7A-4484BBA6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242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Fallback support may dominate a release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280AD9-1945-4E65-9B97-4B578F096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242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7EB33C-DF24-481E-A56B-3537BDB6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2420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repair feature support or narrow the claim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4196C-DFCC-49E6-BB74-FF5D58BD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5275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02543-3C5C-45DE-B815-87DF8885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12420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Adapter differences may blur interpretation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6B8D85-1454-4689-878F-0B5C0D0E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2420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8D9BA4-7D30-4B12-9CC9-233BAFB10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12420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report by named ACUT configuration first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716248-6E58-41F0-8558-C061E1F7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FD9C74-3F15-4F3D-B853-5F2463A8F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243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Tuning can overfit visible tasks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BFCCF1-0C72-4365-8E45-7D5F74CCA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24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A97956-1425-4A8E-AD4B-665E62CE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3243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separate dev, eval, canary, and future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E5E916-0F49-43B1-973B-F3C94AFB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152900"/>
            <a:ext cx="4457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5C17DF-F8BB-466E-B355-75428D79E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324350"/>
            <a:ext cx="1847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Budget can be spent too early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4C74E4-3272-46F3-B608-BA06F2DA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24350"/>
            <a:ext cx="95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1D4C03-8519-4FE9-AB8E-4598282A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324350"/>
            <a:ext cx="1657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freeze protocol and accounting before evaluation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21A284-9363-4701-BC36-33570A740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619750"/>
            <a:ext cx="800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64707A"/>
                </a:solidFill>
                <a:latin typeface="Aptos"/>
                <a:ea typeface="Aptos"/>
                <a:cs typeface="Aptos"/>
              </a:rPr>
              <a:t>Mitigation is a control plan, not proof that risk has disappeared.</a:t>
            </a:r>
          </a:p>
        </p:txBody>
      </p:sp>
    </p:spTree>
    <p:extLst>
      <p:ext uri="{BB962C8B-B14F-4D97-AF65-F5344CB8AC3E}">
        <p14:creationId xmlns:p14="http://schemas.microsoft.com/office/powerpoint/2010/main" val="14538388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DA1782-29AB-4E89-AB49-ACBE7C695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8A4A18FF-B136-4F63-8595-E65AE6EA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34D1947-F1CF-405B-AE58-1918EDA30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3002CD-2407-4BFE-B6FD-98617BB02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Reviewers can expect concrete releases, protocols, reports, and tuning interfaces.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E6E301-4788-4B34-9629-7FD3FBF21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7A7C5-26EC-4801-B2CA-77AE87C1A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F1566-4DB4-43D0-B964-C3D464CD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25ACC9-C9D0-453E-AE23-A9690FDB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FD3D5-D451-4916-BDCD-234EC6FF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478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65C8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365C8D"/>
                </a:solidFill>
                <a:latin typeface="Aptos"/>
                <a:ea typeface="Aptos"/>
                <a:cs typeface="Aptos"/>
              </a:rPr>
              <a:t>Release machinery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9B4A8-83B6-4939-A383-097F63E0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288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certified task sets, split definitions, feature values, fallback labels, ACUT boundary statements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A274D3-99E4-499B-9522-67FB5B7CA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94AF6A-C767-4D24-B41F-5769510F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74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474"/>
                </a:solidFill>
                <a:latin typeface="Aptos"/>
                <a:ea typeface="Aptos"/>
                <a:cs typeface="Aptos"/>
              </a:rPr>
              <a:t>Validation protocol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BF6AA-FC55-44D7-98DD-F6C02E93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baseline suite, future holdout or preregistered rolling-origin design, success criteria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816957-4178-4046-8EC4-1AF124A5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040BD-49E9-4EF8-9817-32F2BCC9A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884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8842F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EB65B7-A050-40C7-A145-EDDE8F80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adapter-stratified scorecards, uncertainty summaries, invalid-cell sensitivity, cost and latency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62FBBF-F410-4B8C-AFE3-B2055FCD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6BEC27-6D97-4578-A592-FF5A1470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A7A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7A45"/>
                </a:solidFill>
                <a:latin typeface="Aptos"/>
                <a:ea typeface="Aptos"/>
                <a:cs typeface="Aptos"/>
              </a:rPr>
              <a:t>Tuning interface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3CFF07-8B72-41C0-B079-D412C296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7195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optimizer-readable scorecards, failure taxonomy, configuration-comparison templates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4644E5-5BD7-48CB-9987-F960E0863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54C73-D182-4501-8CB0-B4772FB3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72050"/>
            <a:ext cx="1952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249F0-0F1E-4802-8273-7F47F790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53000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source-quality reports, artifact manifests, limitation statements, refresh 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D2D8B3-9D2D-4D96-BCBC-4AD2CC7C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91200"/>
            <a:ext cx="666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CE2"/>
          </a:solidFill>
          <a:ln xmlns:a="http://schemas.openxmlformats.org/drawingml/2006/main" w="9525">
            <a:solidFill>
              <a:srgbClr val="B884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D36372-CF41-4DAD-889A-D85001BC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905500"/>
            <a:ext cx="6286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[NEEDS USER DECISION: project staffing]  |  [NEEDS USER DECISION: project duration]</a:t>
            </a:r>
          </a:p>
        </p:txBody>
      </p:sp>
    </p:spTree>
    <p:extLst>
      <p:ext uri="{BB962C8B-B14F-4D97-AF65-F5344CB8AC3E}">
        <p14:creationId xmlns:p14="http://schemas.microsoft.com/office/powerpoint/2010/main" val="202533826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A3B2D-CC71-452D-A3CC-01BD9E49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FB5984-20F7-41E0-9468-F3CB12737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857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472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CA5FBEAC-6E6A-49D8-95B0-64DF217BF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"/>
            <a:ext cx="342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DEC474-6515-4586-BA33-EBCEA4E38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Approve Barcarolle under the stated claim boundary and gates.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F06D1B-15C3-42E8-BC51-07DCD6AA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1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22991-FEB9-4E46-9B08-06AE0244A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Source: Barcarolle proposal report V5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EDD6C4-F7AE-42BF-B556-922B5ED9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6486525"/>
            <a:ext cx="552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13E07-E61A-4702-85A7-4881A5FA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055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FE5430-78D9-41F2-AEAC-0901FB016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14550"/>
            <a:ext cx="5334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Decision: approve project work on benchmark releases, certification, validation, reporting, and tuning-facing interfaces.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349CA-E40C-483F-B28E-A4366DD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145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D76B7-5D04-4BE2-9C43-7AC7E10C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288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V5 remains the long-form source of truth.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45198-A866-4BEC-B929-36DB43A6B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431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C6ED5C-F30C-4BEA-93AC-D740904FD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Predictive validity remains unproven until future validation passes.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845A21-267F-41E7-B868-CFB9D0EF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97180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8F4ED5-D4EF-40EE-A889-558095568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08610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Tuning-loop improvement remains unproven.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3DF582-6DA6-4E0F-85BB-42757048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00450"/>
            <a:ext cx="342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1C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00F6A1-ACFC-4F38-AEBA-56148069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147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Evaluation budget is spent only after frozen gates.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258525-FA25-4C18-AD21-E56AEB32E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2476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Fill before circulation: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5BF2DD-279D-4B01-BFC5-752224A9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958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[NEEDS USER DECISION: project staffing]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50044F-865F-4BE3-9282-718AF235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815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[NEEDS USER DECISION: project duration]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B48814-6EB1-43B3-96AC-6276595A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[NEEDS USER DECISION: gated ACUT evaluation budget ceiling]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33BAC5-A70E-4379-9993-25624C1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353050"/>
            <a:ext cx="590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470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4707A"/>
                </a:solidFill>
                <a:latin typeface="Aptos"/>
                <a:ea typeface="Aptos"/>
                <a:cs typeface="Aptos"/>
              </a:rPr>
              <a:t>[NEEDS USER DECISION: approval path or approving owner]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1835AB-4270-440E-B708-07B3D781D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762500"/>
            <a:ext cx="3429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8E3"/>
          </a:solidFill>
          <a:ln xmlns:a="http://schemas.openxmlformats.org/drawingml/2006/main" w="9525">
            <a:solidFill>
              <a:srgbClr val="B2472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5730C3-EF00-4DCB-B209-D0239A28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953000"/>
            <a:ext cx="2990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B2472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2472F"/>
                </a:solidFill>
                <a:latin typeface="Aptos"/>
                <a:ea typeface="Aptos"/>
                <a:cs typeface="Aptos"/>
              </a:rPr>
              <a:t>Next action: circulate the deck with resource placeholders confirmed or intentionally left visible.</a:t>
            </a:r>
          </a:p>
        </p:txBody>
      </p:sp>
    </p:spTree>
    <p:extLst>
      <p:ext uri="{BB962C8B-B14F-4D97-AF65-F5344CB8AC3E}">
        <p14:creationId xmlns:p14="http://schemas.microsoft.com/office/powerpoint/2010/main" val="5262150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2026-06-01T10:28:20.6570000Z</dcterms:created>
  <dcterms:modified xsi:type="dcterms:W3CDTF">2026-06-01T10:28:20.6570000Z</dcterms:modified>
</coreProperties>
</file>